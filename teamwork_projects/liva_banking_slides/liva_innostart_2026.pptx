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PHÂN BỔ NGUỒN VỐN SEED ($500K - $750K USD)</c:v>
                </c:pt>
              </c:strCache>
            </c:strRef>
          </c:tx>
          <c:dPt>
            <c:idx val="0"/>
            <c:spPr>
              <a:solidFill>
                <a:srgbClr val="1E3A8A"/>
              </a:solidFill>
            </c:spPr>
          </c:dPt>
          <c:dPt>
            <c:idx val="1"/>
            <c:spPr>
              <a:solidFill>
                <a:srgbClr val="0284C7"/>
              </a:solidFill>
            </c:spPr>
          </c:dPt>
          <c:dPt>
            <c:idx val="2"/>
            <c:spPr>
              <a:solidFill>
                <a:srgbClr val="10B981"/>
              </a:solidFill>
            </c:spPr>
          </c:dPt>
          <c:dPt>
            <c:idx val="3"/>
            <c:spPr>
              <a:solidFill>
                <a:srgbClr val="D97706"/>
              </a:solidFill>
            </c:spPr>
          </c:dPt>
          <c:cat>
            <c:strRef>
              <c:f>Sheet1!$A$2:$A$5</c:f>
              <c:strCache>
                <c:ptCount val="4"/>
                <c:pt idx="0">
                  <c:v>R&amp;D &amp; Kết Nối 35+ NH (50%)</c:v>
                </c:pt>
                <c:pt idx="1">
                  <c:v>Phát Triển Thị Trường GTM (25%)</c:v>
                </c:pt>
                <c:pt idx="2">
                  <c:v>Kiểm Toán ISO &amp; Sandbox (15%)</c:v>
                </c:pt>
                <c:pt idx="3">
                  <c:v>Quỹ Dự Phòng Vận Hành (10%)</c:v>
                </c:pt>
              </c:strCache>
            </c:strRef>
          </c:cat>
          <c:val>
            <c:numRef>
              <c:f>Sheet1!$B$2:$B$5</c:f>
              <c:numCache>
                <c:formatCode>General</c:formatCode>
                <c:ptCount val="4"/>
                <c:pt idx="0">
                  <c:v>50</c:v>
                </c:pt>
                <c:pt idx="1">
                  <c:v>25</c:v>
                </c:pt>
                <c:pt idx="2">
                  <c:v>15</c:v>
                </c:pt>
                <c:pt idx="3">
                  <c:v>10</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850">
              <a:solidFill>
                <a:srgbClr val="334155"/>
              </a:solidFill>
              <a:latin typeface="Segoe UI"/>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CƠ CẤU CHI PHÍ VẬN HÀNH HÀNG THÁNG</c:v>
                </c:pt>
              </c:strCache>
            </c:strRef>
          </c:tx>
          <c:dPt>
            <c:idx val="0"/>
            <c:spPr>
              <a:solidFill>
                <a:srgbClr val="1E3A8A"/>
              </a:solidFill>
            </c:spPr>
          </c:dPt>
          <c:dPt>
            <c:idx val="1"/>
            <c:spPr>
              <a:solidFill>
                <a:srgbClr val="0284C7"/>
              </a:solidFill>
            </c:spPr>
          </c:dPt>
          <c:dPt>
            <c:idx val="2"/>
            <c:spPr>
              <a:solidFill>
                <a:srgbClr val="10B981"/>
              </a:solidFill>
            </c:spPr>
          </c:dPt>
          <c:dPt>
            <c:idx val="3"/>
            <c:spPr>
              <a:solidFill>
                <a:srgbClr val="D97706"/>
              </a:solidFill>
            </c:spPr>
          </c:dPt>
          <c:cat>
            <c:strRef>
              <c:f>Sheet1!$A$2:$A$5</c:f>
              <c:strCache>
                <c:ptCount val="4"/>
                <c:pt idx="0">
                  <c:v>Lương Kỹ Sư &amp; Tài Chính (55%)</c:v>
                </c:pt>
                <c:pt idx="1">
                  <c:v>Tiếp Thị GTM &amp; Hội Thảo (20%)</c:v>
                </c:pt>
                <c:pt idx="2">
                  <c:v>Pháp Lý &amp; ISO/Sandbox (15%)</c:v>
                </c:pt>
                <c:pt idx="3">
                  <c:v>Quản Lý &amp; Hạ Tầng Lab (10%)</c:v>
                </c:pt>
              </c:strCache>
            </c:strRef>
          </c:cat>
          <c:val>
            <c:numRef>
              <c:f>Sheet1!$B$2:$B$5</c:f>
              <c:numCache>
                <c:formatCode>General</c:formatCode>
                <c:ptCount val="4"/>
                <c:pt idx="0">
                  <c:v>55</c:v>
                </c:pt>
                <c:pt idx="1">
                  <c:v>20</c:v>
                </c:pt>
                <c:pt idx="2">
                  <c:v>15</c:v>
                </c:pt>
                <c:pt idx="3">
                  <c:v>10</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850">
              <a:solidFill>
                <a:srgbClr val="334155"/>
              </a:solidFill>
              <a:latin typeface="Segoe UI"/>
            </a:defRPr>
          </a:pPr>
        </a:p>
      </c:txPr>
    </c:legend>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CƠ CẤU PHÂN BỔ VỐN SEED ($500K - $750K USD)</c:v>
                </c:pt>
              </c:strCache>
            </c:strRef>
          </c:tx>
          <c:dPt>
            <c:idx val="0"/>
            <c:spPr>
              <a:solidFill>
                <a:srgbClr val="1E3A8A"/>
              </a:solidFill>
            </c:spPr>
          </c:dPt>
          <c:dPt>
            <c:idx val="1"/>
            <c:spPr>
              <a:solidFill>
                <a:srgbClr val="0284C7"/>
              </a:solidFill>
            </c:spPr>
          </c:dPt>
          <c:dPt>
            <c:idx val="2"/>
            <c:spPr>
              <a:solidFill>
                <a:srgbClr val="10B981"/>
              </a:solidFill>
            </c:spPr>
          </c:dPt>
          <c:dPt>
            <c:idx val="3"/>
            <c:spPr>
              <a:solidFill>
                <a:srgbClr val="D97706"/>
              </a:solidFill>
            </c:spPr>
          </c:dPt>
          <c:cat>
            <c:strRef>
              <c:f>Sheet1!$A$2:$A$5</c:f>
              <c:strCache>
                <c:ptCount val="4"/>
                <c:pt idx="0">
                  <c:v>R&amp;D &amp; Bộ Kết Nối 35+ NH (50%)</c:v>
                </c:pt>
                <c:pt idx="1">
                  <c:v>Phát Triển GTM &amp; Kênh ERP (25%)</c:v>
                </c:pt>
                <c:pt idx="2">
                  <c:v>Kiểm Toán ISO &amp; Sandbox (15%)</c:v>
                </c:pt>
                <c:pt idx="3">
                  <c:v>Quỹ Dự Phòng 18-24 Tháng (10%)</c:v>
                </c:pt>
              </c:strCache>
            </c:strRef>
          </c:cat>
          <c:val>
            <c:numRef>
              <c:f>Sheet1!$B$2:$B$5</c:f>
              <c:numCache>
                <c:formatCode>General</c:formatCode>
                <c:ptCount val="4"/>
                <c:pt idx="0">
                  <c:v>50</c:v>
                </c:pt>
                <c:pt idx="1">
                  <c:v>25</c:v>
                </c:pt>
                <c:pt idx="2">
                  <c:v>15</c:v>
                </c:pt>
                <c:pt idx="3">
                  <c:v>10</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850">
              <a:solidFill>
                <a:srgbClr val="334155"/>
              </a:solidFill>
              <a:latin typeface="Segoe UI"/>
            </a:defRPr>
          </a:pPr>
        </a:p>
      </c:txPr>
    </c:legend>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Thời lượng: 25s | Tốc độ: 136 wpm | Âm sắc: Trầm ấm, đĩnh đạc, tự tin, chỉ huy sân khấu]</a:t>
            </a:r>
          </a:p>
          <a:p/>
          <a:p>
            <a:r>
              <a:t>LỜI THOẠI DIỄN GIẢ:</a:t>
            </a:r>
          </a:p>
          <a:p>
            <a:r>
              <a:t>Kính thưa Ban giám khảo và các Nhà đầu tư, tôi là đại diện LIVA Banking Harness. [Nghỉ 1.5s] Chúng tôi mang đến lời giải dứt điểm cho bài toán nhức nhối của các CFO: Tự động hóa đối soát và cảnh báo thanh khoản bằng AI nhưng vận hành 100% tại chỗ, tuyệt đối không gửi một byte dữ liệu nào lên đám mây!</a:t>
            </a:r>
          </a:p>
          <a:p/>
          <a:p>
            <a:r>
              <a:t>KEY TAKEAWAY:</a:t>
            </a:r>
          </a:p>
          <a:p>
            <a:r>
              <a:t>LIVA Banking Harness là giải pháp AI tài chính chạy tại chỗ đầu tiên tại Việt Nam, giải quyết triệt để bài toán đối soát và quản trị dòng tiền.</a:t>
            </a:r>
          </a:p>
          <a:p/>
          <a:p>
            <a:r>
              <a:t>PUNCHLINE:</a:t>
            </a:r>
          </a:p>
          <a:p>
            <a:r>
              <a:t>Đai An Toàn AI &amp; Tháp Canh Nguồn Vốn 24/7 Vận Hành 100% Tại Chỗ!</a:t>
            </a:r>
          </a:p>
          <a:p/>
          <a:p>
            <a:r>
              <a:t>CÂU HỎI VẶN &amp; PHẢN XẠ (OBJECTION Q&amp;A):</a:t>
            </a:r>
          </a:p>
          <a:p>
            <a:r>
              <a:t>- Q: Tại sao lại gọi là Đai an toàn và Tháp canh nguồn vốn?</a:t>
            </a:r>
          </a:p>
          <a:p>
            <a:r>
              <a:t>- A: Đai an toàn giữ dữ liệu không bao giờ rò rỉ lên mạng; Tháp canh nhìn xa dòng tiền trước 48 giờ để không bao giờ bị động thanh khoản.</a:t>
            </a:r>
          </a:p>
          <a:p/>
          <a:p>
            <a:r>
              <a:t>ĐIỂM TỰA CHỨNG MINH:</a:t>
            </a:r>
          </a:p>
          <a:p>
            <a:r>
              <a:t>Vận hành 100% trên máy tính văn phòng thông thường, không đòi hỏi phần cứng đắt tiền.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Thời lượng: 25s | Tốc độ: 136 wpm | Âm sắc: Thấu cảm sâu sắc, đanh thép mô tả nỗi đau thực tế]</a:t>
            </a:r>
          </a:p>
          <a:p/>
          <a:p>
            <a:r>
              <a:t>LỜI THOẠI DIỄN GIẢ:</a:t>
            </a:r>
          </a:p>
          <a:p>
            <a:r>
              <a:t>Mỗi sáng, kế toán phải mở 15 file sao kê từ Vietcombank, Techcombank, BIDV, căng mắt dò từng dòng với sổ cái suốt 2 đến 4 tiếng. [Nghỉ 1.5s] [Giọng đanh thép] Chỉ cần lệch đúng 1.000 đồng tiền phí, cả phòng phải thức trắng đêm tìm kiếm, đẩy CFO vào vùng mù thanh khoản suốt 3 ngày làm việc!</a:t>
            </a:r>
          </a:p>
          <a:p/>
          <a:p>
            <a:r>
              <a:t>KEY TAKEAWAY:</a:t>
            </a:r>
          </a:p>
          <a:p>
            <a:r>
              <a:t>Đối soát sao kê thủ công ngốn 2-4h mỗi ngày và đẩy doanh nghiệp vào vùng mù thanh khoản T+1 đến T+3.</a:t>
            </a:r>
          </a:p>
          <a:p/>
          <a:p>
            <a:r>
              <a:t>PUNCHLINE:</a:t>
            </a:r>
          </a:p>
          <a:p>
            <a:r>
              <a:t>Một khoản phí 1.000 đồng có thể làm tê liệt toàn bộ báo cáo tài chính tháng!</a:t>
            </a:r>
          </a:p>
          <a:p/>
          <a:p>
            <a:r>
              <a:t>CÂU HỎI VẶN &amp; PHẢN XẠ (OBJECTION Q&amp;A):</a:t>
            </a:r>
          </a:p>
          <a:p>
            <a:r>
              <a:t>- Q: Doanh nghiệp có thể tuyển thêm nhân viên kế toán để giải quyết không?</a:t>
            </a:r>
          </a:p>
          <a:p>
            <a:r>
              <a:t>- A: Thêm người chỉ làm tăng chi phí và tăng nguy cơ sai sót con người; điều họ cần là tự động hóa chuẩn xác.</a:t>
            </a:r>
          </a:p>
          <a:p/>
          <a:p>
            <a:r>
              <a:t>ĐIỂM TỰA CHỨNG MINH:</a:t>
            </a:r>
          </a:p>
          <a:p>
            <a:r>
              <a:t>Khảo sát thực tế tại hơn 20 doanh nghiệp quy mô 100-500 tỷ VNĐ cho thấy đối soát là khâu gây ức chế nhất.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Thời lượng: 25s | Tốc độ: 137 wpm | Âm sắc: Đanh thép, nhấn mạnh sự nghiêm minh của pháp luật]</a:t>
            </a:r>
          </a:p>
          <a:p/>
          <a:p>
            <a:r>
              <a:t>LỜI THOẠI DIỄN GIẢ:</a:t>
            </a:r>
          </a:p>
          <a:p>
            <a:r>
              <a:t>Tại sao họ không đưa lên ChatGPT để xử lý? Vì làm vậy là phạm luật! [Nghỉ 1.5s] Theo Nghị định 13 và Thông tư 09, sao kê là bí mật tài chính cấp độ cao; đưa lên đám mây công cộng đối mặt mức phạt tới 5% doanh thu. Ngành tài chính rất cần AI, nhưng cánh cửa lên Cloud đã đóng chặt!</a:t>
            </a:r>
          </a:p>
          <a:p/>
          <a:p>
            <a:r>
              <a:t>KEY TAKEAWAY:</a:t>
            </a:r>
          </a:p>
          <a:p>
            <a:r>
              <a:t>Nghị định 13 và Thông tư 09 cấm đưa dữ liệu sao kê lên Cloud AI công cộng; giải pháp tại chỗ là lối thoát duy nhất.</a:t>
            </a:r>
          </a:p>
          <a:p/>
          <a:p>
            <a:r>
              <a:t>PUNCHLINE:</a:t>
            </a:r>
          </a:p>
          <a:p>
            <a:r>
              <a:t>Tự động hóa bằng Cloud AI là chiếc bẫy pháp lý có thể làm bay màu 5% doanh thu doanh nghiệp!</a:t>
            </a:r>
          </a:p>
          <a:p/>
          <a:p>
            <a:r>
              <a:t>CÂU HỎI VẶN &amp; PHẢN XẠ (OBJECTION Q&amp;A):</a:t>
            </a:r>
          </a:p>
          <a:p>
            <a:r>
              <a:t>- Q: Các doanh nghiệp có thực sự sợ mức phạt này không?</a:t>
            </a:r>
          </a:p>
          <a:p>
            <a:r>
              <a:t>- A: Cục An ninh mạng A05 đang siết chặt thanh tra; các tập đoàn lớn tuyệt đối cấm nhân viên đưa dữ liệu tài chính lên ChatGPT.</a:t>
            </a:r>
          </a:p>
          <a:p/>
          <a:p>
            <a:r>
              <a:t>ĐIỂM TỰA CHỨNG MINH:</a:t>
            </a:r>
          </a:p>
          <a:p>
            <a:r>
              <a:t>Nghị định 13/2023/NĐ-CP Điều 26 &amp; 28; Thông tư 09/2020/TT-NHNN Cấp độ an toàn hệ thống thông tin.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Thời lượng: 25s | Tốc độ: 137 wpm | Âm sắc: Mạch lạc, làm rõ giá trị cho cả hai nhóm người mua]</a:t>
            </a:r>
          </a:p>
          <a:p/>
          <a:p>
            <a:r>
              <a:t>LỜI THOẠI DIỄN GIẢ:</a:t>
            </a:r>
          </a:p>
          <a:p>
            <a:r>
              <a:t>LIVA giải quyết bài toán của hai khách hàng then chốt: [Nghỉ 1.5s] Các CFO của hơn 15.000 doanh nghiệp cần tháp canh nhìn rõ dòng tiền mỗi sáng để không bị động nguồn vốn; và 35 Ngân hàng thương mại cần công cụ ngân quỹ số giữ chân tiền gửi CASA mà không phải đầu tư hàng triệu USD thay thế hệ thống cũ.</a:t>
            </a:r>
          </a:p>
          <a:p/>
          <a:p>
            <a:r>
              <a:t>KEY TAKEAWAY:</a:t>
            </a:r>
          </a:p>
          <a:p>
            <a:r>
              <a:t>Mô hình khách hàng kép: CFO cần bảo vệ dòng vốn và đóng sổ nhanh, Ngân hàng cần giữ chân tiền gửi CASA.</a:t>
            </a:r>
          </a:p>
          <a:p/>
          <a:p>
            <a:r>
              <a:t>PUNCHLINE:</a:t>
            </a:r>
          </a:p>
          <a:p>
            <a:r>
              <a:t>LIVA mang lại giá trị cộng hưởng: Doanh nghiệp tối ưu vốn, Ngân hàng giữ vững CASA!</a:t>
            </a:r>
          </a:p>
          <a:p/>
          <a:p>
            <a:r>
              <a:t>CÂU HỎI VẶN &amp; PHẢN XẠ (OBJECTION Q&amp;A):</a:t>
            </a:r>
          </a:p>
          <a:p>
            <a:r>
              <a:t>- Q: Bán cho Ngân hàng hay Doanh nghiệp dễ hơn?</a:t>
            </a:r>
          </a:p>
          <a:p>
            <a:r>
              <a:t>- A: Bán cho CFO doanh nghiệp chốt hợp đồng nhanh trong 2-4 tuần; bán cho Ngân hàng tạo hợp đồng lớn dài hạn.</a:t>
            </a:r>
          </a:p>
          <a:p/>
          <a:p>
            <a:r>
              <a:t>ĐIỂM TỰA CHỨNG MINH:</a:t>
            </a:r>
          </a:p>
          <a:p>
            <a:r>
              <a:t>Thị trường Việt Nam có hơn 15.000 doanh nghiệp doanh thu trên 100 tỷ và 35 ngân hàng thương mại cổ phần.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Thời lượng: 25s | Tốc độ: 139 wpm | Âm sắc: Tràn đầy năng lượng, tự tin khẳng định bước đột phá]</a:t>
            </a:r>
          </a:p>
          <a:p/>
          <a:p>
            <a:r>
              <a:t>LỜI THOẠI DIỄN GIẢ:</a:t>
            </a:r>
          </a:p>
          <a:p>
            <a:r>
              <a:t>Giải pháp của chúng tôi là LIVA Banking Harness: Chiếc Đai an toàn và Tháp canh nguồn vốn 24/7. [Nghỉ 1.5s] Kế toán chỉ cần thả file sao kê vào thư mục, hệ thống tự động bóc tách và đối soát trong 30 giây với độ chính xác 99.8%, đồng thời cảnh báo thiếu tiền trước 24 đến 48 giờ hoàn toàn tại chỗ!</a:t>
            </a:r>
          </a:p>
          <a:p/>
          <a:p>
            <a:r>
              <a:t>KEY TAKEAWAY:</a:t>
            </a:r>
          </a:p>
          <a:p>
            <a:r>
              <a:t>LIVA tự động bóc tách sao kê trong 30 giây, khớp chuẩn 99.8% và cảnh báo thâm hụt dòng tiền trước 24-48 giờ hoàn toàn tại chỗ.</a:t>
            </a:r>
          </a:p>
          <a:p/>
          <a:p>
            <a:r>
              <a:t>PUNCHLINE:</a:t>
            </a:r>
          </a:p>
          <a:p>
            <a:r>
              <a:t>Đai An Toàn Chống Rò Rỉ Dữ Liệu — Tháp Canh Cảnh Báo Thiếu Tiền Trước 48 Giờ!</a:t>
            </a:r>
          </a:p>
          <a:p/>
          <a:p>
            <a:r>
              <a:t>CÂU HỎI VẶN &amp; PHẢN XẠ (OBJECTION Q&amp;A):</a:t>
            </a:r>
          </a:p>
          <a:p>
            <a:r>
              <a:t>- Q: LIVA có thay thế kế toán không?</a:t>
            </a:r>
          </a:p>
          <a:p>
            <a:r>
              <a:t>- A: Không, LIVA giải phóng kế toán khỏi việc dò tay máy móc để họ tập trung vào phân tích tài chính và tối ưu dòng tiền.</a:t>
            </a:r>
          </a:p>
          <a:p/>
          <a:p>
            <a:r>
              <a:t>ĐIỂM TỰA CHỨNG MINH:</a:t>
            </a:r>
          </a:p>
          <a:p>
            <a:r>
              <a:t>Thời gian đối soát thực tế giảm từ 180 phút xuống 30 giây trên tập dữ liệu chuẩn hóa.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Thời lượng: 25s | Tốc độ: 144 wpm | Âm sắc: Tương phản rõ rệt giữa căng thẳng bế tắc và nhẹ nhõm thảnh thơi]</a:t>
            </a:r>
          </a:p>
          <a:p/>
          <a:p>
            <a:r>
              <a:t>LỜI THOẠI DIỄN GIẢ:</a:t>
            </a:r>
          </a:p>
          <a:p>
            <a:r>
              <a:t>Quý vị hãy nhìn sự chuyển đổi ngoạn mục: [Nghỉ 1.5s] Trước khi có LIVA là 4 tiếng căng thẳng dò tay, dòng tiền mù mờ 3 ngày và nỗi sợ rò rỉ dữ liệu. [Chỉ tay sang cột xanh] Khi có LIVA, mọi thứ xong trong 30 giây! Dòng tiền hiển thị tức thì trên 1 màn hình và dữ liệu an toàn tuyệt đối tại văn phòng doanh nghiệp.</a:t>
            </a:r>
          </a:p>
          <a:p/>
          <a:p>
            <a:r>
              <a:t>KEY TAKEAWAY:</a:t>
            </a:r>
          </a:p>
          <a:p>
            <a:r>
              <a:t>Chuyển đổi từ 4h căng thẳng dò tay sang 30 giây hoàn tất, xóa bỏ hoàn toàn vùng mù thanh khoản.</a:t>
            </a:r>
          </a:p>
          <a:p/>
          <a:p>
            <a:r>
              <a:t>PUNCHLINE:</a:t>
            </a:r>
          </a:p>
          <a:p>
            <a:r>
              <a:t>Từ 4 Giờ Căng Thẳng Đến 30 Giây Thảnh Thơi — Thu Hồi Vốn Trong Vòng Chưa Đầy 3 Tháng!</a:t>
            </a:r>
          </a:p>
          <a:p/>
          <a:p>
            <a:r>
              <a:t>CÂU HỎI VẶN &amp; PHẢN XẠ (OBJECTION Q&amp;A):</a:t>
            </a:r>
          </a:p>
          <a:p>
            <a:r>
              <a:t>- Q: Doanh nghiệp tiết kiệm được bao nhiêu tiền mỗi năm?</a:t>
            </a:r>
          </a:p>
          <a:p>
            <a:r>
              <a:t>- A: Tiết kiệm hơn 1.400 giờ công làm việc và tránh được các khoản phạt chậm nộp, tương đương 500-900 triệu VNĐ mỗi năm.</a:t>
            </a:r>
          </a:p>
          <a:p/>
          <a:p>
            <a:r>
              <a:t>ĐIỂM TỰA CHỨNG MINH:</a:t>
            </a:r>
          </a:p>
          <a:p>
            <a:r>
              <a:t>Thời gian hoàn vốn ROI thực tế của khách hàng đạt dưới 3 tháng sau khi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Thời lượng: 20s | Tốc độ: 144 wpm | Âm sắc: Trực quan, sinh động, mô tả sự tiện lợi không cần đào tạo phức tạp]</a:t>
            </a:r>
          </a:p>
          <a:p/>
          <a:p>
            <a:r>
              <a:t>LỜI THOẠI DIỄN GIẢ:</a:t>
            </a:r>
          </a:p>
          <a:p>
            <a:r>
              <a:t>Trải nghiệm thực tế gồm 3 bước siêu đơn giản: [Nghỉ 1.5s] Bước 1: Kế toán tải sao kê vào thư mục tự động. Bước 2: LIVA bóc tách và đối soát trong 30 giây. Bước 3: Kế toán trưởng 1 chạm ký duyệt đẩy vào phần mềm kế toán. Mọi việc xong trước 8h30 sáng!</a:t>
            </a:r>
          </a:p>
          <a:p/>
          <a:p>
            <a:r>
              <a:t>KEY TAKEAWAY:</a:t>
            </a:r>
          </a:p>
          <a:p>
            <a:r>
              <a:t>Trải nghiệm 3 bước siêu đơn giản: Thả file sao kê, đối soát tự động 30 giây, 1 chạm phê duyệt vào phần mềm kế toán.</a:t>
            </a:r>
          </a:p>
          <a:p/>
          <a:p>
            <a:r>
              <a:t>PUNCHLINE:</a:t>
            </a:r>
          </a:p>
          <a:p>
            <a:r>
              <a:t>Không Cần Đào Tạo Phức Tạp — 3 Bước Đơn Giản Xong Trước 8h30 Sáng!</a:t>
            </a:r>
          </a:p>
          <a:p/>
          <a:p>
            <a:r>
              <a:t>CÂU HỎI VẶN &amp; PHẢN XẠ (OBJECTION Q&amp;A):</a:t>
            </a:r>
          </a:p>
          <a:p>
            <a:r>
              <a:t>- Q: Kế toán lớn tuổi có dùng được không?</a:t>
            </a:r>
          </a:p>
          <a:p>
            <a:r>
              <a:t>- A: Giao diện tiếng Việt trực quan, thiết kế theo thói quen của người làm kế toán, thao tác kéo thả quen thuộc.</a:t>
            </a:r>
          </a:p>
          <a:p/>
          <a:p>
            <a:r>
              <a:t>ĐIỂM TỰA CHỨNG MINH:</a:t>
            </a:r>
          </a:p>
          <a:p>
            <a:r>
              <a:t>Quy trình thử nghiệm nội bộ với kế toán viên cho thấy thời gian làm quen dưới 15 phút.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Thời lượng: 25s | Tốc độ: 141 wpm | Âm sắc: Chắc chắn, giải tỏa ngay mối lo lớn nhất của giám khảo về ảo giác AI]</a:t>
            </a:r>
          </a:p>
          <a:p/>
          <a:p>
            <a:r>
              <a:t>LỜI THOẠI DIỄN GIẢ:</a:t>
            </a:r>
          </a:p>
          <a:p>
            <a:r>
              <a:t>Làm sao tin được AI khi AI hay bịa số? [Nghỉ 1.5s] LIVA áp dụng nguyên lý bảo vệ 2 tầng cực kỳ kỷ luật: Tầng 1 là AI thông minh chuyên đọc hiểu chữ viết tắt tiếng Việt; còn tầng tính tiền do máy tính chuyên dụng khóa cứng số học. [Giọng đanh thép] Trong kế toán, tuyệt đối không bao giờ để AI làm toán mò!</a:t>
            </a:r>
          </a:p>
          <a:p/>
          <a:p>
            <a:r>
              <a:t>KEY TAKEAWAY:</a:t>
            </a:r>
          </a:p>
          <a:p>
            <a:r>
              <a:t>Nguyên lý 2 tầng: AI chỉ đọc hiểu ngôn ngữ viết tắt, động cơ máy tính khóa cứng tính toán số học, triệt tiêu 100% ảo giác.</a:t>
            </a:r>
          </a:p>
          <a:p/>
          <a:p>
            <a:r>
              <a:t>PUNCHLINE:</a:t>
            </a:r>
          </a:p>
          <a:p>
            <a:r>
              <a:t>Trong Kế Toán, Tuyệt Đối Không Bao Giờ Để AI Làm Toán Mò!</a:t>
            </a:r>
          </a:p>
          <a:p/>
          <a:p>
            <a:r>
              <a:t>CÂU HỎI VẶN &amp; PHẢN XẠ (OBJECTION Q&amp;A):</a:t>
            </a:r>
          </a:p>
          <a:p>
            <a:r>
              <a:t>- Q: Tại sao không để AI làm toán luôn cho tiện?</a:t>
            </a:r>
          </a:p>
          <a:p>
            <a:r>
              <a:t>- A: Mô hình ngôn ngữ hoạt động theo xác suất thống kê nên luôn có nguy cơ bịa số; trong tài chính, số học bắt buộc phải xác định 100%.</a:t>
            </a:r>
          </a:p>
          <a:p/>
          <a:p>
            <a:r>
              <a:t>ĐIỂM TỰA CHỨNG MINH:</a:t>
            </a:r>
          </a:p>
          <a:p>
            <a:r>
              <a:t>Kiến trúc phân tách ngữ nghĩa và số học triệt tiêu hoàn toàn hiện tượng ảo giác số dư.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Thời lượng: 25s | Tốc độ: 134 wpm | Âm sắc: Chân thành, đĩnh đạc, tự tin với số liệu đo kiểm thực chứng]</a:t>
            </a:r>
          </a:p>
          <a:p/>
          <a:p>
            <a:r>
              <a:t>LỜI THOẠI DIỄN GIẢ:</a:t>
            </a:r>
          </a:p>
          <a:p>
            <a:r>
              <a:t>Chúng tôi cam kết trung thực tuyệt đối: Trong phòng lab, LIVA đã hoàn thành đo kiểm 50.000 dòng sao kê trong đúng 19.2 giây, tiêu thụ chỉ 680MB RAM trên máy tính văn phòng. [Nghỉ 1.5s] 99.8% giao dịch khớp chuẩn, và 0.2% chuyển cách ly an toàn cho kế toán duyệt để bảo đảm 0% sai sót lọt lưới!</a:t>
            </a:r>
          </a:p>
          <a:p/>
          <a:p>
            <a:r>
              <a:t>KEY TAKEAWAY:</a:t>
            </a:r>
          </a:p>
          <a:p>
            <a:r>
              <a:t>Thực chứng 50.000 dòng sao kê trong 19.2 giây, 680MB RAM; 0.2% chuyển duyệt người là tính năng bảo vệ an toàn có chủ đích.</a:t>
            </a:r>
          </a:p>
          <a:p/>
          <a:p>
            <a:r>
              <a:t>PUNCHLINE:</a:t>
            </a:r>
          </a:p>
          <a:p>
            <a:r>
              <a:t>99.8% Khớp Tự Động — 0.2% Cách Ly An Toàn — 0% Sai Sót Lọt Lưới!</a:t>
            </a:r>
          </a:p>
          <a:p/>
          <a:p>
            <a:r>
              <a:t>CÂU HỎI VẶN &amp; PHẢN XẠ (OBJECTION Q&amp;A):</a:t>
            </a:r>
          </a:p>
          <a:p>
            <a:r>
              <a:t>- Q: 0.2% ngoại lệ có phải là do phần mềm bị lỗi không?</a:t>
            </a:r>
          </a:p>
          <a:p>
            <a:r>
              <a:t>- A: Không, 100 dòng này chứa nội dung chuyển khoản quá mơ hồ hoặc không đủ thông tin đối chiếu; dừng lại hỏi người là nguyên tắc an toàn cao nhất.</a:t>
            </a:r>
          </a:p>
          <a:p/>
          <a:p>
            <a:r>
              <a:t>ĐIỂM TỰA CHỨNG MINH:</a:t>
            </a:r>
          </a:p>
          <a:p>
            <a:r>
              <a:t>Môi trường thử nghiệm: Intel Core i5 văn phòng, 8GB RAM, Windows 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Thời lượng: 25s | Tốc độ: 137 wpm | Âm sắc: Thực tế, rành mạch về khả năng tạo dòng tiền và sinh lời bền vững]</a:t>
            </a:r>
          </a:p>
          <a:p/>
          <a:p>
            <a:r>
              <a:t>LỜI THOẠI DIỄN GIẢ:</a:t>
            </a:r>
          </a:p>
          <a:p>
            <a:r>
              <a:t>Về kinh doanh, LIVA đi bằng hai mũi nhọn: [Nghỉ 1.5s] Thuê bao CFO từ 15 đến 45 triệu đồng/tháng chốt nhanh trong 2 đến 4 tuần tạo dòng tiền ngay; và bản quyền Ngân hàng từ 500 triệu đến 1.5 tỷ đồng/năm. Vì phần mềm chạy tại chỗ, chi phí server bằng 0, mang lại biên lợi nhuận gộp vượt trên 88%!</a:t>
            </a:r>
          </a:p>
          <a:p/>
          <a:p>
            <a:r>
              <a:t>KEY TAKEAWAY:</a:t>
            </a:r>
          </a:p>
          <a:p>
            <a:r>
              <a:t>Mô hình hai mũi nhọn: Thuê bao CFO chốt nhanh tạo dòng tiền định kỳ và Bản quyền Ngân hàng giá trị lớn, biên gộp &gt; 88%.</a:t>
            </a:r>
          </a:p>
          <a:p/>
          <a:p>
            <a:r>
              <a:t>PUNCHLINE:</a:t>
            </a:r>
          </a:p>
          <a:p>
            <a:r>
              <a:t>Chi Phí Server Biên Bằng 0 — Biên Lợi Nhuận Gộp Vượt Trội Trên 88%!</a:t>
            </a:r>
          </a:p>
          <a:p/>
          <a:p>
            <a:r>
              <a:t>CÂU HỎI VẶN &amp; PHẢN XẠ (OBJECTION Q&amp;A):</a:t>
            </a:r>
          </a:p>
          <a:p>
            <a:r>
              <a:t>- Q: Tại sao ngân hàng lại sẵn sàng trả 500 triệu đến 1.5 tỷ đồng?</a:t>
            </a:r>
          </a:p>
          <a:p>
            <a:r>
              <a:t>- A: Số tiền này quá nhỏ so với chi phí tự xây dựng hàng chục tỷ, trong khi giúp ngân hàng thu hút thêm hàng trăm tỷ tiền gửi CASA doanh nghiệp.</a:t>
            </a:r>
          </a:p>
          <a:p/>
          <a:p>
            <a:r>
              <a:t>ĐIỂM TỰA CHỨNG MINH:</a:t>
            </a:r>
          </a:p>
          <a:p>
            <a:r>
              <a:t>Chỉ số tài chính: LTV/CAC đạt 5.2x, thời gian hoàn vốn CAC dưới 5 tháng.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Thời lượng: 20s | Tốc độ: 150 wpm | Âm sắc: Nhanh nhẹn, thông minh, nhấn mạnh hiệu quả sử dụng vốn không đốt tiền]</a:t>
            </a:r>
          </a:p>
          <a:p/>
          <a:p>
            <a:r>
              <a:t>LỜI THOẠI DIỄN GIẢ:</a:t>
            </a:r>
          </a:p>
          <a:p>
            <a:r>
              <a:t>Chiến lược tiếp cận thị trường của chúng tôi là đòn bẩy thông minh: [Nghỉ 1.5s] 50% khách hàng đến từ đại lý phần mềm kế toán MISA, FAST có sẵn; 30% từ tiếp cận trực tiếp mạng lưới hơn 200 CFO; và 20% từ các ngân hàng đối tác, giúp mở rộng nhanh mà không đốt tiền!</a:t>
            </a:r>
          </a:p>
          <a:p/>
          <a:p>
            <a:r>
              <a:t>KEY TAKEAWAY:</a:t>
            </a:r>
          </a:p>
          <a:p>
            <a:r>
              <a:t>Chiến lược GTM thông minh không đốt tiền: Liên minh đại lý ERP có sẵn, tiếp cận mạng lưới 200+ CFO và đồng hành cùng ngân hàng.</a:t>
            </a:r>
          </a:p>
          <a:p/>
          <a:p>
            <a:r>
              <a:t>PUNCHLINE:</a:t>
            </a:r>
          </a:p>
          <a:p>
            <a:r>
              <a:t>Mở Rộng Thần Tốc Nhờ Đòn Bẩy Mạng Lưới Phân Phối Kế Toán Sẵn Có!</a:t>
            </a:r>
          </a:p>
          <a:p/>
          <a:p>
            <a:r>
              <a:t>CÂU HỎI VẶN &amp; PHẢN XẠ (OBJECTION Q&amp;A):</a:t>
            </a:r>
          </a:p>
          <a:p>
            <a:r>
              <a:t>- Q: Đại lý ERP có động lực gì để bán LIVA?</a:t>
            </a:r>
          </a:p>
          <a:p>
            <a:r>
              <a:t>- A: Họ nhận mức chia sẻ doanh thu hấp dẫn 20-30% và giải quyết được nút thắt nhập liệu cho chính phần mềm kế toán của họ.</a:t>
            </a:r>
          </a:p>
          <a:p/>
          <a:p>
            <a:r>
              <a:t>ĐIỂM TỰA CHỨNG MINH:</a:t>
            </a:r>
          </a:p>
          <a:p>
            <a:r>
              <a:t>MISA, FAST, Bravo hiện đang phục vụ hơn 80% thị phần phần mềm kế toán tại Việt Nam.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Thời lượng: 25s | Tốc độ: 141 wpm | Âm sắc: Sắc sảo, thuyết phục, đánh trúng tư duy chiến lược của nhà đầu tư]</a:t>
            </a:r>
          </a:p>
          <a:p/>
          <a:p>
            <a:r>
              <a:t>LỜI THOẠI DIỄN GIẢ:</a:t>
            </a:r>
          </a:p>
          <a:p>
            <a:r>
              <a:t>Big Tech hay Ngân hàng lớn có làm được việc này không? [Nghỉ 1.5s] Câu trả lời là không! Big Tech bị kẹt trong mô hình bán Cloud, họ không muốn phần mềm chạy offline. Còn mỗi ngân hàng chỉ quản lý tài khoản của riêng mình. Doanh nghiệp bắt buộc cần một trọng tài độc lập như LIVA để gom 35 ngân hàng về một mối!</a:t>
            </a:r>
          </a:p>
          <a:p/>
          <a:p>
            <a:r>
              <a:t>KEY TAKEAWAY:</a:t>
            </a:r>
          </a:p>
          <a:p>
            <a:r>
              <a:t>3 hào lũy phòng thủ: Nghịch lý đám mây của Big Tech, tính trung lập đa ngân hàng độc nhất và bộ ngữ liệu bản địa độc quyền.</a:t>
            </a:r>
          </a:p>
          <a:p/>
          <a:p>
            <a:r>
              <a:t>PUNCHLINE:</a:t>
            </a:r>
          </a:p>
          <a:p>
            <a:r>
              <a:t>Doanh Nghiệp Bắt Buộc Cần Một Trọng Tài Độc Lập Như LIVA Để Gom Đa Ngân Hàng!</a:t>
            </a:r>
          </a:p>
          <a:p/>
          <a:p>
            <a:r>
              <a:t>CÂU HỎI VẶN &amp; PHẢN XẠ (OBJECTION Q&amp;A):</a:t>
            </a:r>
          </a:p>
          <a:p>
            <a:r>
              <a:t>- Q: Nếu UiPath hay PowerAutomate nhảy vào cạnh tranh thì sao?</a:t>
            </a:r>
          </a:p>
          <a:p>
            <a:r>
              <a:t>- A: RPA truyền thống rất đắt, dễ gãy bot khi file sao kê đổi mẫu và không có khả năng hiểu chữ viết tắt tiếng Việt.</a:t>
            </a:r>
          </a:p>
          <a:p/>
          <a:p>
            <a:r>
              <a:t>ĐIỂM TỰA CHỨNG MINH:</a:t>
            </a:r>
          </a:p>
          <a:p>
            <a:r>
              <a:t>LIVA triển khai trong 15 phút, trong khi dự án RPA mất từ 3 đến 6 tháng cấu hình.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Thời lượng: 25s | Tốc độ: 139 wpm | Âm sắc: Hào hùng, tự tin, khép lại trọn vẹn 5 phút thuyết trình Vòng 1]</a:t>
            </a:r>
          </a:p>
          <a:p/>
          <a:p>
            <a:r>
              <a:t>LỜI THOẠI DIỄN GIẢ:</a:t>
            </a:r>
          </a:p>
          <a:p>
            <a:r>
              <a:t>Hôm nay, LIVA mở vòng gọi vốn Seed từ 500.000 đến 750.000 USD cho 12% đến 15% cổ phần, định giá 4 đến 5 triệu USD. [Nghỉ 1.5s] Vốn được phân bổ kỷ luật: 50% sản phẩm, 25% thị trường, 15% pháp lý Sandbox và 10% dự phòng. [Giọng đĩnh đạc] Chúng tôi bảo đảm 18 đến 24 tháng runway tự chủ tài chính!</a:t>
            </a:r>
          </a:p>
          <a:p/>
          <a:p>
            <a:r>
              <a:t>KEY TAKEAWAY:</a:t>
            </a:r>
          </a:p>
          <a:p>
            <a:r>
              <a:t>Vòng gọi vốn Seed $500k-$750k cho 12-15% cổ phần, định giá $4.0M-$5.0M, phân bổ kỷ luật bảo đảm 18-24 tháng runway.</a:t>
            </a:r>
          </a:p>
          <a:p/>
          <a:p>
            <a:r>
              <a:t>PUNCHLINE:</a:t>
            </a:r>
          </a:p>
          <a:p>
            <a:r>
              <a:t>Bảo Đảm 18 – 24 Tháng Runway Tự Chủ Để Dẫn Đầu Làn Sóng AI Ngân Quỹ Cục Bộ!</a:t>
            </a:r>
          </a:p>
          <a:p/>
          <a:p>
            <a:r>
              <a:t>CÂU HỎI VẶN &amp; PHẢN XẠ (OBJECTION Q&amp;A):</a:t>
            </a:r>
          </a:p>
          <a:p>
            <a:r>
              <a:t>- Q: Tại sao định giá doanh nghiệp là 4 đến 5 triệu USD?</a:t>
            </a:r>
          </a:p>
          <a:p>
            <a:r>
              <a:t>- A: Định giá dựa trên mã nguồn hoàn chỉnh đã đo kiểm, thị trường TAM 180 triệu USD và tiềm năng đạt điểm hòa vốn trong 14 tháng.</a:t>
            </a:r>
          </a:p>
          <a:p/>
          <a:p>
            <a:r>
              <a:t>ĐIỂM TỰA CHỨNG MINH:</a:t>
            </a:r>
          </a:p>
          <a:p>
            <a:r>
              <a:t>Cơ cấu giải ngân theo mốc nghiệm thu bảo vệ tối đa lợi ích của các nhà đầu tư.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Thời lượng: 25s | Tốc độ: 136 wpm | Âm sắc: Đĩnh đạc, tự tin, mở đầu thuyết phục cho Vòng 2 Top 3]</a:t>
            </a:r>
          </a:p>
          <a:p/>
          <a:p>
            <a:r>
              <a:t>LỜI THOẠI DIỄN GIẢ:</a:t>
            </a:r>
          </a:p>
          <a:p>
            <a:r>
              <a:t>Bước vào Vòng 2, chúng tôi xin trình bày lộ trình thực thi 4 quý cực kỳ kỷ luật: [Nghỉ 1.5s] Quý 4 năm nay hoàn thiện 20 ngân hàng. Quý 1/2027 kết nối Top 5 ngân hàng lớn. Quý 2/2027 tích hợp 1 chạm vào MISA, FAST. [Nghỉ 1.5s] Và Quý 3/2027 phủ sóng toàn bộ 35 ngân hàng, đạt mốc 220 doanh nghiệp và doanh thu 2.4 triệu USD!</a:t>
            </a:r>
          </a:p>
          <a:p/>
          <a:p>
            <a:r>
              <a:t>KEY TAKEAWAY:</a:t>
            </a:r>
          </a:p>
          <a:p>
            <a:r>
              <a:t>Lộ trình 4 quý rõ ràng: Từ thử nghiệm 15 doanh nghiệp đến tích hợp ERP và phủ sóng 35+ ngân hàng với ARR $2.4M.</a:t>
            </a:r>
          </a:p>
          <a:p/>
          <a:p>
            <a:r>
              <a:t>PUNCHLINE:</a:t>
            </a:r>
          </a:p>
          <a:p>
            <a:r>
              <a:t>Kế Hoạch Hành Động Kỷ Luật Từng Quý — Từng Mốc Đều Đo Bằng Doanh Thu Thực Tế!</a:t>
            </a:r>
          </a:p>
          <a:p/>
          <a:p>
            <a:r>
              <a:t>CÂU HỎI VẶN &amp; PHẢN XẠ (OBJECTION Q&amp;A):</a:t>
            </a:r>
          </a:p>
          <a:p>
            <a:r>
              <a:t>- Q: Làm sao kết nối được 35 ngân hàng mà không cần API chính thức?</a:t>
            </a:r>
          </a:p>
          <a:p>
            <a:r>
              <a:t>- A: LIVA phân tích trực tiếp file sao kê chuẩn hóa do ngân hàng xuất ra, không phụ thuộc vào việc mở cổng API kết nối.</a:t>
            </a:r>
          </a:p>
          <a:p/>
          <a:p>
            <a:r>
              <a:t>ĐIỂM TỰA CHỨNG MINH:</a:t>
            </a:r>
          </a:p>
          <a:p>
            <a:r>
              <a:t>Đã hoàn thành bộ giải mã cho 20 mẫu sao kê của các ngân hàng lớn nhất.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Thời lượng: 25s | Tốc độ: 136 wpm | Âm sắc: Chắc chắn, nhấn mạnh tính bền vững và sự an toàn vốn cho nhà đầu tư]</a:t>
            </a:r>
          </a:p>
          <a:p/>
          <a:p>
            <a:r>
              <a:t>LỜI THOẠI DIỄN GIẢ:</a:t>
            </a:r>
          </a:p>
          <a:p>
            <a:r>
              <a:t>Sức hấp dẫn tài chính của LIVA đến từ các chỉ số kinh tế đơn vị vượt trội: [Nghỉ 1.5s] Tỷ lệ LTV trên CAC đạt 5.2 lần; thời gian thu hồi chi phí bán hàng chỉ 4.6 tháng; và biên lợi nhuận gộp trên 88% do không gánh chi phí server. [Giọng dứt khoát] Công ty sẽ chính thức hòa vốn vận hành vào Tháng 11/2027!</a:t>
            </a:r>
          </a:p>
          <a:p/>
          <a:p>
            <a:r>
              <a:t>KEY TAKEAWAY:</a:t>
            </a:r>
          </a:p>
          <a:p>
            <a:r>
              <a:t>Unit economics vượt bậc: LTV/CAC 5.2x, hoàn vốn CAC 4.6 tháng, biên gộp &gt; 88% và hòa vốn vào Tháng 11/2027.</a:t>
            </a:r>
          </a:p>
          <a:p/>
          <a:p>
            <a:r>
              <a:t>PUNCHLINE:</a:t>
            </a:r>
          </a:p>
          <a:p>
            <a:r>
              <a:t>Mô Hình Kinh Doanh Sinh Lời Bền Vững — Không Bao Giờ Rơi Vào Cái Bẫy Đốt Tiền!</a:t>
            </a:r>
          </a:p>
          <a:p/>
          <a:p>
            <a:r>
              <a:t>CÂU HỎI VẶN &amp; PHẢN XẠ (OBJECTION Q&amp;A):</a:t>
            </a:r>
          </a:p>
          <a:p>
            <a:r>
              <a:t>- Q: Tại sao CAC chỉ mất 4.6 tháng để thu hồi?</a:t>
            </a:r>
          </a:p>
          <a:p>
            <a:r>
              <a:t>- A: Nhờ tận dụng kênh phân phối đại lý ERP có sẵn và chu kỳ chốt hợp đồng thuê bao ngắn ngày.</a:t>
            </a:r>
          </a:p>
          <a:p/>
          <a:p>
            <a:r>
              <a:t>ĐIỂM TỰA CHỨNG MINH:</a:t>
            </a:r>
          </a:p>
          <a:p>
            <a:r>
              <a:t>LTV tính toán trên thời gian sử dụng trung bình 36 tháng với tỷ lệ giữ chân khách hàng 92%.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Thời lượng: 25s | Tốc độ: 136 wpm | Âm sắc: Đĩnh đạc, minh bạch, bảo vệ sự tin cậy của các con số dự phóng]</a:t>
            </a:r>
          </a:p>
          <a:p/>
          <a:p>
            <a:r>
              <a:t>LỜI THOẠI DIỄN GIẢ:</a:t>
            </a:r>
          </a:p>
          <a:p>
            <a:r>
              <a:t>Dự phóng tài chính 3 năm của chúng tôi rất thận trọng: [Nghỉ 1.5s] Năm 2026 đạt 450 nghìn USD từ 35 doanh nghiệp đầu tiên. Năm 2027 tăng tốc lên 2.4 triệu USD và đạt điểm hòa vốn với 220 khách hàng. [Nghỉ 1.5s] Đến năm 2028, kịch bản cơ sở đạt 3.9 triệu USD và kịch bản bứt phá đạt 7.2 triệu USD!</a:t>
            </a:r>
          </a:p>
          <a:p/>
          <a:p>
            <a:r>
              <a:t>KEY TAKEAWAY:</a:t>
            </a:r>
          </a:p>
          <a:p>
            <a:r>
              <a:t>Dự phóng doanh thu 3 năm khả thi: $450k năm 2026, $2.4M năm 2027 (hòa vốn), và $3.9M - $7.2M năm 2028.</a:t>
            </a:r>
          </a:p>
          <a:p/>
          <a:p>
            <a:r>
              <a:t>PUNCHLINE:</a:t>
            </a:r>
          </a:p>
          <a:p>
            <a:r>
              <a:t>Tăng Trưởng Thực Chất Gắn Liền Với Điểm Hòa Vốn Rõ Ràng Vào Cuối Năm 2027!</a:t>
            </a:r>
          </a:p>
          <a:p/>
          <a:p>
            <a:r>
              <a:t>CÂU HỎI VẶN &amp; PHẢN XẠ (OBJECTION Q&amp;A):</a:t>
            </a:r>
          </a:p>
          <a:p>
            <a:r>
              <a:t>- Q: Cơ sở nào để đạt 220 doanh nghiệp vào cuối năm 2027?</a:t>
            </a:r>
          </a:p>
          <a:p>
            <a:r>
              <a:t>- A: Chỉ cần chiếm 1.5% trong số hơn 15.000 doanh nghiệp mục tiêu thông qua mạng lưới đại lý phần mềm kế toán.</a:t>
            </a:r>
          </a:p>
          <a:p/>
          <a:p>
            <a:r>
              <a:t>ĐIỂM TỰA CHỨNG MINH:</a:t>
            </a:r>
          </a:p>
          <a:p>
            <a:r>
              <a:t>Doanh thu phân bổ: 70% từ thuê bao doanh nghiệp và 30% từ bản quyền ngân hàng.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Thời lượng: 20s | Tốc độ: 147 wpm | Âm sắc: Điềm tĩnh, thể hiện kỷ luật chi tiêu của người quản trị tài chính]</a:t>
            </a:r>
          </a:p>
          <a:p/>
          <a:p>
            <a:r>
              <a:t>LỜI THOẠI DIỄN GIẢ:</a:t>
            </a:r>
          </a:p>
          <a:p>
            <a:r>
              <a:t>Là những người làm tài chính, chúng tôi quản trị chi tiêu rất chặt chẽ: [Nghỉ 1.5s] Mức chi tiêu hàng tháng được kiểm soát dưới 25 nghìn USD, với 55% dành cho đội ngũ kỹ sư nòng cốt. Vốn gọi vòng Seed bảo đảm 18 đến 24 tháng đường băng an toàn để tập trung hoàn thiện sản phẩm.</a:t>
            </a:r>
          </a:p>
          <a:p/>
          <a:p>
            <a:r>
              <a:t>KEY TAKEAWAY:</a:t>
            </a:r>
          </a:p>
          <a:p>
            <a:r>
              <a:t>Kỷ luật dòng tiền thép: Tỷ lệ đốt tiền dưới $25k/tháng, 55% chi cho kỹ sư, bảo đảm runway an toàn 18-24 tháng.</a:t>
            </a:r>
          </a:p>
          <a:p/>
          <a:p>
            <a:r>
              <a:t>PUNCHLINE:</a:t>
            </a:r>
          </a:p>
          <a:p>
            <a:r>
              <a:t>Kỷ Luật Dòng Tiền Thép — Từng Đồng Vốn Đều Được Chi Tiêu Đúng Mục Đích!</a:t>
            </a:r>
          </a:p>
          <a:p/>
          <a:p>
            <a:r>
              <a:t>CÂU HỎI VẶN &amp; PHẢN XẠ (OBJECTION Q&amp;A):</a:t>
            </a:r>
          </a:p>
          <a:p>
            <a:r>
              <a:t>- Q: Nếu doanh thu về chậm hơn dự kiến thì sao?</a:t>
            </a:r>
          </a:p>
          <a:p>
            <a:r>
              <a:t>- A: Quỹ dự phòng 10% và mức đốt tiền thấp cho phép công ty kéo dài thời gian hoạt động thêm 6 tháng mà không cần huy động vốn gấp.</a:t>
            </a:r>
          </a:p>
          <a:p/>
          <a:p>
            <a:r>
              <a:t>ĐIỂM TỰA CHỨNG MINH:</a:t>
            </a:r>
          </a:p>
          <a:p>
            <a:r>
              <a:t>Ngân sách chi tiết được kiểm soát theo quý và báo cáo minh bạch cho hội đồng quản trị.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Thời lượng: 25s | Tốc độ: 136 wpm | Âm sắc: Chuyên nghiệp, am hiểu sâu sắc hành lang pháp lý tài chính]</a:t>
            </a:r>
          </a:p>
          <a:p/>
          <a:p>
            <a:r>
              <a:t>LỜI THOẠI DIỄN GIẢ:</a:t>
            </a:r>
          </a:p>
          <a:p>
            <a:r>
              <a:t>Trong tài chính, công nghệ giỏi phải đi đôi với tuân thủ pháp lý: [Nghỉ 1.5s] LIVA chủ động thực hiện 4 bước: Nộp hồ sơ đánh giá tác động dữ liệu Nghị định 13; tuân thủ Thông tư 09; đánh giá an ninh ISO 27001; và chuẩn bị hồ sơ tham gia Sandbox Ngân hàng Nhà nước. Pháp lý chính là lợi thế cạnh tranh của LIVA!</a:t>
            </a:r>
          </a:p>
          <a:p/>
          <a:p>
            <a:r>
              <a:t>KEY TAKEAWAY:</a:t>
            </a:r>
          </a:p>
          <a:p>
            <a:r>
              <a:t>Chủ động tuân thủ toàn diện: Nghị định 13 (DPIA), Thông tư 09, ISO 27001 và sẵn sàng tham gia Sandbox NHNN.</a:t>
            </a:r>
          </a:p>
          <a:p/>
          <a:p>
            <a:r>
              <a:t>PUNCHLINE:</a:t>
            </a:r>
          </a:p>
          <a:p>
            <a:r>
              <a:t>Biến Tuân Thủ Pháp Lý Thành Hào Lũy Bảo Vệ Vững Chắc Cho Khách Hàng!</a:t>
            </a:r>
          </a:p>
          <a:p/>
          <a:p>
            <a:r>
              <a:t>CÂU HỎI VẶN &amp; PHẢN XẠ (OBJECTION Q&amp;A):</a:t>
            </a:r>
          </a:p>
          <a:p>
            <a:r>
              <a:t>- Q: Thời gian xin vào Sandbox Ngân hàng Nhà nước mất bao lâu?</a:t>
            </a:r>
          </a:p>
          <a:p>
            <a:r>
              <a:t>- A: Thường mất từ 6 đến 12 tháng; trong thời gian đó LIVA vẫn vận hành thương mại bình thường cho gói quản trị đối soát nội bộ doanh nghiệp.</a:t>
            </a:r>
          </a:p>
          <a:p/>
          <a:p>
            <a:r>
              <a:t>ĐIỂM TỰA CHỨNG MINH:</a:t>
            </a:r>
          </a:p>
          <a:p>
            <a:r>
              <a:t>Nghị định 52/2024/NĐ-CP và Quyết định 810/QĐ-NHNN về chuyển đổi số ngành ngân hàng.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Thời lượng: 20s | Tốc độ: 150 wpm | Âm sắc: Tự hào, gắn kết, truyền tải trọn vẹn sự tin cậy của đội ngũ]</a:t>
            </a:r>
          </a:p>
          <a:p/>
          <a:p>
            <a:r>
              <a:t>LỜI THOẠI DIỄN GIẢ:</a:t>
            </a:r>
          </a:p>
          <a:p>
            <a:r>
              <a:t>Sức mạnh lớn nhất của LIVA là con người: [Nghỉ 1.5s] 5 nhà sáng lập chúng tôi đều làm việc 100% toàn thời gian, kết hợp ăn ý giữa chuyên môn tài chính và năng lực công nghệ lõi làm chủ hoàn toàn. [Giọng quyết đoán] Chúng tôi toàn tâm toàn ý xây dựng LIVA thành biểu tượng công nghệ tài chính tự chủ!</a:t>
            </a:r>
          </a:p>
          <a:p/>
          <a:p>
            <a:r>
              <a:t>KEY TAKEAWAY:</a:t>
            </a:r>
          </a:p>
          <a:p>
            <a:r>
              <a:t>5 nhà sáng lập làm việc 100% toàn thời gian, làm chủ công nghệ lõi và am hiểu sâu sắc nghiệp vụ tài chính.</a:t>
            </a:r>
          </a:p>
          <a:p/>
          <a:p>
            <a:r>
              <a:t>PUNCHLINE:</a:t>
            </a:r>
          </a:p>
          <a:p>
            <a:r>
              <a:t>100% Toàn Thời Gian — Cam Kết Dài Hạn Và Toàn Tâm Toàn Ý Vì Mục Tiêu!</a:t>
            </a:r>
          </a:p>
          <a:p/>
          <a:p>
            <a:r>
              <a:t>CÂU HỎI VẶN &amp; PHẢN XẠ (OBJECTION Q&amp;A):</a:t>
            </a:r>
          </a:p>
          <a:p>
            <a:r>
              <a:t>- Q: Đội ngũ có đủ năng lực mở rộng quy mô kỹ thuật không?</a:t>
            </a:r>
          </a:p>
          <a:p>
            <a:r>
              <a:t>- A: Các kỹ sư trưởng có kinh nghiệm xây dựng hệ thống phân tán và bảo mật ngân hàng, sẵn sàng tuyển dụng và dẫn dắt đội ngũ kỹ sư mới.</a:t>
            </a:r>
          </a:p>
          <a:p/>
          <a:p>
            <a:r>
              <a:t>ĐIỂM TỰA CHỨNG MINH:</a:t>
            </a:r>
          </a:p>
          <a:p>
            <a:r>
              <a:t>100% thành viên đã ký cam kết cống hiến toàn thời gian tối thiểu 3 năm.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Thời lượng: 25s | Tốc độ: 136 wpm | Âm sắc: Điềm đạm, bản lĩnh, khép lại Vòng 2 bằng sự chuẩn bị kỹ lưỡng]</a:t>
            </a:r>
          </a:p>
          <a:p/>
          <a:p>
            <a:r>
              <a:t>LỜI THOẠI DIỄN GIẢ:</a:t>
            </a:r>
          </a:p>
          <a:p>
            <a:r>
              <a:t>Chúng tôi luôn chuẩn bị cho tình huống xấu nhất: [Nghỉ 1.5s] Nếu bán cho ngân hàng chậm, chúng tôi có dòng tiền thuê bao CFO bù đắp; nếu thủ tục Sandbox cần thời gian, chúng tôi tập trung đối soát nội bộ; và nếu ngân hàng đổi mẫu sao kê, cơ chế khóa an toàn bảo đảm không bao giờ lệch số. Chúng tôi sẵn sàng cho Vòng Q&amp;A!</a:t>
            </a:r>
          </a:p>
          <a:p/>
          <a:p>
            <a:r>
              <a:t>KEY TAKEAWAY:</a:t>
            </a:r>
          </a:p>
          <a:p>
            <a:r>
              <a:t>Nhận diện thẳng thắn 3 rủi ro trọng yếu và có sẵn phương án hóa giải cụ thể cho từng trường hợp.</a:t>
            </a:r>
          </a:p>
          <a:p/>
          <a:p>
            <a:r>
              <a:t>PUNCHLINE:</a:t>
            </a:r>
          </a:p>
          <a:p>
            <a:r>
              <a:t>Luôn Chuẩn Bị Sẵn Sàng Cho Tình Huống Xấu Nhất Để Doanh Nghiệp Luôn Tăng Trưởng An Toàn!</a:t>
            </a:r>
          </a:p>
          <a:p/>
          <a:p>
            <a:r>
              <a:t>CÂU HỎI VẶN &amp; PHẢN XẠ (OBJECTION Q&amp;A):</a:t>
            </a:r>
          </a:p>
          <a:p>
            <a:r>
              <a:t>- Q: Rủi ro lớn nhất đối với LIVA trong năm đầu tiên là gì?</a:t>
            </a:r>
          </a:p>
          <a:p>
            <a:r>
              <a:t>- A: Rủi ro tiến độ tích hợp với các phần mềm kế toán; chúng tôi khắc phục bằng cơ chế xuất nhập file trung gian trước khi có kết nối API trực tiếp.</a:t>
            </a:r>
          </a:p>
          <a:p/>
          <a:p>
            <a:r>
              <a:t>ĐIỂM TỰA CHỨNG MINH:</a:t>
            </a:r>
          </a:p>
          <a:p>
            <a:r>
              <a:t>Kế hoạch ứng phó chi tiết được cập nhật định kỳ hàng tháng trong sổ quản trị rủi ro của công 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Thời lượng: 25s | Tốc độ: 136 wpm | Âm sắc: Chắc nịch, giải đáp dứt khoát câu hỏi phổ biến nhất của giám khảo]</a:t>
            </a:r>
          </a:p>
          <a:p/>
          <a:p>
            <a:r>
              <a:t>LỜI THOẠI DIỄN GIẢ:</a:t>
            </a:r>
          </a:p>
          <a:p>
            <a:r>
              <a:t>Tại sao kế toán không viết mấy dòng Macro Excel cho đỡ tốn tiền? [Nghỉ 1.5s] Trả lời: Excel chỉ làm được khi dữ liệu chuẩn một khuôn. Nhưng thực tế 15 ngân hàng là 15 mẫu khác nhau. [Giọng đanh thép] Excel không hiểu được câu chữ viết tắt tự do, và chỉ cần ngân hàng chèn thêm 1 cột là Macro gãy nát vụn! Excel không sinh ra để làm đai an toàn ngân quỹ.</a:t>
            </a:r>
          </a:p>
          <a:p/>
          <a:p>
            <a:r>
              <a:t>KEY TAKEAWAY:</a:t>
            </a:r>
          </a:p>
          <a:p>
            <a:r>
              <a:t>Excel và Macro sụp đổ khi dữ liệu đổi mẫu hoặc gặp chữ viết tắt; LIVA hiểu ngữ nghĩa và xử lý 50.000 dòng không bao giờ đơ máy.</a:t>
            </a:r>
          </a:p>
          <a:p/>
          <a:p>
            <a:r>
              <a:t>PUNCHLINE:</a:t>
            </a:r>
          </a:p>
          <a:p>
            <a:r>
              <a:t>Excel Sinh Ra Để Làm Bảng Tính — Không Sinh Ra Để Làm Đai An Toàn Ngân Quỹ!</a:t>
            </a:r>
          </a:p>
          <a:p/>
          <a:p>
            <a:r>
              <a:t>CÂU HỎI VẶN &amp; PHẢN XẠ (OBJECTION Q&amp;A):</a:t>
            </a:r>
          </a:p>
          <a:p>
            <a:r>
              <a:t>- Q: Power Query trong Excel có giải quyết được không?</a:t>
            </a:r>
          </a:p>
          <a:p>
            <a:r>
              <a:t>- A: Power Query vẫn yêu cầu người dùng phải tự định nghĩa quy tắc biến đổi thủ công và hoàn toàn bất lực trước câu chữ tự do tiếng Việt.</a:t>
            </a:r>
          </a:p>
          <a:p/>
          <a:p>
            <a:r>
              <a:t>ĐIỂM TỰA CHỨNG MINH:</a:t>
            </a:r>
          </a:p>
          <a:p>
            <a:r>
              <a:t>Thực tế kiểm thử với 100 giao dịch viết tắt cho thấy Excel khớp được dưới 40%, trong khi LIVA đạt 99.8%.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Thời lượng: 25s | Tốc độ: 136 wpm | Âm sắc: Điềm tĩnh, phân tích góc nhìn chiến lược ngành ngân hàng]</a:t>
            </a:r>
          </a:p>
          <a:p/>
          <a:p>
            <a:r>
              <a:t>LỜI THOẠI DIỄN GIẢ:</a:t>
            </a:r>
          </a:p>
          <a:p>
            <a:r>
              <a:t>Nếu ngân hàng tự nâng cấp Internet Banking thì LIVA có bị thay thế? [Nghỉ 1.5s] Câu trả lời là KHÔNG! Vì Vietcombank không bao giờ chịu xây phần mềm quản lý tài khoản Techcombank hay MBBank. Ngân hàng chỉ quản lý tiền của họ. [Giọng dứt khoát] Doanh nghiệp bắt buộc cần bên trung lập như LIVA để gom 15 ngân hàng. Ngân hàng là đối tác cộng sinh của LIVA!</a:t>
            </a:r>
          </a:p>
          <a:p/>
          <a:p>
            <a:r>
              <a:t>KEY TAKEAWAY:</a:t>
            </a:r>
          </a:p>
          <a:p>
            <a:r>
              <a:t>Ngân hàng không bao giờ quản lý tài khoản của đối thủ; doanh nghiệp luôn cần bên thứ ba độc lập như LIVA để hợp nhất đa ngân hàng.</a:t>
            </a:r>
          </a:p>
          <a:p/>
          <a:p>
            <a:r>
              <a:t>PUNCHLINE:</a:t>
            </a:r>
          </a:p>
          <a:p>
            <a:r>
              <a:t>Ngân Hàng Không Phải Đối Thủ Của LIVA — Ngân Hàng Là Đối Tác Cộng Sinh!</a:t>
            </a:r>
          </a:p>
          <a:p/>
          <a:p>
            <a:r>
              <a:t>CÂU HỎI VẶN &amp; PHẢN XẠ (OBJECTION Q&amp;A):</a:t>
            </a:r>
          </a:p>
          <a:p>
            <a:r>
              <a:t>- Q: Liệu các ngân hàng có bắt tay nhau xây dựng nền tảng chung không?</a:t>
            </a:r>
          </a:p>
          <a:p>
            <a:r>
              <a:t>- A: Cạnh tranh tiền gửi CASA giữa các ngân hàng cực kỳ khốc liệt; họ sẽ không bao giờ chia sẻ dữ liệu khách hàng doanh nghiệp cho đối thủ.</a:t>
            </a:r>
          </a:p>
          <a:p/>
          <a:p>
            <a:r>
              <a:t>ĐIỂM TỰA CHỨNG MINH:</a:t>
            </a:r>
          </a:p>
          <a:p>
            <a:r>
              <a:t>Lịch sử ngành Open Banking toàn cầu chứng minh các nền tảng trung lập như Plaid hay Yapily luôn chiến thắng.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Thời lượng: 25s | Tốc độ: 136 wpm | Âm sắc: Đanh thép, giải thích công nghệ bằng góc nhìn kinh tế và bảo mật]</a:t>
            </a:r>
          </a:p>
          <a:p/>
          <a:p>
            <a:r>
              <a:t>LỜI THOẠI DIỄN GIẢ:</a:t>
            </a:r>
          </a:p>
          <a:p>
            <a:r>
              <a:t>Tại sao LIVA lại dùng mô hình nhỏ 3B đến 8B thay vì ChatGPT? [Nghỉ 1.5s] Để đọc sao kê, chúng ta không cần 'đại bác' 70 tỷ tham số biết làm thơ; chúng ta cần 'dao mổ chuyên dụng' đọc vanh vách chữ viết tắt tiếng Việt. [Giọng tự tin] Mô hình nhỏ chạy cục bộ vừa an toàn 100%, vừa đạt tốc độ tức thì mà chi phí API bằng 0!</a:t>
            </a:r>
          </a:p>
          <a:p/>
          <a:p>
            <a:r>
              <a:t>KEY TAKEAWAY:</a:t>
            </a:r>
          </a:p>
          <a:p>
            <a:r>
              <a:t>Đối soát không cần mô hình 70B biết làm thơ; mô hình nhỏ 3B-8B cục bộ chuyên sâu xử lý nhanh hơn, an toàn tuyệt đối và chi phí $0.</a:t>
            </a:r>
          </a:p>
          <a:p/>
          <a:p>
            <a:r>
              <a:t>PUNCHLINE:</a:t>
            </a:r>
          </a:p>
          <a:p>
            <a:r>
              <a:t>Không Dùng Đại Bác Bắn Chim Sẻ — Dùng Dao Mổ Chuyên Dụng Cho Dữ Liệu Tài Chính!</a:t>
            </a:r>
          </a:p>
          <a:p/>
          <a:p>
            <a:r>
              <a:t>CÂU HỎI VẶN &amp; PHẢN XẠ (OBJECTION Q&amp;A):</a:t>
            </a:r>
          </a:p>
          <a:p>
            <a:r>
              <a:t>- Q: Mô hình nhỏ có hiểu được các câu chuyển khoản phức tạp không?</a:t>
            </a:r>
          </a:p>
          <a:p>
            <a:r>
              <a:t>- A: Nhờ được tinh chỉnh sâu trên 500.000 mẫu chuyển khoản thực tế, mô hình nhỏ hiểu ngữ nghĩa tiếng Việt tài chính chính xác hơn cả mô hình tổng quát.</a:t>
            </a:r>
          </a:p>
          <a:p/>
          <a:p>
            <a:r>
              <a:t>ĐIỂM TỰA CHỨNG MINH:</a:t>
            </a:r>
          </a:p>
          <a:p>
            <a:r>
              <a:t>Đo kiểm nhận diện thực thể tên hóa đơn và số tiền đạt F1-score &gt; 98.5%.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Thời lượng: 25s | Tốc độ: 136 wpm | Âm sắc: Điềm đạm, nghiêm túc, khẳng định trách nhiệm nghề nghiệp cao nhất]</a:t>
            </a:r>
          </a:p>
          <a:p/>
          <a:p>
            <a:r>
              <a:t>LỜI THOẠI DIỄN GIẢ:</a:t>
            </a:r>
          </a:p>
          <a:p>
            <a:r>
              <a:t>Ai chịu trách nhiệm khi mất tiền? [Nghỉ 1.5s] LIVA thiết kế theo triết lý khóa an toàn Fail-Closed: Khi thông tin mơ hồ, hệ thống kiên quyết không đoán mò mà cách ly ngay 0.2% cho người xem xét. [Giọng đanh thép] Cơ chế Maker-Checker quy định AI chỉ đề xuất, Kế toán trưởng ký duyệt mới có hiệu lực. Quyền quyết định luôn thuộc về con người!</a:t>
            </a:r>
          </a:p>
          <a:p/>
          <a:p>
            <a:r>
              <a:t>KEY TAKEAWAY:</a:t>
            </a:r>
          </a:p>
          <a:p>
            <a:r>
              <a:t>Cơ chế khóa an toàn Fail-Closed không bao giờ đoán mò; quy trình phê duyệt Maker-Checker giữ quyền quyết định tối cao cho con người.</a:t>
            </a:r>
          </a:p>
          <a:p/>
          <a:p>
            <a:r>
              <a:t>PUNCHLINE:</a:t>
            </a:r>
          </a:p>
          <a:p>
            <a:r>
              <a:t>AI Chỉ Là Trợ Lý Đề Xuất — Quyền Quyết Định Tài Chính Luôn Nằm Trọn Trong Tay Con Người!</a:t>
            </a:r>
          </a:p>
          <a:p/>
          <a:p>
            <a:r>
              <a:t>CÂU HỎI VẶN &amp; PHẢN XẠ (OBJECTION Q&amp;A):</a:t>
            </a:r>
          </a:p>
          <a:p>
            <a:r>
              <a:t>- Q: LIVA có tự động trích tiền trong tài khoản không?</a:t>
            </a:r>
          </a:p>
          <a:p>
            <a:r>
              <a:t>- A: Tuyệt đối không; LIVA chỉ lập đề xuất đối soát và lệnh thanh toán, việc chuyển tiền bắt buộc phải qua chữ ký số của Kế toán trưởng và Giám đốc.</a:t>
            </a:r>
          </a:p>
          <a:p/>
          <a:p>
            <a:r>
              <a:t>ĐIỂM TỰA CHỨNG MINH:</a:t>
            </a:r>
          </a:p>
          <a:p>
            <a:r>
              <a:t>Cơ chế phân quyền 4 cấp độ và chữ ký điện tử hai pha tuân thủ tiêu chuẩn an toàn ngân quỹ.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Thời lượng: 25s | Tốc độ: 136 wpm | Âm sắc: Minh bạch, thể hiện sự tôn trọng tuyệt đối đối với vốn của nhà đầu tư]</a:t>
            </a:r>
          </a:p>
          <a:p/>
          <a:p>
            <a:r>
              <a:t>LỜI THOẠI DIỄN GIẢ:</a:t>
            </a:r>
          </a:p>
          <a:p>
            <a:r>
              <a:t>Vốn của nhà đầu tư được giải ngân ra sao? [Nghỉ 1.5s] Chúng tôi áp dụng cơ chế giải ngân theo 3 đợt gắn với mốc nghiệm thu: 50% hoàn thiện sản phẩm, 25% mở rộng kênh kế toán, 15% kiểm toán an ninh và 10% dự phòng. [Giọng chắc chắn] Từng đồng vốn đều trực tiếp tạo ra tài sản công nghệ và doanh thu thực chất!</a:t>
            </a:r>
          </a:p>
          <a:p/>
          <a:p>
            <a:r>
              <a:t>KEY TAKEAWAY:</a:t>
            </a:r>
          </a:p>
          <a:p>
            <a:r>
              <a:t>Giải ngân vốn có kỷ luật theo 3 đợt gắn với mốc nghiệm thu cụ thể: 50% Sản phẩm, 25% Thị trường, 15% Pháp lý, 10% Dự phòng.</a:t>
            </a:r>
          </a:p>
          <a:p/>
          <a:p>
            <a:r>
              <a:t>PUNCHLINE:</a:t>
            </a:r>
          </a:p>
          <a:p>
            <a:r>
              <a:t>Từng Đồng Vốn Đều Gắn Chặt Với Mốc Nghiệm Thu Và Tạo Ra Doanh Thu Thực Chất!</a:t>
            </a:r>
          </a:p>
          <a:p/>
          <a:p>
            <a:r>
              <a:t>CÂU HỎI VẶN &amp; PHẢN XẠ (OBJECTION Q&amp;A):</a:t>
            </a:r>
          </a:p>
          <a:p>
            <a:r>
              <a:t>- Q: Nhà đầu tư có được quyền biểu quyết các khoản chi lớn không?</a:t>
            </a:r>
          </a:p>
          <a:p>
            <a:r>
              <a:t>- A: Các khoản chi vượt quá 20.000 USD ngoài kế hoạch bắt buộc phải có sự phê duyệt bằng văn bản của đại diện nhà đầu tư trong HĐQT.</a:t>
            </a:r>
          </a:p>
          <a:p/>
          <a:p>
            <a:r>
              <a:t>ĐIỂM TỰA CHỨNG MINH:</a:t>
            </a:r>
          </a:p>
          <a:p>
            <a:r>
              <a:t>Điều khoản bảo vệ nhà đầu tư được chuẩn hóa theo hợp đồng đầu tư mạo hiểm quốc tế (NVCA standard).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Thời lượng: 25s | Tốc độ: 136 wpm | Âm sắc: Tự tin, khẳng định giá trị tài sản trí tuệ và sự kiên cố của sản phẩm]</a:t>
            </a:r>
          </a:p>
          <a:p/>
          <a:p>
            <a:r>
              <a:t>LỜI THOẠI DIỄN GIẢ:</a:t>
            </a:r>
          </a:p>
          <a:p>
            <a:r>
              <a:t>Nếu đối thủ muốn sao chép LIVA thì sao? [Nghỉ 1.5s] Họ có thể sao chép giao diện, nhưng không thể sao chép 3 thứ: Bản quyền kiến trúc đã đăng ký; kho nửa triệu mẫu chữ viết tắt ngân hàng Việt Nam; [Giọng tự tin] và kiến trúc đóng gói khép kín gắn chặt phần cứng máy tính. LIVA được bảo vệ bằng nhiều tầng hào lũy vững chắc!</a:t>
            </a:r>
          </a:p>
          <a:p/>
          <a:p>
            <a:r>
              <a:t>KEY TAKEAWAY:</a:t>
            </a:r>
          </a:p>
          <a:p>
            <a:r>
              <a:t>Bảo vệ toàn diện bằng đăng ký sở hữu trí tuệ, bộ ngữ liệu bản địa độc quyền và kiến trúc đóng gói khép kín chống sao chép.</a:t>
            </a:r>
          </a:p>
          <a:p/>
          <a:p>
            <a:r>
              <a:t>PUNCHLINE:</a:t>
            </a:r>
          </a:p>
          <a:p>
            <a:r>
              <a:t>Đối Thủ Có Thể Bắt Chước Giao Diện — Nhưng Không Thể Sao Chép Được Hào Lũy Dữ Liệu Bản Địa!</a:t>
            </a:r>
          </a:p>
          <a:p/>
          <a:p>
            <a:r>
              <a:t>CÂU HỎI VẶN &amp; PHẢN XẠ (OBJECTION Q&amp;A):</a:t>
            </a:r>
          </a:p>
          <a:p>
            <a:r>
              <a:t>- Q: Có sợ nhân viên kỹ thuật nghỉ việc mang mã nguồn đi không?</a:t>
            </a:r>
          </a:p>
          <a:p>
            <a:r>
              <a:t>- A: 100% mã nguồn được bảo vệ bằng hợp đồng cam kết bảo mật NDA nghiêm ngặt, phân quyền truy cập theo từng module và mã hóa khóa phân tán.</a:t>
            </a:r>
          </a:p>
          <a:p/>
          <a:p>
            <a:r>
              <a:t>ĐIỂM TỰA CHỨNG MINH:</a:t>
            </a:r>
          </a:p>
          <a:p>
            <a:r>
              <a:t>Hồ sơ đăng ký quyền tác giả phần mềm đã hoàn tất các thủ tục pháp lý cần thiết.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Thời lượng: 25s | Tốc độ: 136 wpm | Âm sắc: Hào hùng, truyền cảm hứng mạnh mẽ, khép lại trọn vẹn buổi thuyết trình]</a:t>
            </a:r>
          </a:p>
          <a:p/>
          <a:p>
            <a:r>
              <a:t>LỜI THOẠI DIỄN GIẢ:</a:t>
            </a:r>
          </a:p>
          <a:p>
            <a:r>
              <a:t>Tương lai tài chính của doanh nghiệp Việt Nam không thể phó mặc cho đám mây ngoại quốc. Tương lai thuộc về AI Bản Địa: Tự chủ, Tốc độ cao và Bảo mật an toàn tại chỗ! [Nghỉ 1.5s] LIVA Banking Harness tự hào làm chủ 100% công nghệ và hoàn vốn trong 3 tháng. [Giọng truyền cảm hứng] Hãy cùng chúng tôi thiết lập chuẩn mực mới cho ngân quỹ Việt Nam!</a:t>
            </a:r>
          </a:p>
          <a:p/>
          <a:p>
            <a:r>
              <a:t>KEY TAKEAWAY:</a:t>
            </a:r>
          </a:p>
          <a:p>
            <a:r>
              <a:t>LIVA khẳng định chủ quyền AI tài chính bản địa: Tự chủ, an toàn tuyệt đối tại chỗ, hoàn vốn trong 3 tháng.</a:t>
            </a:r>
          </a:p>
          <a:p/>
          <a:p>
            <a:r>
              <a:t>PUNCHLINE:</a:t>
            </a:r>
          </a:p>
          <a:p>
            <a:r>
              <a:t>Tương Lai Tài Chính Thuộc Về AI Bản Địa — Tự Chủ, Chuẩn Xác Và An Toàn Tuyệt Đối!</a:t>
            </a:r>
          </a:p>
          <a:p/>
          <a:p>
            <a:r>
              <a:t>CÂU HỎI VẶN &amp; PHẢN XẠ (OBJECTION Q&amp;A):</a:t>
            </a:r>
          </a:p>
          <a:p>
            <a:r>
              <a:t>- Q: Bước đi tiếp theo ngay sau Demo Day là gì?</a:t>
            </a:r>
          </a:p>
          <a:p>
            <a:r>
              <a:t>- A: Chúng tôi sẽ ký kết thỏa thuận thử nghiệm PoC với 2 ngân hàng thương mại và giải ngân vòng Seed để đẩy nhanh tốc độ thương mại hóa.</a:t>
            </a:r>
          </a:p>
          <a:p/>
          <a:p>
            <a:r>
              <a:t>ĐIỂM TỰA CHỨNG MINH:</a:t>
            </a:r>
          </a:p>
          <a:p>
            <a:r>
              <a:t>Toàn bộ mã nguồn, tài liệu thẩm định kỹ thuật và báo cáo kiểm toán an ninh sẵn sàng trong phòng dữ liệu (Data Room) cho nhà đầu tư.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84048"/>
            <a:ext cx="43891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latin typeface="Segoe UI"/>
              </a:defRPr>
            </a:pPr>
            <a:r>
              <a:t>INNOSTART 2026 DEMO DAY • ROUND 1 PITCH</a:t>
            </a:r>
          </a:p>
        </p:txBody>
      </p:sp>
      <p:sp>
        <p:nvSpPr>
          <p:cNvPr id="7" name="TextBox 6"/>
          <p:cNvSpPr txBox="1"/>
          <p:nvPr/>
        </p:nvSpPr>
        <p:spPr>
          <a:xfrm>
            <a:off x="731520" y="713232"/>
            <a:ext cx="6309360" cy="1188720"/>
          </a:xfrm>
          <a:prstGeom prst="rect">
            <a:avLst/>
          </a:prstGeom>
          <a:noFill/>
        </p:spPr>
        <p:txBody>
          <a:bodyPr wrap="square" lIns="0" tIns="0" rIns="0" bIns="0">
            <a:spAutoFit/>
          </a:bodyPr>
          <a:lstStyle/>
          <a:p>
            <a:pPr>
              <a:defRPr sz="2800" b="1">
                <a:solidFill>
                  <a:srgbClr val="1E3A8A"/>
                </a:solidFill>
                <a:latin typeface="Segoe UI"/>
              </a:defRPr>
            </a:pPr>
            <a:r>
              <a:t>LIVA BANKING HARNESS</a:t>
            </a:r>
          </a:p>
          <a:p>
            <a:pPr>
              <a:spcBef>
                <a:spcPts val="200"/>
              </a:spcBef>
              <a:defRPr sz="1350" b="1">
                <a:solidFill>
                  <a:srgbClr val="0284C7"/>
                </a:solidFill>
                <a:latin typeface="Segoe UI"/>
              </a:defRPr>
            </a:pPr>
            <a:r>
              <a:t>Đai An Toàn AI &amp; Tháp Canh Nguồn Vốn Doanh Nghiệp 24/7</a:t>
            </a:r>
          </a:p>
          <a:p>
            <a:pPr>
              <a:spcBef>
                <a:spcPts val="300"/>
              </a:spcBef>
              <a:defRPr sz="1000">
                <a:solidFill>
                  <a:srgbClr val="64748B"/>
                </a:solidFill>
                <a:latin typeface="Segoe UI"/>
              </a:defRPr>
            </a:pPr>
            <a:r>
              <a:t>Giải pháp tự động hóa đối soát và tối ưu dòng tiền đa ngân hàng chạy 100% tại chỗ cho doanh nghiệp quy mô 100–500 tỷ VNĐ.</a:t>
            </a:r>
          </a:p>
        </p:txBody>
      </p:sp>
      <p:sp>
        <p:nvSpPr>
          <p:cNvPr id="8" name="Rounded Rectangle 7"/>
          <p:cNvSpPr/>
          <p:nvPr/>
        </p:nvSpPr>
        <p:spPr>
          <a:xfrm>
            <a:off x="731520" y="2011680"/>
            <a:ext cx="6309360" cy="9174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011680"/>
            <a:ext cx="73152" cy="91744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103120"/>
            <a:ext cx="2011680" cy="734568"/>
          </a:xfrm>
          <a:prstGeom prst="rect">
            <a:avLst/>
          </a:prstGeom>
          <a:noFill/>
        </p:spPr>
        <p:txBody>
          <a:bodyPr wrap="square" lIns="0" tIns="0" rIns="0" bIns="0">
            <a:spAutoFit/>
          </a:bodyPr>
          <a:lstStyle/>
          <a:p>
            <a:pPr>
              <a:defRPr sz="2800" b="1">
                <a:solidFill>
                  <a:srgbClr val="1E3A8A"/>
                </a:solidFill>
                <a:latin typeface="Segoe UI"/>
              </a:defRPr>
            </a:pPr>
            <a:r>
              <a:t>100%</a:t>
            </a:r>
          </a:p>
        </p:txBody>
      </p:sp>
      <p:sp>
        <p:nvSpPr>
          <p:cNvPr id="11" name="TextBox 10"/>
          <p:cNvSpPr txBox="1"/>
          <p:nvPr/>
        </p:nvSpPr>
        <p:spPr>
          <a:xfrm>
            <a:off x="3063240" y="2103120"/>
            <a:ext cx="3794760" cy="734568"/>
          </a:xfrm>
          <a:prstGeom prst="rect">
            <a:avLst/>
          </a:prstGeom>
          <a:noFill/>
        </p:spPr>
        <p:txBody>
          <a:bodyPr wrap="square" lIns="0" tIns="0" rIns="0" bIns="0">
            <a:spAutoFit/>
          </a:bodyPr>
          <a:lstStyle/>
          <a:p>
            <a:pPr>
              <a:spcAft>
                <a:spcPts val="200"/>
              </a:spcAft>
              <a:defRPr sz="1000" b="1">
                <a:solidFill>
                  <a:srgbClr val="0F172A"/>
                </a:solidFill>
                <a:latin typeface="Segoe UI"/>
              </a:defRPr>
            </a:pPr>
            <a:r>
              <a:t>ZERO DATA EGRESS</a:t>
            </a:r>
          </a:p>
          <a:p>
            <a:pPr>
              <a:defRPr sz="919">
                <a:solidFill>
                  <a:srgbClr val="334155"/>
                </a:solidFill>
                <a:latin typeface="Segoe UI"/>
              </a:defRPr>
            </a:pPr>
            <a:r>
              <a:t>Vận hành hoàn toàn tại chỗ — Không gửi 1 byte dữ liệu tài chính lên đám mây.</a:t>
            </a:r>
          </a:p>
        </p:txBody>
      </p:sp>
      <p:sp>
        <p:nvSpPr>
          <p:cNvPr id="12" name="Rounded Rectangle 11"/>
          <p:cNvSpPr/>
          <p:nvPr/>
        </p:nvSpPr>
        <p:spPr>
          <a:xfrm>
            <a:off x="731520" y="3038856"/>
            <a:ext cx="6309360" cy="91744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3038856"/>
            <a:ext cx="73152" cy="91744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3130296"/>
            <a:ext cx="2011680" cy="734568"/>
          </a:xfrm>
          <a:prstGeom prst="rect">
            <a:avLst/>
          </a:prstGeom>
          <a:noFill/>
        </p:spPr>
        <p:txBody>
          <a:bodyPr wrap="square" lIns="0" tIns="0" rIns="0" bIns="0">
            <a:spAutoFit/>
          </a:bodyPr>
          <a:lstStyle/>
          <a:p>
            <a:pPr>
              <a:defRPr sz="2800" b="1">
                <a:solidFill>
                  <a:srgbClr val="0284C7"/>
                </a:solidFill>
                <a:latin typeface="Segoe UI"/>
              </a:defRPr>
            </a:pPr>
            <a:r>
              <a:t>19 Giây</a:t>
            </a:r>
          </a:p>
        </p:txBody>
      </p:sp>
      <p:sp>
        <p:nvSpPr>
          <p:cNvPr id="15" name="TextBox 14"/>
          <p:cNvSpPr txBox="1"/>
          <p:nvPr/>
        </p:nvSpPr>
        <p:spPr>
          <a:xfrm>
            <a:off x="3063240" y="3130296"/>
            <a:ext cx="3794760" cy="734568"/>
          </a:xfrm>
          <a:prstGeom prst="rect">
            <a:avLst/>
          </a:prstGeom>
          <a:noFill/>
        </p:spPr>
        <p:txBody>
          <a:bodyPr wrap="square" lIns="0" tIns="0" rIns="0" bIns="0">
            <a:spAutoFit/>
          </a:bodyPr>
          <a:lstStyle/>
          <a:p>
            <a:pPr>
              <a:spcAft>
                <a:spcPts val="200"/>
              </a:spcAft>
              <a:defRPr sz="1000" b="1">
                <a:solidFill>
                  <a:srgbClr val="0F172A"/>
                </a:solidFill>
                <a:latin typeface="Segoe UI"/>
              </a:defRPr>
            </a:pPr>
            <a:r>
              <a:t>TỐC ĐỘ ĐỐI SOÁT</a:t>
            </a:r>
          </a:p>
          <a:p>
            <a:pPr>
              <a:defRPr sz="919">
                <a:solidFill>
                  <a:srgbClr val="334155"/>
                </a:solidFill>
                <a:latin typeface="Segoe UI"/>
              </a:defRPr>
            </a:pPr>
            <a:r>
              <a:t>Bóc tách và đối chiếu 50.000 giao dịch tức thì trên máy tính văn phòng.</a:t>
            </a:r>
          </a:p>
        </p:txBody>
      </p:sp>
      <p:sp>
        <p:nvSpPr>
          <p:cNvPr id="16" name="Rounded Rectangle 15"/>
          <p:cNvSpPr/>
          <p:nvPr/>
        </p:nvSpPr>
        <p:spPr>
          <a:xfrm>
            <a:off x="731520" y="4066032"/>
            <a:ext cx="6309360" cy="9174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066032"/>
            <a:ext cx="73152" cy="9174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157472"/>
            <a:ext cx="2011680" cy="734568"/>
          </a:xfrm>
          <a:prstGeom prst="rect">
            <a:avLst/>
          </a:prstGeom>
          <a:noFill/>
        </p:spPr>
        <p:txBody>
          <a:bodyPr wrap="square" lIns="0" tIns="0" rIns="0" bIns="0">
            <a:spAutoFit/>
          </a:bodyPr>
          <a:lstStyle/>
          <a:p>
            <a:pPr>
              <a:defRPr sz="2800" b="1">
                <a:solidFill>
                  <a:srgbClr val="10B981"/>
                </a:solidFill>
                <a:latin typeface="Segoe UI"/>
              </a:defRPr>
            </a:pPr>
            <a:r>
              <a:t>0%</a:t>
            </a:r>
          </a:p>
        </p:txBody>
      </p:sp>
      <p:sp>
        <p:nvSpPr>
          <p:cNvPr id="19" name="TextBox 18"/>
          <p:cNvSpPr txBox="1"/>
          <p:nvPr/>
        </p:nvSpPr>
        <p:spPr>
          <a:xfrm>
            <a:off x="3063240" y="4157472"/>
            <a:ext cx="3794760" cy="734568"/>
          </a:xfrm>
          <a:prstGeom prst="rect">
            <a:avLst/>
          </a:prstGeom>
          <a:noFill/>
        </p:spPr>
        <p:txBody>
          <a:bodyPr wrap="square" lIns="0" tIns="0" rIns="0" bIns="0">
            <a:spAutoFit/>
          </a:bodyPr>
          <a:lstStyle/>
          <a:p>
            <a:pPr>
              <a:spcAft>
                <a:spcPts val="200"/>
              </a:spcAft>
              <a:defRPr sz="1000" b="1">
                <a:solidFill>
                  <a:srgbClr val="0F172A"/>
                </a:solidFill>
                <a:latin typeface="Segoe UI"/>
              </a:defRPr>
            </a:pPr>
            <a:r>
              <a:t>ẢO GIÁC SỐ HỌC</a:t>
            </a:r>
          </a:p>
          <a:p>
            <a:pPr>
              <a:defRPr sz="919">
                <a:solidFill>
                  <a:srgbClr val="334155"/>
                </a:solidFill>
                <a:latin typeface="Segoe UI"/>
              </a:defRPr>
            </a:pPr>
            <a:r>
              <a:t>Động cơ toán học xác định bảo đảm chính xác từng đồng trước khi hạch toán.</a:t>
            </a:r>
          </a:p>
        </p:txBody>
      </p:sp>
      <p:sp>
        <p:nvSpPr>
          <p:cNvPr id="20" name="Rounded Rectangle 19"/>
          <p:cNvSpPr/>
          <p:nvPr/>
        </p:nvSpPr>
        <p:spPr>
          <a:xfrm>
            <a:off x="731520" y="5120640"/>
            <a:ext cx="6309360" cy="86868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166360"/>
            <a:ext cx="5980176" cy="777240"/>
          </a:xfrm>
          <a:prstGeom prst="rect">
            <a:avLst/>
          </a:prstGeom>
          <a:noFill/>
        </p:spPr>
        <p:txBody>
          <a:bodyPr wrap="square" lIns="0" tIns="0" rIns="0" bIns="0">
            <a:spAutoFit/>
          </a:bodyPr>
          <a:lstStyle/>
          <a:p>
            <a:pPr>
              <a:defRPr sz="900" b="1">
                <a:solidFill>
                  <a:srgbClr val="1E3A8A"/>
                </a:solidFill>
                <a:latin typeface="Segoe UI"/>
              </a:defRPr>
            </a:pPr>
            <a:r>
              <a:t>ĐỘI NGŨ SÁNG LẬP LIVA BANKING • DEMO DAY 2026</a:t>
            </a:r>
          </a:p>
          <a:p>
            <a:pPr>
              <a:defRPr sz="850">
                <a:solidFill>
                  <a:srgbClr val="334155"/>
                </a:solidFill>
                <a:latin typeface="Segoe UI"/>
              </a:defRPr>
            </a:pPr>
            <a:r>
              <a:t>5 Nhà sáng lập 100% Full-time • Làm chủ công nghệ lõi • Am hiểu nghiệp vụ tài chính bản địa.</a:t>
            </a:r>
          </a:p>
        </p:txBody>
      </p:sp>
      <p:pic>
        <p:nvPicPr>
          <p:cNvPr id="22" name="Picture 21" descr="glass_skyscraper.jpg"/>
          <p:cNvPicPr>
            <a:picLocks noChangeAspect="1"/>
          </p:cNvPicPr>
          <p:nvPr/>
        </p:nvPicPr>
        <p:blipFill>
          <a:blip r:embed="rId2"/>
          <a:stretch>
            <a:fillRect/>
          </a:stretch>
        </p:blipFill>
        <p:spPr>
          <a:xfrm>
            <a:off x="7269480" y="384048"/>
            <a:ext cx="4190695" cy="5623560"/>
          </a:xfrm>
          <a:prstGeom prst="rect">
            <a:avLst/>
          </a:prstGeom>
        </p:spPr>
      </p:pic>
      <p:sp>
        <p:nvSpPr>
          <p:cNvPr id="23" name="Rounded Rectangle 22"/>
          <p:cNvSpPr/>
          <p:nvPr/>
        </p:nvSpPr>
        <p:spPr>
          <a:xfrm>
            <a:off x="7269480" y="5641848"/>
            <a:ext cx="4190695" cy="365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64748B"/>
                </a:solidFill>
                <a:latin typeface="Segoe UI"/>
              </a:defRPr>
            </a:pPr>
            <a:r>
              <a:t>THIẾT LẬP CHUẨN MỰC TỰ ĐỘNG HÓA NGÂN QUỸ TẠI VIỆT NAM</a:t>
            </a:r>
          </a:p>
        </p:txBody>
      </p:sp>
      <p:cxnSp>
        <p:nvCxnSpPr>
          <p:cNvPr id="24" name="Connector 23"/>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6" name="TextBox 25"/>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01 / 27 • INNOSTART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DC2626"/>
                </a:solidFill>
                <a:latin typeface="Segoe UI"/>
              </a:defRPr>
            </a:pPr>
            <a:r>
              <a:t>VÒNG 1 • VẤN ĐỀ THỰC TẾ • NỖI ĐAU THỊ TRƯỜNG</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NỖI ĐAU ĐỐI SOÁT THỦ CÔNG: 2-4H MỖI SÁNG &amp; VÙNG MÙ THANH KHOẢN T+3</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Doanh nghiệp quy mô 100–500 tỷ VNĐ đang lãng phí hàng trăm giờ lao động và đối mặt rủi ro thâm hụt tiền mặt.</a:t>
            </a:r>
          </a:p>
        </p:txBody>
      </p:sp>
      <p:sp>
        <p:nvSpPr>
          <p:cNvPr id="9" name="Rounded Rectangle 8"/>
          <p:cNvSpPr/>
          <p:nvPr/>
        </p:nvSpPr>
        <p:spPr>
          <a:xfrm>
            <a:off x="731520"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2-4H</a:t>
            </a:r>
          </a:p>
        </p:txBody>
      </p:sp>
      <p:sp>
        <p:nvSpPr>
          <p:cNvPr id="11" name="TextBox 10"/>
          <p:cNvSpPr txBox="1"/>
          <p:nvPr/>
        </p:nvSpPr>
        <p:spPr>
          <a:xfrm>
            <a:off x="1463040" y="1673352"/>
            <a:ext cx="2585008" cy="530352"/>
          </a:xfrm>
          <a:prstGeom prst="rect">
            <a:avLst/>
          </a:prstGeom>
          <a:noFill/>
        </p:spPr>
        <p:txBody>
          <a:bodyPr wrap="square" lIns="0" tIns="0" rIns="0" bIns="0">
            <a:spAutoFit/>
          </a:bodyPr>
          <a:lstStyle/>
          <a:p>
            <a:pPr>
              <a:defRPr sz="1150" b="1">
                <a:solidFill>
                  <a:srgbClr val="0F172A"/>
                </a:solidFill>
                <a:latin typeface="Segoe UI"/>
              </a:defRPr>
            </a:pPr>
            <a:r>
              <a:t>Lãng Phí Thời Gian Đối Soát</a:t>
            </a:r>
          </a:p>
        </p:txBody>
      </p:sp>
      <p:sp>
        <p:nvSpPr>
          <p:cNvPr id="12" name="TextBox 11"/>
          <p:cNvSpPr txBox="1"/>
          <p:nvPr/>
        </p:nvSpPr>
        <p:spPr>
          <a:xfrm>
            <a:off x="914400" y="2240280"/>
            <a:ext cx="3087928" cy="621792"/>
          </a:xfrm>
          <a:prstGeom prst="rect">
            <a:avLst/>
          </a:prstGeom>
          <a:noFill/>
        </p:spPr>
        <p:txBody>
          <a:bodyPr wrap="square" lIns="0" tIns="0" rIns="0" bIns="0">
            <a:spAutoFit/>
          </a:bodyPr>
          <a:lstStyle/>
          <a:p>
            <a:pPr>
              <a:defRPr sz="2600" b="1">
                <a:solidFill>
                  <a:srgbClr val="DC2626"/>
                </a:solidFill>
                <a:latin typeface="Segoe UI"/>
              </a:defRPr>
            </a:pPr>
            <a:r>
              <a:t>2 - 4 Giờ</a:t>
            </a:r>
          </a:p>
          <a:p>
            <a:pPr>
              <a:defRPr sz="850" b="1">
                <a:solidFill>
                  <a:srgbClr val="0F172A"/>
                </a:solidFill>
                <a:latin typeface="Segoe UI"/>
              </a:defRPr>
            </a:pPr>
            <a:r>
              <a:t>THỜI GIAN ĐỐI SOÁT MỖI SÁNG</a:t>
            </a:r>
          </a:p>
        </p:txBody>
      </p:sp>
      <p:sp>
        <p:nvSpPr>
          <p:cNvPr id="13" name="TextBox 12"/>
          <p:cNvSpPr txBox="1"/>
          <p:nvPr/>
        </p:nvSpPr>
        <p:spPr>
          <a:xfrm>
            <a:off x="914400"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Mở 15 file sao kê: </a:t>
            </a:r>
            <a:r>
              <a:rPr sz="900">
                <a:solidFill>
                  <a:srgbClr val="334155"/>
                </a:solidFill>
                <a:latin typeface="Segoe UI"/>
              </a:rPr>
              <a:t>Mỗi sáng kế toán phải đăng nhập vào 15 cổng Internet Banking tải file sao kê thủ công.</a:t>
            </a:r>
          </a:p>
          <a:p>
            <a:pPr>
              <a:spcAft>
                <a:spcPts val="400"/>
              </a:spcAft>
            </a:pPr>
            <a:r>
              <a:rPr sz="950" b="1">
                <a:solidFill>
                  <a:srgbClr val="0F172A"/>
                </a:solidFill>
                <a:latin typeface="Segoe UI"/>
              </a:rPr>
              <a:t>• Dò từng dòng giao dịch: </a:t>
            </a:r>
            <a:r>
              <a:rPr sz="900">
                <a:solidFill>
                  <a:srgbClr val="334155"/>
                </a:solidFill>
                <a:latin typeface="Segoe UI"/>
              </a:rPr>
              <a:t>Mất 2 đến 4 giờ làm việc tập trung cao độ để so khớp từng khoản thu chi với sổ cái.</a:t>
            </a:r>
          </a:p>
          <a:p>
            <a:pPr>
              <a:spcAft>
                <a:spcPts val="400"/>
              </a:spcAft>
            </a:pPr>
            <a:r>
              <a:rPr sz="950" b="1">
                <a:solidFill>
                  <a:srgbClr val="0F172A"/>
                </a:solidFill>
                <a:latin typeface="Segoe UI"/>
              </a:rPr>
              <a:t>• Sai lệch tê liệt: </a:t>
            </a:r>
            <a:r>
              <a:rPr sz="900">
                <a:solidFill>
                  <a:srgbClr val="334155"/>
                </a:solidFill>
                <a:latin typeface="Segoe UI"/>
              </a:rPr>
              <a:t>Chỉ cần lệch đúng 1.000 đồng tiền phí, cả phòng kế toán phải thức trắng đêm tìm kiếm sai lệch.</a:t>
            </a:r>
          </a:p>
        </p:txBody>
      </p:sp>
      <p:sp>
        <p:nvSpPr>
          <p:cNvPr id="14" name="Rounded Rectangle 13"/>
          <p:cNvSpPr/>
          <p:nvPr/>
        </p:nvSpPr>
        <p:spPr>
          <a:xfrm>
            <a:off x="4368088"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50968" y="1691640"/>
            <a:ext cx="475488" cy="47548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15+</a:t>
            </a:r>
          </a:p>
        </p:txBody>
      </p:sp>
      <p:sp>
        <p:nvSpPr>
          <p:cNvPr id="16" name="TextBox 15"/>
          <p:cNvSpPr txBox="1"/>
          <p:nvPr/>
        </p:nvSpPr>
        <p:spPr>
          <a:xfrm>
            <a:off x="5099608" y="1673352"/>
            <a:ext cx="2585008" cy="530352"/>
          </a:xfrm>
          <a:prstGeom prst="rect">
            <a:avLst/>
          </a:prstGeom>
          <a:noFill/>
        </p:spPr>
        <p:txBody>
          <a:bodyPr wrap="square" lIns="0" tIns="0" rIns="0" bIns="0">
            <a:spAutoFit/>
          </a:bodyPr>
          <a:lstStyle/>
          <a:p>
            <a:pPr>
              <a:defRPr sz="1150" b="1">
                <a:solidFill>
                  <a:srgbClr val="0F172A"/>
                </a:solidFill>
                <a:latin typeface="Segoe UI"/>
              </a:defRPr>
            </a:pPr>
            <a:r>
              <a:t>Mẫu Sao Kê Vỡ Mụn</a:t>
            </a:r>
          </a:p>
        </p:txBody>
      </p:sp>
      <p:sp>
        <p:nvSpPr>
          <p:cNvPr id="17" name="TextBox 16"/>
          <p:cNvSpPr txBox="1"/>
          <p:nvPr/>
        </p:nvSpPr>
        <p:spPr>
          <a:xfrm>
            <a:off x="4550968" y="2240280"/>
            <a:ext cx="3087928" cy="621792"/>
          </a:xfrm>
          <a:prstGeom prst="rect">
            <a:avLst/>
          </a:prstGeom>
          <a:noFill/>
        </p:spPr>
        <p:txBody>
          <a:bodyPr wrap="square" lIns="0" tIns="0" rIns="0" bIns="0">
            <a:spAutoFit/>
          </a:bodyPr>
          <a:lstStyle/>
          <a:p>
            <a:pPr>
              <a:defRPr sz="2600" b="1">
                <a:solidFill>
                  <a:srgbClr val="D97706"/>
                </a:solidFill>
                <a:latin typeface="Segoe UI"/>
              </a:defRPr>
            </a:pPr>
            <a:r>
              <a:t>15+ Mẫu</a:t>
            </a:r>
          </a:p>
          <a:p>
            <a:pPr>
              <a:defRPr sz="850" b="1">
                <a:solidFill>
                  <a:srgbClr val="0F172A"/>
                </a:solidFill>
                <a:latin typeface="Segoe UI"/>
              </a:defRPr>
            </a:pPr>
            <a:r>
              <a:t>ĐỊNH DẠNG SAO KÊ PHÂN MẢNH</a:t>
            </a:r>
          </a:p>
        </p:txBody>
      </p:sp>
      <p:sp>
        <p:nvSpPr>
          <p:cNvPr id="18" name="TextBox 17"/>
          <p:cNvSpPr txBox="1"/>
          <p:nvPr/>
        </p:nvSpPr>
        <p:spPr>
          <a:xfrm>
            <a:off x="4550968"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Không chuẩn hóa: </a:t>
            </a:r>
            <a:r>
              <a:rPr sz="900">
                <a:solidFill>
                  <a:srgbClr val="334155"/>
                </a:solidFill>
                <a:latin typeface="Segoe UI"/>
              </a:rPr>
              <a:t>Mỗi ngân hàng xuất 1 định dạng Excel khác nhau; tự ý chèn thêm cột hoặc thay đổi vị trí ô.</a:t>
            </a:r>
          </a:p>
          <a:p>
            <a:pPr>
              <a:spcAft>
                <a:spcPts val="400"/>
              </a:spcAft>
            </a:pPr>
            <a:r>
              <a:rPr sz="950" b="1">
                <a:solidFill>
                  <a:srgbClr val="0F172A"/>
                </a:solidFill>
                <a:latin typeface="Segoe UI"/>
              </a:rPr>
              <a:t>• Mù chữ viết tắt: </a:t>
            </a:r>
            <a:r>
              <a:rPr sz="900">
                <a:solidFill>
                  <a:srgbClr val="334155"/>
                </a:solidFill>
                <a:latin typeface="Segoe UI"/>
              </a:rPr>
              <a:t>Diễn giải chuyển khoản viết tắt không dấu như 'CK HD 101 bot tien thue' khiến Excel hoàn toàn bó tay.</a:t>
            </a:r>
          </a:p>
          <a:p>
            <a:pPr>
              <a:spcAft>
                <a:spcPts val="400"/>
              </a:spcAft>
            </a:pPr>
            <a:r>
              <a:rPr sz="950" b="1">
                <a:solidFill>
                  <a:srgbClr val="0F172A"/>
                </a:solidFill>
                <a:latin typeface="Segoe UI"/>
              </a:rPr>
              <a:t>• Gãy nát công thức: </a:t>
            </a:r>
            <a:r>
              <a:rPr sz="900">
                <a:solidFill>
                  <a:srgbClr val="334155"/>
                </a:solidFill>
                <a:latin typeface="Segoe UI"/>
              </a:rPr>
              <a:t>Các hàm VLOOKUP hoặc macro VBA liên tục báo lỗi khi có thay đổi cấu trúc bảng biểu.</a:t>
            </a:r>
          </a:p>
        </p:txBody>
      </p:sp>
      <p:sp>
        <p:nvSpPr>
          <p:cNvPr id="19" name="Rounded Rectangle 18"/>
          <p:cNvSpPr/>
          <p:nvPr/>
        </p:nvSpPr>
        <p:spPr>
          <a:xfrm>
            <a:off x="8004656"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87536"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T+3</a:t>
            </a:r>
          </a:p>
        </p:txBody>
      </p:sp>
      <p:sp>
        <p:nvSpPr>
          <p:cNvPr id="21" name="TextBox 20"/>
          <p:cNvSpPr txBox="1"/>
          <p:nvPr/>
        </p:nvSpPr>
        <p:spPr>
          <a:xfrm>
            <a:off x="8736176" y="1673352"/>
            <a:ext cx="2585008" cy="530352"/>
          </a:xfrm>
          <a:prstGeom prst="rect">
            <a:avLst/>
          </a:prstGeom>
          <a:noFill/>
        </p:spPr>
        <p:txBody>
          <a:bodyPr wrap="square" lIns="0" tIns="0" rIns="0" bIns="0">
            <a:spAutoFit/>
          </a:bodyPr>
          <a:lstStyle/>
          <a:p>
            <a:pPr>
              <a:defRPr sz="1150" b="1">
                <a:solidFill>
                  <a:srgbClr val="0F172A"/>
                </a:solidFill>
                <a:latin typeface="Segoe UI"/>
              </a:defRPr>
            </a:pPr>
            <a:r>
              <a:t>Vùng Mù Thanh Khoản CFO</a:t>
            </a:r>
          </a:p>
        </p:txBody>
      </p:sp>
      <p:sp>
        <p:nvSpPr>
          <p:cNvPr id="22" name="TextBox 21"/>
          <p:cNvSpPr txBox="1"/>
          <p:nvPr/>
        </p:nvSpPr>
        <p:spPr>
          <a:xfrm>
            <a:off x="8187536" y="2240280"/>
            <a:ext cx="3087928" cy="621792"/>
          </a:xfrm>
          <a:prstGeom prst="rect">
            <a:avLst/>
          </a:prstGeom>
          <a:noFill/>
        </p:spPr>
        <p:txBody>
          <a:bodyPr wrap="square" lIns="0" tIns="0" rIns="0" bIns="0">
            <a:spAutoFit/>
          </a:bodyPr>
          <a:lstStyle/>
          <a:p>
            <a:pPr>
              <a:defRPr sz="2600" b="1">
                <a:solidFill>
                  <a:srgbClr val="1E3A8A"/>
                </a:solidFill>
                <a:latin typeface="Segoe UI"/>
              </a:defRPr>
            </a:pPr>
            <a:r>
              <a:t>T+1 ➔ T+3</a:t>
            </a:r>
          </a:p>
          <a:p>
            <a:pPr>
              <a:defRPr sz="850" b="1">
                <a:solidFill>
                  <a:srgbClr val="0F172A"/>
                </a:solidFill>
                <a:latin typeface="Segoe UI"/>
              </a:defRPr>
            </a:pPr>
            <a:r>
              <a:t>ĐỘ TRỄ NẮM BẮT DÒNG TIỀN</a:t>
            </a:r>
          </a:p>
        </p:txBody>
      </p:sp>
      <p:sp>
        <p:nvSpPr>
          <p:cNvPr id="23" name="TextBox 22"/>
          <p:cNvSpPr txBox="1"/>
          <p:nvPr/>
        </p:nvSpPr>
        <p:spPr>
          <a:xfrm>
            <a:off x="8187536"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Mất kiểm soát số dư: </a:t>
            </a:r>
            <a:r>
              <a:rPr sz="900">
                <a:solidFill>
                  <a:srgbClr val="334155"/>
                </a:solidFill>
                <a:latin typeface="Segoe UI"/>
              </a:rPr>
              <a:t>CFO không nắm được số dư khả dụng thực tế giữa các ngân hàng trong 24 đến 72 giờ.</a:t>
            </a:r>
          </a:p>
          <a:p>
            <a:pPr>
              <a:spcAft>
                <a:spcPts val="400"/>
              </a:spcAft>
            </a:pPr>
            <a:r>
              <a:rPr sz="950" b="1">
                <a:solidFill>
                  <a:srgbClr val="0F172A"/>
                </a:solidFill>
                <a:latin typeface="Segoe UI"/>
              </a:rPr>
              <a:t>• Bị động thanh toán: </a:t>
            </a:r>
            <a:r>
              <a:rPr sz="900">
                <a:solidFill>
                  <a:srgbClr val="334155"/>
                </a:solidFill>
                <a:latin typeface="Segoe UI"/>
              </a:rPr>
              <a:t>Rủi ro phạt chậm trả hoặc hụt tiền mặt đột xuất do lệnh thanh toán nhà cung cấp đến bất ngờ.</a:t>
            </a:r>
          </a:p>
          <a:p>
            <a:pPr>
              <a:spcAft>
                <a:spcPts val="400"/>
              </a:spcAft>
            </a:pPr>
            <a:r>
              <a:rPr sz="950" b="1">
                <a:solidFill>
                  <a:srgbClr val="0F172A"/>
                </a:solidFill>
                <a:latin typeface="Segoe UI"/>
              </a:rPr>
              <a:t>• Lãng phí lãi suất: </a:t>
            </a:r>
            <a:r>
              <a:rPr sz="900">
                <a:solidFill>
                  <a:srgbClr val="334155"/>
                </a:solidFill>
                <a:latin typeface="Segoe UI"/>
              </a:rPr>
              <a:t>Dư tiền ở ngân hàng lãi suất thấp trong khi vẫn phải đi vay thấu chi lãi cao ở ngân hàng khác.</a:t>
            </a:r>
          </a:p>
        </p:txBody>
      </p:sp>
      <p:cxnSp>
        <p:nvCxnSpPr>
          <p:cNvPr id="24" name="Connector 23"/>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6" name="TextBox 25"/>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02 / 27 • INNOSTART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DC2626"/>
                </a:solidFill>
                <a:latin typeface="Segoe UI"/>
              </a:defRPr>
            </a:pPr>
            <a:r>
              <a:t>VÒNG 1 • BỐI CẢNH PHÁP LÝ • NGHỊ ĐỊNH 13 &amp; THÔNG TƯ 09</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RÀO CẢN PHÁP LÝ KHẮT KHE: NGHỊ ĐỊNH 13 &amp; ÁN PHẠT 5% DOANH THU</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Các giải pháp Cloud AI truyền thống hoàn toàn bị cấm tiếp cận dữ liệu tài chính ngân hàng doanh nghiệp.</a:t>
            </a:r>
          </a:p>
        </p:txBody>
      </p:sp>
      <p:sp>
        <p:nvSpPr>
          <p:cNvPr id="9" name="Rounded Rectangle 8"/>
          <p:cNvSpPr/>
          <p:nvPr/>
        </p:nvSpPr>
        <p:spPr>
          <a:xfrm>
            <a:off x="731520" y="1508760"/>
            <a:ext cx="3840480" cy="2185416"/>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508760"/>
            <a:ext cx="73152" cy="2185416"/>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1600200"/>
            <a:ext cx="2011680" cy="2002536"/>
          </a:xfrm>
          <a:prstGeom prst="rect">
            <a:avLst/>
          </a:prstGeom>
          <a:noFill/>
        </p:spPr>
        <p:txBody>
          <a:bodyPr wrap="square" lIns="0" tIns="0" rIns="0" bIns="0">
            <a:spAutoFit/>
          </a:bodyPr>
          <a:lstStyle/>
          <a:p>
            <a:pPr>
              <a:defRPr sz="2800" b="1">
                <a:solidFill>
                  <a:srgbClr val="DC2626"/>
                </a:solidFill>
                <a:latin typeface="Segoe UI"/>
              </a:defRPr>
            </a:pPr>
            <a:r>
              <a:t>5%</a:t>
            </a:r>
          </a:p>
        </p:txBody>
      </p:sp>
      <p:sp>
        <p:nvSpPr>
          <p:cNvPr id="12" name="TextBox 11"/>
          <p:cNvSpPr txBox="1"/>
          <p:nvPr/>
        </p:nvSpPr>
        <p:spPr>
          <a:xfrm>
            <a:off x="3063240" y="1600200"/>
            <a:ext cx="1325880" cy="2002536"/>
          </a:xfrm>
          <a:prstGeom prst="rect">
            <a:avLst/>
          </a:prstGeom>
          <a:noFill/>
        </p:spPr>
        <p:txBody>
          <a:bodyPr wrap="square" lIns="0" tIns="0" rIns="0" bIns="0">
            <a:spAutoFit/>
          </a:bodyPr>
          <a:lstStyle/>
          <a:p>
            <a:pPr>
              <a:spcAft>
                <a:spcPts val="200"/>
              </a:spcAft>
              <a:defRPr sz="1000" b="1">
                <a:solidFill>
                  <a:srgbClr val="0F172A"/>
                </a:solidFill>
                <a:latin typeface="Segoe UI"/>
              </a:defRPr>
            </a:pPr>
            <a:r>
              <a:t>MỨC PHẠT NGHỊ ĐỊNH 13</a:t>
            </a:r>
          </a:p>
          <a:p>
            <a:pPr>
              <a:defRPr sz="919">
                <a:solidFill>
                  <a:srgbClr val="334155"/>
                </a:solidFill>
                <a:latin typeface="Segoe UI"/>
              </a:defRPr>
            </a:pPr>
            <a:r>
              <a:t>Mức phạt tối đa trên tổng doanh thu nếu để lộ lọt bí mật dữ liệu tài chính cá nhân.</a:t>
            </a:r>
          </a:p>
        </p:txBody>
      </p:sp>
      <p:sp>
        <p:nvSpPr>
          <p:cNvPr id="13" name="Rounded Rectangle 12"/>
          <p:cNvSpPr/>
          <p:nvPr/>
        </p:nvSpPr>
        <p:spPr>
          <a:xfrm>
            <a:off x="731520" y="3803904"/>
            <a:ext cx="3840480" cy="2185416"/>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803904"/>
            <a:ext cx="73152" cy="2185416"/>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895344"/>
            <a:ext cx="2011680" cy="2002536"/>
          </a:xfrm>
          <a:prstGeom prst="rect">
            <a:avLst/>
          </a:prstGeom>
          <a:noFill/>
        </p:spPr>
        <p:txBody>
          <a:bodyPr wrap="square" lIns="0" tIns="0" rIns="0" bIns="0">
            <a:spAutoFit/>
          </a:bodyPr>
          <a:lstStyle/>
          <a:p>
            <a:pPr>
              <a:defRPr sz="2800" b="1">
                <a:solidFill>
                  <a:srgbClr val="1E3A8A"/>
                </a:solidFill>
                <a:latin typeface="Segoe UI"/>
              </a:defRPr>
            </a:pPr>
            <a:r>
              <a:t>100%</a:t>
            </a:r>
          </a:p>
        </p:txBody>
      </p:sp>
      <p:sp>
        <p:nvSpPr>
          <p:cNvPr id="16" name="TextBox 15"/>
          <p:cNvSpPr txBox="1"/>
          <p:nvPr/>
        </p:nvSpPr>
        <p:spPr>
          <a:xfrm>
            <a:off x="3063240" y="3895344"/>
            <a:ext cx="1325880" cy="2002536"/>
          </a:xfrm>
          <a:prstGeom prst="rect">
            <a:avLst/>
          </a:prstGeom>
          <a:noFill/>
        </p:spPr>
        <p:txBody>
          <a:bodyPr wrap="square" lIns="0" tIns="0" rIns="0" bIns="0">
            <a:spAutoFit/>
          </a:bodyPr>
          <a:lstStyle/>
          <a:p>
            <a:pPr>
              <a:spcAft>
                <a:spcPts val="200"/>
              </a:spcAft>
              <a:defRPr sz="1000" b="1">
                <a:solidFill>
                  <a:srgbClr val="0F172A"/>
                </a:solidFill>
                <a:latin typeface="Segoe UI"/>
              </a:defRPr>
            </a:pPr>
            <a:r>
              <a:t>CẤM CLOUD CÔNG CỘNG</a:t>
            </a:r>
          </a:p>
          <a:p>
            <a:pPr>
              <a:defRPr sz="919">
                <a:solidFill>
                  <a:srgbClr val="334155"/>
                </a:solidFill>
                <a:latin typeface="Segoe UI"/>
              </a:defRPr>
            </a:pPr>
            <a:r>
              <a:t>Thông tư 09/2020/TT-NHNN nghiêm cấm gửi dữ liệu sao kê tài chính lên máy chủ đám mây công cộng.</a:t>
            </a:r>
          </a:p>
        </p:txBody>
      </p:sp>
      <p:sp>
        <p:nvSpPr>
          <p:cNvPr id="17" name="Rounded Rectangle 16"/>
          <p:cNvSpPr/>
          <p:nvPr/>
        </p:nvSpPr>
        <p:spPr>
          <a:xfrm>
            <a:off x="4754880" y="1508760"/>
            <a:ext cx="6705295" cy="21717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937760" y="1691640"/>
            <a:ext cx="475488" cy="47548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NĐ 13</a:t>
            </a:r>
          </a:p>
        </p:txBody>
      </p:sp>
      <p:sp>
        <p:nvSpPr>
          <p:cNvPr id="19" name="TextBox 18"/>
          <p:cNvSpPr txBox="1"/>
          <p:nvPr/>
        </p:nvSpPr>
        <p:spPr>
          <a:xfrm>
            <a:off x="5486400" y="1673352"/>
            <a:ext cx="5836615" cy="530352"/>
          </a:xfrm>
          <a:prstGeom prst="rect">
            <a:avLst/>
          </a:prstGeom>
          <a:noFill/>
        </p:spPr>
        <p:txBody>
          <a:bodyPr wrap="square" lIns="0" tIns="0" rIns="0" bIns="0">
            <a:spAutoFit/>
          </a:bodyPr>
          <a:lstStyle/>
          <a:p>
            <a:pPr>
              <a:defRPr sz="1150" b="1">
                <a:solidFill>
                  <a:srgbClr val="0F172A"/>
                </a:solidFill>
                <a:latin typeface="Segoe UI"/>
              </a:defRPr>
            </a:pPr>
            <a:r>
              <a:t>Nghị Định 13/2023/NĐ-CP Về Bảo Vệ Dữ Liệu Cá Nhân</a:t>
            </a:r>
          </a:p>
        </p:txBody>
      </p:sp>
      <p:sp>
        <p:nvSpPr>
          <p:cNvPr id="20" name="TextBox 19"/>
          <p:cNvSpPr txBox="1"/>
          <p:nvPr/>
        </p:nvSpPr>
        <p:spPr>
          <a:xfrm>
            <a:off x="4937760" y="2240280"/>
            <a:ext cx="6339535" cy="1303020"/>
          </a:xfrm>
          <a:prstGeom prst="rect">
            <a:avLst/>
          </a:prstGeom>
          <a:noFill/>
        </p:spPr>
        <p:txBody>
          <a:bodyPr wrap="square" lIns="0" tIns="0" rIns="0" bIns="0">
            <a:spAutoFit/>
          </a:bodyPr>
          <a:lstStyle/>
          <a:p>
            <a:pPr>
              <a:spcAft>
                <a:spcPts val="400"/>
              </a:spcAft>
            </a:pPr>
            <a:r>
              <a:rPr sz="950" b="1">
                <a:solidFill>
                  <a:srgbClr val="0F172A"/>
                </a:solidFill>
                <a:latin typeface="Segoe UI"/>
              </a:rPr>
              <a:t>• Xử phạt nghiêm khắc: </a:t>
            </a:r>
            <a:r>
              <a:rPr sz="900">
                <a:solidFill>
                  <a:srgbClr val="334155"/>
                </a:solidFill>
                <a:latin typeface="Segoe UI"/>
              </a:rPr>
              <a:t>Mức xử phạt lên đến 5% tổng doanh thu năm trước liền kề nếu phát hiện chuyển dữ liệu ra nước ngoài trái phép.</a:t>
            </a:r>
          </a:p>
          <a:p>
            <a:pPr>
              <a:spcAft>
                <a:spcPts val="400"/>
              </a:spcAft>
            </a:pPr>
            <a:r>
              <a:rPr sz="950" b="1">
                <a:solidFill>
                  <a:srgbClr val="0F172A"/>
                </a:solidFill>
                <a:latin typeface="Segoe UI"/>
              </a:rPr>
              <a:t>• Yêu cầu DPIA: </a:t>
            </a:r>
            <a:r>
              <a:rPr sz="900">
                <a:solidFill>
                  <a:srgbClr val="334155"/>
                </a:solidFill>
                <a:latin typeface="Segoe UI"/>
              </a:rPr>
              <a:t>Bắt buộc phải có hồ sơ Đánh giá tác động xử lý dữ liệu (DPIA) gửi Bộ Công an trước khi xử lý dữ liệu nhạy cảm.</a:t>
            </a:r>
          </a:p>
          <a:p>
            <a:pPr>
              <a:spcAft>
                <a:spcPts val="400"/>
              </a:spcAft>
            </a:pPr>
            <a:r>
              <a:rPr sz="950" b="1">
                <a:solidFill>
                  <a:srgbClr val="0F172A"/>
                </a:solidFill>
                <a:latin typeface="Segoe UI"/>
              </a:rPr>
              <a:t>• Lưu trữ tại chỗ: </a:t>
            </a:r>
            <a:r>
              <a:rPr sz="900">
                <a:solidFill>
                  <a:srgbClr val="334155"/>
                </a:solidFill>
                <a:latin typeface="Segoe UI"/>
              </a:rPr>
              <a:t>Dữ liệu giao dịch tài chính doanh nghiệp bắt buộc phải được kiểm soát toàn vẹn trên hạ tầng máy tính nội bộ.</a:t>
            </a:r>
          </a:p>
        </p:txBody>
      </p:sp>
      <p:sp>
        <p:nvSpPr>
          <p:cNvPr id="21" name="Rounded Rectangle 20"/>
          <p:cNvSpPr/>
          <p:nvPr/>
        </p:nvSpPr>
        <p:spPr>
          <a:xfrm>
            <a:off x="4754880" y="3817620"/>
            <a:ext cx="6705295" cy="21717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37760" y="400050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TT 09</a:t>
            </a:r>
          </a:p>
        </p:txBody>
      </p:sp>
      <p:sp>
        <p:nvSpPr>
          <p:cNvPr id="23" name="TextBox 22"/>
          <p:cNvSpPr txBox="1"/>
          <p:nvPr/>
        </p:nvSpPr>
        <p:spPr>
          <a:xfrm>
            <a:off x="5486400" y="3982212"/>
            <a:ext cx="5836615" cy="530352"/>
          </a:xfrm>
          <a:prstGeom prst="rect">
            <a:avLst/>
          </a:prstGeom>
          <a:noFill/>
        </p:spPr>
        <p:txBody>
          <a:bodyPr wrap="square" lIns="0" tIns="0" rIns="0" bIns="0">
            <a:spAutoFit/>
          </a:bodyPr>
          <a:lstStyle/>
          <a:p>
            <a:pPr>
              <a:defRPr sz="1150" b="1">
                <a:solidFill>
                  <a:srgbClr val="0F172A"/>
                </a:solidFill>
                <a:latin typeface="Segoe UI"/>
              </a:defRPr>
            </a:pPr>
            <a:r>
              <a:t>Thông Tư 09/2020/TT-NHNN Về An Toàn Hệ Thống Ngân Hàng</a:t>
            </a:r>
          </a:p>
        </p:txBody>
      </p:sp>
      <p:sp>
        <p:nvSpPr>
          <p:cNvPr id="24" name="TextBox 23"/>
          <p:cNvSpPr txBox="1"/>
          <p:nvPr/>
        </p:nvSpPr>
        <p:spPr>
          <a:xfrm>
            <a:off x="4937760" y="4549140"/>
            <a:ext cx="6339535" cy="1303020"/>
          </a:xfrm>
          <a:prstGeom prst="rect">
            <a:avLst/>
          </a:prstGeom>
          <a:noFill/>
        </p:spPr>
        <p:txBody>
          <a:bodyPr wrap="square" lIns="0" tIns="0" rIns="0" bIns="0">
            <a:spAutoFit/>
          </a:bodyPr>
          <a:lstStyle/>
          <a:p>
            <a:pPr>
              <a:spcAft>
                <a:spcPts val="400"/>
              </a:spcAft>
            </a:pPr>
            <a:r>
              <a:rPr sz="950" b="1">
                <a:solidFill>
                  <a:srgbClr val="0F172A"/>
                </a:solidFill>
                <a:latin typeface="Segoe UI"/>
              </a:rPr>
              <a:t>• Cấp độ an toàn cao: </a:t>
            </a:r>
            <a:r>
              <a:rPr sz="900">
                <a:solidFill>
                  <a:srgbClr val="334155"/>
                </a:solidFill>
                <a:latin typeface="Segoe UI"/>
              </a:rPr>
              <a:t>Hệ thống thông tin quản trị ngân quỹ được xếp vào cấp độ bảo mật nghiêm ngặt nhất của ngành ngân hàng.</a:t>
            </a:r>
          </a:p>
          <a:p>
            <a:pPr>
              <a:spcAft>
                <a:spcPts val="400"/>
              </a:spcAft>
            </a:pPr>
            <a:r>
              <a:rPr sz="950" b="1">
                <a:solidFill>
                  <a:srgbClr val="0F172A"/>
                </a:solidFill>
                <a:latin typeface="Segoe UI"/>
              </a:rPr>
              <a:t>• Cấm dịch vụ công cộng: </a:t>
            </a:r>
            <a:r>
              <a:rPr sz="900">
                <a:solidFill>
                  <a:srgbClr val="334155"/>
                </a:solidFill>
                <a:latin typeface="Segoe UI"/>
              </a:rPr>
              <a:t>Nghiêm cấm chia sẻ dữ liệu giao dịch tài khoản khách hàng lên các dịch vụ đám mây công cộng bên ngoài.</a:t>
            </a:r>
          </a:p>
          <a:p>
            <a:pPr>
              <a:spcAft>
                <a:spcPts val="400"/>
              </a:spcAft>
            </a:pPr>
            <a:r>
              <a:rPr sz="950" b="1">
                <a:solidFill>
                  <a:srgbClr val="0F172A"/>
                </a:solidFill>
                <a:latin typeface="Segoe UI"/>
              </a:rPr>
              <a:t>• Nhật ký kiểm toán: </a:t>
            </a:r>
            <a:r>
              <a:rPr sz="900">
                <a:solidFill>
                  <a:srgbClr val="334155"/>
                </a:solidFill>
                <a:latin typeface="Segoe UI"/>
              </a:rPr>
              <a:t>Yêu cầu lưu trữ nhật ký truy cập và đối soát bất biến phục vụ công tác thanh tra độc lập định kỳ.</a:t>
            </a:r>
          </a:p>
        </p:txBody>
      </p:sp>
      <p:cxnSp>
        <p:nvCxnSpPr>
          <p:cNvPr id="25" name="Connector 24"/>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7" name="TextBox 26"/>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03 / 27 • INNOSTART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1 • KHÁCH HÀNG MỤC TIÊU • IDEAL CUSTOMER PROFILE</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CHÂN DUNG KHÁCH HÀNG MỤC TIÊU: DOANH NGHIỆP 100-500 TỶ VNĐ &amp; 5+ NGÂN HÀNG</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Tập trung vào phân khúc doanh nghiệp vừa và lớn có khối lượng giao dịch phức tạp nhưng thiếu công cụ tự động.</a:t>
            </a:r>
          </a:p>
        </p:txBody>
      </p:sp>
      <p:sp>
        <p:nvSpPr>
          <p:cNvPr id="9" name="Rounded Rectangle 8"/>
          <p:cNvSpPr/>
          <p:nvPr/>
        </p:nvSpPr>
        <p:spPr>
          <a:xfrm>
            <a:off x="731520"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QUY MÔ</a:t>
            </a:r>
          </a:p>
        </p:txBody>
      </p:sp>
      <p:sp>
        <p:nvSpPr>
          <p:cNvPr id="11" name="TextBox 10"/>
          <p:cNvSpPr txBox="1"/>
          <p:nvPr/>
        </p:nvSpPr>
        <p:spPr>
          <a:xfrm>
            <a:off x="1463040" y="1673352"/>
            <a:ext cx="2585008" cy="530352"/>
          </a:xfrm>
          <a:prstGeom prst="rect">
            <a:avLst/>
          </a:prstGeom>
          <a:noFill/>
        </p:spPr>
        <p:txBody>
          <a:bodyPr wrap="square" lIns="0" tIns="0" rIns="0" bIns="0">
            <a:spAutoFit/>
          </a:bodyPr>
          <a:lstStyle/>
          <a:p>
            <a:pPr>
              <a:defRPr sz="1150" b="1">
                <a:solidFill>
                  <a:srgbClr val="0F172A"/>
                </a:solidFill>
                <a:latin typeface="Segoe UI"/>
              </a:defRPr>
            </a:pPr>
            <a:r>
              <a:t>Quy Mô Doanh Nghiệp Mục Tiêu</a:t>
            </a:r>
          </a:p>
        </p:txBody>
      </p:sp>
      <p:sp>
        <p:nvSpPr>
          <p:cNvPr id="12" name="TextBox 11"/>
          <p:cNvSpPr txBox="1"/>
          <p:nvPr/>
        </p:nvSpPr>
        <p:spPr>
          <a:xfrm>
            <a:off x="914400" y="2240280"/>
            <a:ext cx="3087928" cy="621792"/>
          </a:xfrm>
          <a:prstGeom prst="rect">
            <a:avLst/>
          </a:prstGeom>
          <a:noFill/>
        </p:spPr>
        <p:txBody>
          <a:bodyPr wrap="square" lIns="0" tIns="0" rIns="0" bIns="0">
            <a:spAutoFit/>
          </a:bodyPr>
          <a:lstStyle/>
          <a:p>
            <a:pPr>
              <a:defRPr sz="2600" b="1">
                <a:solidFill>
                  <a:srgbClr val="1E3A8A"/>
                </a:solidFill>
                <a:latin typeface="Segoe UI"/>
              </a:defRPr>
            </a:pPr>
            <a:r>
              <a:t>100 - 500 Tỷ</a:t>
            </a:r>
          </a:p>
          <a:p>
            <a:pPr>
              <a:defRPr sz="850" b="1">
                <a:solidFill>
                  <a:srgbClr val="0F172A"/>
                </a:solidFill>
                <a:latin typeface="Segoe UI"/>
              </a:defRPr>
            </a:pPr>
            <a:r>
              <a:t>DOANH THU HÀNG NĂM</a:t>
            </a:r>
          </a:p>
        </p:txBody>
      </p:sp>
      <p:sp>
        <p:nvSpPr>
          <p:cNvPr id="13" name="TextBox 12"/>
          <p:cNvSpPr txBox="1"/>
          <p:nvPr/>
        </p:nvSpPr>
        <p:spPr>
          <a:xfrm>
            <a:off x="914400"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Doanh thu năm: </a:t>
            </a:r>
            <a:r>
              <a:rPr sz="900">
                <a:solidFill>
                  <a:srgbClr val="334155"/>
                </a:solidFill>
                <a:latin typeface="Segoe UI"/>
              </a:rPr>
              <a:t>Từ 100 đến 500 tỷ VNĐ; thực hiện trên 2.000 đến 20.000 giao dịch ngân hàng mỗi tháng.</a:t>
            </a:r>
          </a:p>
          <a:p>
            <a:pPr>
              <a:spcAft>
                <a:spcPts val="400"/>
              </a:spcAft>
            </a:pPr>
            <a:r>
              <a:rPr sz="950" b="1">
                <a:solidFill>
                  <a:srgbClr val="0F172A"/>
                </a:solidFill>
                <a:latin typeface="Segoe UI"/>
              </a:rPr>
              <a:t>• Mạng lưới đa tài khoản: </a:t>
            </a:r>
            <a:r>
              <a:rPr sz="900">
                <a:solidFill>
                  <a:srgbClr val="334155"/>
                </a:solidFill>
                <a:latin typeface="Segoe UI"/>
              </a:rPr>
              <a:t>Mở từ 5 đến 15 tài khoản tại các ngân hàng thương mại để tối ưu hạn mức tín dụng.</a:t>
            </a:r>
          </a:p>
          <a:p>
            <a:pPr>
              <a:spcAft>
                <a:spcPts val="400"/>
              </a:spcAft>
            </a:pPr>
            <a:r>
              <a:rPr sz="950" b="1">
                <a:solidFill>
                  <a:srgbClr val="0F172A"/>
                </a:solidFill>
                <a:latin typeface="Segoe UI"/>
              </a:rPr>
              <a:t>• Đội ngũ kế toán: </a:t>
            </a:r>
            <a:r>
              <a:rPr sz="900">
                <a:solidFill>
                  <a:srgbClr val="334155"/>
                </a:solidFill>
                <a:latin typeface="Segoe UI"/>
              </a:rPr>
              <a:t>Phòng kế toán từ 3 đến 8 nhân sự, thường xuyên quá tải vào các kỳ đối soát cao điểm.</a:t>
            </a:r>
          </a:p>
        </p:txBody>
      </p:sp>
      <p:sp>
        <p:nvSpPr>
          <p:cNvPr id="14" name="Rounded Rectangle 13"/>
          <p:cNvSpPr/>
          <p:nvPr/>
        </p:nvSpPr>
        <p:spPr>
          <a:xfrm>
            <a:off x="4368088"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50968" y="1691640"/>
            <a:ext cx="475488" cy="47548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NGÀNH</a:t>
            </a:r>
          </a:p>
        </p:txBody>
      </p:sp>
      <p:sp>
        <p:nvSpPr>
          <p:cNvPr id="16" name="TextBox 15"/>
          <p:cNvSpPr txBox="1"/>
          <p:nvPr/>
        </p:nvSpPr>
        <p:spPr>
          <a:xfrm>
            <a:off x="5099608" y="1673352"/>
            <a:ext cx="2585008" cy="530352"/>
          </a:xfrm>
          <a:prstGeom prst="rect">
            <a:avLst/>
          </a:prstGeom>
          <a:noFill/>
        </p:spPr>
        <p:txBody>
          <a:bodyPr wrap="square" lIns="0" tIns="0" rIns="0" bIns="0">
            <a:spAutoFit/>
          </a:bodyPr>
          <a:lstStyle/>
          <a:p>
            <a:pPr>
              <a:defRPr sz="1150" b="1">
                <a:solidFill>
                  <a:srgbClr val="0F172A"/>
                </a:solidFill>
                <a:latin typeface="Segoe UI"/>
              </a:defRPr>
            </a:pPr>
            <a:r>
              <a:t>Ngành Trọng Tâm Ưu Tiên</a:t>
            </a:r>
          </a:p>
        </p:txBody>
      </p:sp>
      <p:sp>
        <p:nvSpPr>
          <p:cNvPr id="17" name="TextBox 16"/>
          <p:cNvSpPr txBox="1"/>
          <p:nvPr/>
        </p:nvSpPr>
        <p:spPr>
          <a:xfrm>
            <a:off x="4550968" y="2240280"/>
            <a:ext cx="3087928" cy="621792"/>
          </a:xfrm>
          <a:prstGeom prst="rect">
            <a:avLst/>
          </a:prstGeom>
          <a:noFill/>
        </p:spPr>
        <p:txBody>
          <a:bodyPr wrap="square" lIns="0" tIns="0" rIns="0" bIns="0">
            <a:spAutoFit/>
          </a:bodyPr>
          <a:lstStyle/>
          <a:p>
            <a:pPr>
              <a:defRPr sz="2600" b="1">
                <a:solidFill>
                  <a:srgbClr val="0284C7"/>
                </a:solidFill>
                <a:latin typeface="Segoe UI"/>
              </a:defRPr>
            </a:pPr>
            <a:r>
              <a:t>3 Ngành</a:t>
            </a:r>
          </a:p>
          <a:p>
            <a:pPr>
              <a:defRPr sz="850" b="1">
                <a:solidFill>
                  <a:srgbClr val="0F172A"/>
                </a:solidFill>
                <a:latin typeface="Segoe UI"/>
              </a:defRPr>
            </a:pPr>
            <a:r>
              <a:t>TRỌNG TÂM CHUYỂN ĐỔI NHANH</a:t>
            </a:r>
          </a:p>
        </p:txBody>
      </p:sp>
      <p:sp>
        <p:nvSpPr>
          <p:cNvPr id="18" name="TextBox 17"/>
          <p:cNvSpPr txBox="1"/>
          <p:nvPr/>
        </p:nvSpPr>
        <p:spPr>
          <a:xfrm>
            <a:off x="4550968"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Bán lẻ &amp; Phân phối: </a:t>
            </a:r>
            <a:r>
              <a:rPr sz="900">
                <a:solidFill>
                  <a:srgbClr val="334155"/>
                </a:solidFill>
                <a:latin typeface="Segoe UI"/>
              </a:rPr>
              <a:t>Chuỗi bán lẻ, siêu thị mini với hàng ngàn giao dịch thanh toán QR code và quẹt thẻ mỗi ngày.</a:t>
            </a:r>
          </a:p>
          <a:p>
            <a:pPr>
              <a:spcAft>
                <a:spcPts val="400"/>
              </a:spcAft>
            </a:pPr>
            <a:r>
              <a:rPr sz="950" b="1">
                <a:solidFill>
                  <a:srgbClr val="0F172A"/>
                </a:solidFill>
                <a:latin typeface="Segoe UI"/>
              </a:rPr>
              <a:t>• Sản xuất &amp; Vận tải: </a:t>
            </a:r>
            <a:r>
              <a:rPr sz="900">
                <a:solidFill>
                  <a:srgbClr val="334155"/>
                </a:solidFill>
                <a:latin typeface="Segoe UI"/>
              </a:rPr>
              <a:t>Doanh nghiệp logistics, sản xuất linh kiện có luồng tiền ra vào liên tục với hàng trăm nhà cung cấp.</a:t>
            </a:r>
          </a:p>
          <a:p>
            <a:pPr>
              <a:spcAft>
                <a:spcPts val="400"/>
              </a:spcAft>
            </a:pPr>
            <a:r>
              <a:rPr sz="950" b="1">
                <a:solidFill>
                  <a:srgbClr val="0F172A"/>
                </a:solidFill>
                <a:latin typeface="Segoe UI"/>
              </a:rPr>
              <a:t>• Thương mại điện tử: </a:t>
            </a:r>
            <a:r>
              <a:rPr sz="900">
                <a:solidFill>
                  <a:srgbClr val="334155"/>
                </a:solidFill>
                <a:latin typeface="Segoe UI"/>
              </a:rPr>
              <a:t>Các sàn và chuỗi kinh doanh online đối mặt bài toán đối soát COD phức tạp từ nhiều đối tác.</a:t>
            </a:r>
          </a:p>
        </p:txBody>
      </p:sp>
      <p:sp>
        <p:nvSpPr>
          <p:cNvPr id="19" name="Rounded Rectangle 18"/>
          <p:cNvSpPr/>
          <p:nvPr/>
        </p:nvSpPr>
        <p:spPr>
          <a:xfrm>
            <a:off x="8004656"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87536" y="1691640"/>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SẴN SÀNG</a:t>
            </a:r>
          </a:p>
        </p:txBody>
      </p:sp>
      <p:sp>
        <p:nvSpPr>
          <p:cNvPr id="21" name="TextBox 20"/>
          <p:cNvSpPr txBox="1"/>
          <p:nvPr/>
        </p:nvSpPr>
        <p:spPr>
          <a:xfrm>
            <a:off x="8736176" y="1673352"/>
            <a:ext cx="2585008" cy="530352"/>
          </a:xfrm>
          <a:prstGeom prst="rect">
            <a:avLst/>
          </a:prstGeom>
          <a:noFill/>
        </p:spPr>
        <p:txBody>
          <a:bodyPr wrap="square" lIns="0" tIns="0" rIns="0" bIns="0">
            <a:spAutoFit/>
          </a:bodyPr>
          <a:lstStyle/>
          <a:p>
            <a:pPr>
              <a:defRPr sz="1150" b="1">
                <a:solidFill>
                  <a:srgbClr val="0F172A"/>
                </a:solidFill>
                <a:latin typeface="Segoe UI"/>
              </a:defRPr>
            </a:pPr>
            <a:r>
              <a:t>Mức Độ Sẵn Sàng Chi Trả</a:t>
            </a:r>
          </a:p>
        </p:txBody>
      </p:sp>
      <p:sp>
        <p:nvSpPr>
          <p:cNvPr id="22" name="TextBox 21"/>
          <p:cNvSpPr txBox="1"/>
          <p:nvPr/>
        </p:nvSpPr>
        <p:spPr>
          <a:xfrm>
            <a:off x="8187536" y="2240280"/>
            <a:ext cx="3087928" cy="621792"/>
          </a:xfrm>
          <a:prstGeom prst="rect">
            <a:avLst/>
          </a:prstGeom>
          <a:noFill/>
        </p:spPr>
        <p:txBody>
          <a:bodyPr wrap="square" lIns="0" tIns="0" rIns="0" bIns="0">
            <a:spAutoFit/>
          </a:bodyPr>
          <a:lstStyle/>
          <a:p>
            <a:pPr>
              <a:defRPr sz="2600" b="1">
                <a:solidFill>
                  <a:srgbClr val="10B981"/>
                </a:solidFill>
                <a:latin typeface="Segoe UI"/>
              </a:defRPr>
            </a:pPr>
            <a:r>
              <a:t>$3k - $10k</a:t>
            </a:r>
          </a:p>
          <a:p>
            <a:pPr>
              <a:defRPr sz="850" b="1">
                <a:solidFill>
                  <a:srgbClr val="0F172A"/>
                </a:solidFill>
                <a:latin typeface="Segoe UI"/>
              </a:defRPr>
            </a:pPr>
            <a:r>
              <a:t>NGÂN SÁCH PHẦN MỀM / NĂM</a:t>
            </a:r>
          </a:p>
        </p:txBody>
      </p:sp>
      <p:sp>
        <p:nvSpPr>
          <p:cNvPr id="23" name="TextBox 22"/>
          <p:cNvSpPr txBox="1"/>
          <p:nvPr/>
        </p:nvSpPr>
        <p:spPr>
          <a:xfrm>
            <a:off x="8187536"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Ngân sách hàng năm: </a:t>
            </a:r>
            <a:r>
              <a:rPr sz="900">
                <a:solidFill>
                  <a:srgbClr val="334155"/>
                </a:solidFill>
                <a:latin typeface="Segoe UI"/>
              </a:rPr>
              <a:t>Sẵn sàng đầu tư từ $3.000 đến $10.000 USD mỗi năm cho phần mềm chuyên dụng.</a:t>
            </a:r>
          </a:p>
          <a:p>
            <a:pPr>
              <a:spcAft>
                <a:spcPts val="400"/>
              </a:spcAft>
            </a:pPr>
            <a:r>
              <a:rPr sz="950" b="1">
                <a:solidFill>
                  <a:srgbClr val="0F172A"/>
                </a:solidFill>
                <a:latin typeface="Segoe UI"/>
              </a:rPr>
              <a:t>• Thời gian quyết định: </a:t>
            </a:r>
            <a:r>
              <a:rPr sz="900">
                <a:solidFill>
                  <a:srgbClr val="334155"/>
                </a:solidFill>
                <a:latin typeface="Segoe UI"/>
              </a:rPr>
              <a:t>Chu kỳ bán hàng nhanh từ 2 đến 4 tuần do CFO và Kế toán trưởng trực tiếp ra quyết định.</a:t>
            </a:r>
          </a:p>
          <a:p>
            <a:pPr>
              <a:spcAft>
                <a:spcPts val="400"/>
              </a:spcAft>
            </a:pPr>
            <a:r>
              <a:rPr sz="950" b="1">
                <a:solidFill>
                  <a:srgbClr val="0F172A"/>
                </a:solidFill>
                <a:latin typeface="Segoe UI"/>
              </a:rPr>
              <a:t>• Nhu cầu bức thiết: </a:t>
            </a:r>
            <a:r>
              <a:rPr sz="900">
                <a:solidFill>
                  <a:srgbClr val="334155"/>
                </a:solidFill>
                <a:latin typeface="Segoe UI"/>
              </a:rPr>
              <a:t>Cần lời giải tức thì để giải phóng sức lao động và loại bỏ hoàn toàn rủi ro thất thoát.</a:t>
            </a:r>
          </a:p>
        </p:txBody>
      </p:sp>
      <p:cxnSp>
        <p:nvCxnSpPr>
          <p:cNvPr id="24" name="Connector 23"/>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6" name="TextBox 25"/>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04 / 27 • INNOSTART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0284C7"/>
                </a:solidFill>
                <a:latin typeface="Segoe UI"/>
              </a:defRPr>
            </a:pPr>
            <a:r>
              <a:t>VÒNG 1 • GIẢI PHÁP ĐỘT PHÁ • TỔNG QUAN SẢN PHẨM</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LIVA BANKING HARNESS: ĐAI AN TOÀN AI &amp; THÁP CANH NGUỒN VỐN TẠI CHỖ</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Hệ thống tự động hóa ngân quỹ toàn diện, kết hợp tốc độ tức thì và bảo mật tuyệt đối tại máy trạm.</a:t>
            </a:r>
          </a:p>
        </p:txBody>
      </p:sp>
      <p:sp>
        <p:nvSpPr>
          <p:cNvPr id="9" name="Rounded Rectangle 8"/>
          <p:cNvSpPr/>
          <p:nvPr/>
        </p:nvSpPr>
        <p:spPr>
          <a:xfrm>
            <a:off x="731520" y="1508760"/>
            <a:ext cx="6309360" cy="105156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18488"/>
            <a:ext cx="5943600" cy="832104"/>
          </a:xfrm>
          <a:prstGeom prst="rect">
            <a:avLst/>
          </a:prstGeom>
          <a:noFill/>
        </p:spPr>
        <p:txBody>
          <a:bodyPr wrap="square" lIns="0" tIns="0" rIns="0" bIns="0">
            <a:spAutoFit/>
          </a:bodyPr>
          <a:lstStyle/>
          <a:p>
            <a:pPr>
              <a:spcAft>
                <a:spcPts val="200"/>
              </a:spcAft>
              <a:defRPr sz="880" b="1">
                <a:solidFill>
                  <a:srgbClr val="0284C7"/>
                </a:solidFill>
                <a:latin typeface="Segoe UI"/>
              </a:defRPr>
            </a:pPr>
            <a:r>
              <a:t>ĐAI AN TOÀN AI &amp; THÁP CANH NGUỒN VỐN DOANH NGHIỆP</a:t>
            </a:r>
          </a:p>
          <a:p>
            <a:pPr>
              <a:defRPr sz="1100" b="1">
                <a:solidFill>
                  <a:srgbClr val="0F172A"/>
                </a:solidFill>
                <a:latin typeface="Segoe UI"/>
              </a:defRPr>
            </a:pPr>
            <a:r>
              <a:t>Tự động hóa đối soát 35+ ngân hàng, bảo vệ tuyệt đối dữ liệu nội bộ và dự báo thanh khoản 48 giờ không độ trễ.</a:t>
            </a:r>
          </a:p>
        </p:txBody>
      </p:sp>
      <p:sp>
        <p:nvSpPr>
          <p:cNvPr id="11" name="Rounded Rectangle 10"/>
          <p:cNvSpPr/>
          <p:nvPr/>
        </p:nvSpPr>
        <p:spPr>
          <a:xfrm>
            <a:off x="731520" y="2670048"/>
            <a:ext cx="6309360" cy="1045464"/>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670048"/>
            <a:ext cx="73152" cy="1045464"/>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761488"/>
            <a:ext cx="5989320" cy="862584"/>
          </a:xfrm>
          <a:prstGeom prst="rect">
            <a:avLst/>
          </a:prstGeom>
          <a:noFill/>
        </p:spPr>
        <p:txBody>
          <a:bodyPr wrap="square" lIns="0" tIns="0" rIns="0" bIns="0">
            <a:spAutoFit/>
          </a:bodyPr>
          <a:lstStyle/>
          <a:p>
            <a:pPr>
              <a:spcAft>
                <a:spcPts val="200"/>
              </a:spcAft>
              <a:defRPr sz="1100" b="1">
                <a:solidFill>
                  <a:srgbClr val="0F172A"/>
                </a:solidFill>
                <a:latin typeface="Segoe UI"/>
              </a:defRPr>
            </a:pPr>
            <a:r>
              <a:t>Tự Động Bóc Tách Đa Ngân Hàng</a:t>
            </a:r>
          </a:p>
          <a:p>
            <a:pPr>
              <a:defRPr sz="900">
                <a:solidFill>
                  <a:srgbClr val="334155"/>
                </a:solidFill>
                <a:latin typeface="Segoe UI"/>
              </a:defRPr>
            </a:pPr>
            <a:r>
              <a:t>Tự động đọc và chuẩn hóa 35+ mẫu sao kê ngân hàng Việt Nam trong 19 giây, xử lý triệt để chữ viết tắt.</a:t>
            </a:r>
          </a:p>
        </p:txBody>
      </p:sp>
      <p:sp>
        <p:nvSpPr>
          <p:cNvPr id="14" name="Rounded Rectangle 13"/>
          <p:cNvSpPr/>
          <p:nvPr/>
        </p:nvSpPr>
        <p:spPr>
          <a:xfrm>
            <a:off x="731520" y="3806952"/>
            <a:ext cx="6309360" cy="1045464"/>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3806952"/>
            <a:ext cx="73152" cy="10454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98392"/>
            <a:ext cx="5989320" cy="862584"/>
          </a:xfrm>
          <a:prstGeom prst="rect">
            <a:avLst/>
          </a:prstGeom>
          <a:noFill/>
        </p:spPr>
        <p:txBody>
          <a:bodyPr wrap="square" lIns="0" tIns="0" rIns="0" bIns="0">
            <a:spAutoFit/>
          </a:bodyPr>
          <a:lstStyle/>
          <a:p>
            <a:pPr>
              <a:spcAft>
                <a:spcPts val="200"/>
              </a:spcAft>
              <a:defRPr sz="1100" b="1">
                <a:solidFill>
                  <a:srgbClr val="0F172A"/>
                </a:solidFill>
                <a:latin typeface="Segoe UI"/>
              </a:defRPr>
            </a:pPr>
            <a:r>
              <a:t>Động Cơ Đối Soát Không Ảo Giác</a:t>
            </a:r>
          </a:p>
          <a:p>
            <a:pPr>
              <a:defRPr sz="900">
                <a:solidFill>
                  <a:srgbClr val="334155"/>
                </a:solidFill>
                <a:latin typeface="Segoe UI"/>
              </a:defRPr>
            </a:pPr>
            <a:r>
              <a:t>Khớp nối chính xác 99.8% giao dịch với sổ cái kế toán bằng thuật toán toán học xác định; 0% ảo giác số học.</a:t>
            </a:r>
          </a:p>
        </p:txBody>
      </p:sp>
      <p:sp>
        <p:nvSpPr>
          <p:cNvPr id="17" name="Rounded Rectangle 16"/>
          <p:cNvSpPr/>
          <p:nvPr/>
        </p:nvSpPr>
        <p:spPr>
          <a:xfrm>
            <a:off x="731520" y="4943856"/>
            <a:ext cx="6309360" cy="1045464"/>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4943856"/>
            <a:ext cx="73152" cy="10454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035296"/>
            <a:ext cx="5989320" cy="862584"/>
          </a:xfrm>
          <a:prstGeom prst="rect">
            <a:avLst/>
          </a:prstGeom>
          <a:noFill/>
        </p:spPr>
        <p:txBody>
          <a:bodyPr wrap="square" lIns="0" tIns="0" rIns="0" bIns="0">
            <a:spAutoFit/>
          </a:bodyPr>
          <a:lstStyle/>
          <a:p>
            <a:pPr>
              <a:spcAft>
                <a:spcPts val="200"/>
              </a:spcAft>
              <a:defRPr sz="1100" b="1">
                <a:solidFill>
                  <a:srgbClr val="0F172A"/>
                </a:solidFill>
                <a:latin typeface="Segoe UI"/>
              </a:defRPr>
            </a:pPr>
            <a:r>
              <a:t>Tháp Canh Thanh Khoản Dự Báo 48 Giờ</a:t>
            </a:r>
          </a:p>
          <a:p>
            <a:pPr>
              <a:defRPr sz="900">
                <a:solidFill>
                  <a:srgbClr val="334155"/>
                </a:solidFill>
                <a:latin typeface="Segoe UI"/>
              </a:defRPr>
            </a:pPr>
            <a:r>
              <a:t>Nhìn xa dòng tiền 48 giờ giúp CFO chủ động điều chuyển vốn giữa các ngân hàng và tối ưu lãi suất CASA.</a:t>
            </a:r>
          </a:p>
        </p:txBody>
      </p:sp>
      <p:pic>
        <p:nvPicPr>
          <p:cNvPr id="20" name="Picture 19" descr="architecture_curve.jpg"/>
          <p:cNvPicPr>
            <a:picLocks noChangeAspect="1"/>
          </p:cNvPicPr>
          <p:nvPr/>
        </p:nvPicPr>
        <p:blipFill>
          <a:blip r:embed="rId2"/>
          <a:stretch>
            <a:fillRect/>
          </a:stretch>
        </p:blipFill>
        <p:spPr>
          <a:xfrm>
            <a:off x="7223760" y="1508760"/>
            <a:ext cx="4236415" cy="4480560"/>
          </a:xfrm>
          <a:prstGeom prst="rect">
            <a:avLst/>
          </a:prstGeom>
        </p:spPr>
      </p:pic>
      <p:sp>
        <p:nvSpPr>
          <p:cNvPr id="21" name="Rounded Rectangle 20"/>
          <p:cNvSpPr/>
          <p:nvPr/>
        </p:nvSpPr>
        <p:spPr>
          <a:xfrm>
            <a:off x="7223760" y="5623560"/>
            <a:ext cx="4236415" cy="365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64748B"/>
                </a:solidFill>
                <a:latin typeface="Segoe UI"/>
              </a:defRPr>
            </a:pPr>
            <a:r>
              <a:t>KIẾN TRÚC VẬN HÀNH AN TOÀN TẠI CHỖ (ZERO DATA EGRESS)</a:t>
            </a:r>
          </a:p>
        </p:txBody>
      </p:sp>
      <p:cxnSp>
        <p:nvCxnSpPr>
          <p:cNvPr id="22" name="Connector 21"/>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4" name="TextBox 23"/>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05 / 27 • INNOSTART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1 • SO SÁNH HIỆU QUẢ • TRƯỚC VÀ SAU KHI CÓ LIVA</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SO SÁNH HIỆU QUẢ VƯỢT TRỘI: TRƯỚC VÀ SAU KHI TRIỂN KHAI LIVA</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Chuyển hóa toàn diện quy trình ngân quỹ từ thủ công phân mảnh sang tự động hóa chính xác tuyệt đối.</a:t>
            </a:r>
          </a:p>
        </p:txBody>
      </p:sp>
      <p:sp>
        <p:nvSpPr>
          <p:cNvPr id="9" name="Rounded Rectangle 8"/>
          <p:cNvSpPr/>
          <p:nvPr/>
        </p:nvSpPr>
        <p:spPr>
          <a:xfrm>
            <a:off x="731520" y="1508760"/>
            <a:ext cx="5250027" cy="448056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1600200"/>
            <a:ext cx="5067147" cy="62179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FFFFFF"/>
                </a:solidFill>
                <a:latin typeface="Segoe UI"/>
              </a:defRPr>
            </a:pPr>
            <a:r>
              <a:t>TRƯỚC KHI CÓ LIVA BANKING HARNESS</a:t>
            </a:r>
          </a:p>
          <a:p>
            <a:pPr algn="ctr">
              <a:defRPr sz="850">
                <a:solidFill>
                  <a:srgbClr val="FFFFFF"/>
                </a:solidFill>
                <a:latin typeface="Segoe UI"/>
              </a:defRPr>
            </a:pPr>
            <a:r>
              <a:t>Quy trình thủ công rủi ro và phân mảnh</a:t>
            </a:r>
          </a:p>
        </p:txBody>
      </p:sp>
      <p:sp>
        <p:nvSpPr>
          <p:cNvPr id="11" name="Rounded Rectangle 10"/>
          <p:cNvSpPr/>
          <p:nvPr/>
        </p:nvSpPr>
        <p:spPr>
          <a:xfrm>
            <a:off x="859536" y="2295144"/>
            <a:ext cx="4993995" cy="1133856"/>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DC2626"/>
                </a:solidFill>
                <a:latin typeface="Segoe UI"/>
              </a:defRPr>
            </a:pPr>
            <a:r>
              <a:t>❌ Mất 2-4h mỗi sáng</a:t>
            </a:r>
          </a:p>
          <a:p>
            <a:pPr>
              <a:defRPr sz="900">
                <a:solidFill>
                  <a:srgbClr val="334155"/>
                </a:solidFill>
                <a:latin typeface="Segoe UI"/>
              </a:defRPr>
            </a:pPr>
            <a:r>
              <a:t>Mở 15 file sao kê riêng lẻ, căng mắt so khớp thủ công từng dòng với sổ cái kế toán.</a:t>
            </a:r>
          </a:p>
        </p:txBody>
      </p:sp>
      <p:sp>
        <p:nvSpPr>
          <p:cNvPr id="12" name="Rounded Rectangle 11"/>
          <p:cNvSpPr/>
          <p:nvPr/>
        </p:nvSpPr>
        <p:spPr>
          <a:xfrm>
            <a:off x="859536" y="3520440"/>
            <a:ext cx="4993995" cy="1133856"/>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DC2626"/>
                </a:solidFill>
                <a:latin typeface="Segoe UI"/>
              </a:defRPr>
            </a:pPr>
            <a:r>
              <a:t>❌ Vùng mù thanh khoản T+3</a:t>
            </a:r>
          </a:p>
          <a:p>
            <a:pPr>
              <a:defRPr sz="900">
                <a:solidFill>
                  <a:srgbClr val="334155"/>
                </a:solidFill>
                <a:latin typeface="Segoe UI"/>
              </a:defRPr>
            </a:pPr>
            <a:r>
              <a:t>CFO hoàn toàn không biết số dư thực tế giữa các tài khoản để điều phối dòng tiền.</a:t>
            </a:r>
          </a:p>
        </p:txBody>
      </p:sp>
      <p:sp>
        <p:nvSpPr>
          <p:cNvPr id="13" name="Rounded Rectangle 12"/>
          <p:cNvSpPr/>
          <p:nvPr/>
        </p:nvSpPr>
        <p:spPr>
          <a:xfrm>
            <a:off x="859536" y="4745736"/>
            <a:ext cx="4993995" cy="1133856"/>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DC2626"/>
                </a:solidFill>
                <a:latin typeface="Segoe UI"/>
              </a:defRPr>
            </a:pPr>
            <a:r>
              <a:t>❌ Rủi ro thất thoát &amp; Phạt chậm</a:t>
            </a:r>
          </a:p>
          <a:p>
            <a:pPr>
              <a:defRPr sz="900">
                <a:solidFill>
                  <a:srgbClr val="334155"/>
                </a:solidFill>
                <a:latin typeface="Segoe UI"/>
              </a:defRPr>
            </a:pPr>
            <a:r>
              <a:t>Dễ sót giao dịch, chậm trả nợ nhà cung cấp, hoặc hụt tiền mặt đột xuất.</a:t>
            </a:r>
          </a:p>
        </p:txBody>
      </p:sp>
      <p:sp>
        <p:nvSpPr>
          <p:cNvPr id="14" name="Rounded Rectangle 13"/>
          <p:cNvSpPr/>
          <p:nvPr/>
        </p:nvSpPr>
        <p:spPr>
          <a:xfrm>
            <a:off x="6210147" y="1508760"/>
            <a:ext cx="5250027" cy="4480560"/>
          </a:xfrm>
          <a:prstGeom prst="roundRect">
            <a:avLst/>
          </a:prstGeom>
          <a:solidFill>
            <a:srgbClr val="F0FDF4"/>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1587" y="1600200"/>
            <a:ext cx="5067147" cy="62179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FFFFFF"/>
                </a:solidFill>
                <a:latin typeface="Segoe UI"/>
              </a:defRPr>
            </a:pPr>
            <a:r>
              <a:t>KHI CÓ LIVA BANKING HARNESS</a:t>
            </a:r>
          </a:p>
          <a:p>
            <a:pPr algn="ctr">
              <a:defRPr sz="850">
                <a:solidFill>
                  <a:srgbClr val="FFFFFF"/>
                </a:solidFill>
                <a:latin typeface="Segoe UI"/>
              </a:defRPr>
            </a:pPr>
            <a:r>
              <a:t>Tự động hóa thông minh chạy 100% tại chỗ</a:t>
            </a:r>
          </a:p>
        </p:txBody>
      </p:sp>
      <p:sp>
        <p:nvSpPr>
          <p:cNvPr id="16" name="Rounded Rectangle 15"/>
          <p:cNvSpPr/>
          <p:nvPr/>
        </p:nvSpPr>
        <p:spPr>
          <a:xfrm>
            <a:off x="6338163" y="2295144"/>
            <a:ext cx="4993995" cy="1133856"/>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10B981"/>
                </a:solidFill>
                <a:latin typeface="Segoe UI"/>
              </a:defRPr>
            </a:pPr>
            <a:r>
              <a:t>✅ Chỉ mất 19 giây</a:t>
            </a:r>
          </a:p>
          <a:p>
            <a:pPr>
              <a:defRPr sz="900">
                <a:solidFill>
                  <a:srgbClr val="334155"/>
                </a:solidFill>
                <a:latin typeface="Segoe UI"/>
              </a:defRPr>
            </a:pPr>
            <a:r>
              <a:t>Tự động gom và đối soát 50.000 dòng giao dịch ngay khi kế toán bật máy tính.</a:t>
            </a:r>
          </a:p>
        </p:txBody>
      </p:sp>
      <p:sp>
        <p:nvSpPr>
          <p:cNvPr id="17" name="Rounded Rectangle 16"/>
          <p:cNvSpPr/>
          <p:nvPr/>
        </p:nvSpPr>
        <p:spPr>
          <a:xfrm>
            <a:off x="6338163" y="3520440"/>
            <a:ext cx="4993995" cy="1133856"/>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10B981"/>
                </a:solidFill>
                <a:latin typeface="Segoe UI"/>
              </a:defRPr>
            </a:pPr>
            <a:r>
              <a:t>✅ Tháp canh dự báo 48h</a:t>
            </a:r>
          </a:p>
          <a:p>
            <a:pPr>
              <a:defRPr sz="900">
                <a:solidFill>
                  <a:srgbClr val="334155"/>
                </a:solidFill>
                <a:latin typeface="Segoe UI"/>
              </a:defRPr>
            </a:pPr>
            <a:r>
              <a:t>Nhìn thấy trước dòng tiền trong 48 giờ để chủ động điều chuyển vốn và tối ưu lãi suất.</a:t>
            </a:r>
          </a:p>
        </p:txBody>
      </p:sp>
      <p:sp>
        <p:nvSpPr>
          <p:cNvPr id="18" name="Rounded Rectangle 17"/>
          <p:cNvSpPr/>
          <p:nvPr/>
        </p:nvSpPr>
        <p:spPr>
          <a:xfrm>
            <a:off x="6338163" y="4745736"/>
            <a:ext cx="4993995" cy="1133856"/>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10B981"/>
                </a:solidFill>
                <a:latin typeface="Segoe UI"/>
              </a:defRPr>
            </a:pPr>
            <a:r>
              <a:t>✅ Chính xác 99.8% &amp; Khóa an toàn</a:t>
            </a:r>
          </a:p>
          <a:p>
            <a:pPr>
              <a:defRPr sz="900">
                <a:solidFill>
                  <a:srgbClr val="334155"/>
                </a:solidFill>
                <a:latin typeface="Segoe UI"/>
              </a:defRPr>
            </a:pPr>
            <a:r>
              <a:t>Động cơ toán học xác định bảo đảm không ảo giác số học, khóa an toàn chuyển người duyệt 0.2%.</a:t>
            </a:r>
          </a:p>
        </p:txBody>
      </p:sp>
      <p:cxnSp>
        <p:nvCxnSpPr>
          <p:cNvPr id="19" name="Connector 18"/>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1" name="TextBox 20"/>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06 / 27 • INNOSTART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0284C7"/>
                </a:solidFill>
                <a:latin typeface="Segoe UI"/>
              </a:defRPr>
            </a:pPr>
            <a:r>
              <a:t>VÒNG 1 • TRẢI NGHIỆM NGƯỜI DÙNG • HÀNH TRÌNH 3 BƯỚC KHÉP KÍN</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HÀNH TRÌNH 3 BƯỚC KHÉP KÍN: TỰ ĐỘNG HÓA TỪ SAO KÊ ĐẾN HẠCH TOÁN</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Quy trình tinh gọn, bảo đảm tính xác định và giữ quyền kiểm soát tối cao cho kế toán trưởng.</a:t>
            </a:r>
          </a:p>
        </p:txBody>
      </p:sp>
      <p:sp>
        <p:nvSpPr>
          <p:cNvPr id="9" name="Chevron 8"/>
          <p:cNvSpPr/>
          <p:nvPr/>
        </p:nvSpPr>
        <p:spPr>
          <a:xfrm>
            <a:off x="731520" y="1508760"/>
            <a:ext cx="3527450" cy="438912"/>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FFFFF"/>
                </a:solidFill>
                <a:latin typeface="Segoe UI"/>
              </a:defRPr>
            </a:pPr>
            <a:r>
              <a:t>BƯỚC 1</a:t>
            </a:r>
          </a:p>
        </p:txBody>
      </p:sp>
      <p:sp>
        <p:nvSpPr>
          <p:cNvPr id="10" name="Rounded Rectangle 9"/>
          <p:cNvSpPr/>
          <p:nvPr/>
        </p:nvSpPr>
        <p:spPr>
          <a:xfrm>
            <a:off x="731520" y="2039112"/>
            <a:ext cx="3527450" cy="39502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2167128"/>
            <a:ext cx="3271418" cy="3694176"/>
          </a:xfrm>
          <a:prstGeom prst="rect">
            <a:avLst/>
          </a:prstGeom>
          <a:noFill/>
        </p:spPr>
        <p:txBody>
          <a:bodyPr wrap="square" lIns="0" tIns="0" rIns="0" bIns="0">
            <a:spAutoFit/>
          </a:bodyPr>
          <a:lstStyle/>
          <a:p>
            <a:pPr>
              <a:spcAft>
                <a:spcPts val="400"/>
              </a:spcAft>
              <a:defRPr sz="1050" b="1">
                <a:solidFill>
                  <a:srgbClr val="0F172A"/>
                </a:solidFill>
                <a:latin typeface="Segoe UI"/>
              </a:defRPr>
            </a:pPr>
            <a:r>
              <a:t>Tự Động Gom &amp; Bóc Tách</a:t>
            </a:r>
          </a:p>
          <a:p>
            <a:pPr>
              <a:spcAft>
                <a:spcPts val="300"/>
              </a:spcAft>
            </a:pPr>
            <a:r>
              <a:rPr sz="880" b="1">
                <a:solidFill>
                  <a:srgbClr val="0F172A"/>
                </a:solidFill>
                <a:latin typeface="Segoe UI"/>
              </a:rPr>
              <a:t>• Nhận diện thông minh: </a:t>
            </a:r>
            <a:r>
              <a:rPr sz="850">
                <a:solidFill>
                  <a:srgbClr val="334155"/>
                </a:solidFill>
                <a:latin typeface="Segoe UI"/>
              </a:rPr>
              <a:t>Tự động phát hiện và bóc tách dữ liệu từ file sao kê của 35+ ngân hàng Việt Nam.</a:t>
            </a:r>
          </a:p>
          <a:p>
            <a:pPr>
              <a:spcAft>
                <a:spcPts val="300"/>
              </a:spcAft>
            </a:pPr>
            <a:r>
              <a:rPr sz="880" b="1">
                <a:solidFill>
                  <a:srgbClr val="0F172A"/>
                </a:solidFill>
                <a:latin typeface="Segoe UI"/>
              </a:rPr>
              <a:t>• Chuẩn hóa tiếng Việt: </a:t>
            </a:r>
            <a:r>
              <a:rPr sz="850">
                <a:solidFill>
                  <a:srgbClr val="334155"/>
                </a:solidFill>
                <a:latin typeface="Segoe UI"/>
              </a:rPr>
              <a:t>Giải mã chính xác các diễn giải viết tắt không dấu và nội dung chuyển khoản tự do.</a:t>
            </a:r>
          </a:p>
          <a:p>
            <a:pPr>
              <a:spcAft>
                <a:spcPts val="300"/>
              </a:spcAft>
            </a:pPr>
            <a:r>
              <a:rPr sz="880" b="1">
                <a:solidFill>
                  <a:srgbClr val="0F172A"/>
                </a:solidFill>
                <a:latin typeface="Segoe UI"/>
              </a:rPr>
              <a:t>• Bảo mật tại chỗ: </a:t>
            </a:r>
            <a:r>
              <a:rPr sz="850">
                <a:solidFill>
                  <a:srgbClr val="334155"/>
                </a:solidFill>
                <a:latin typeface="Segoe UI"/>
              </a:rPr>
              <a:t>Toàn bộ quá trình diễn ra nội bộ trên máy trạm, không truyền dữ liệu ra bên ngoài.</a:t>
            </a:r>
          </a:p>
        </p:txBody>
      </p:sp>
      <p:sp>
        <p:nvSpPr>
          <p:cNvPr id="12" name="Chevron 11"/>
          <p:cNvSpPr/>
          <p:nvPr/>
        </p:nvSpPr>
        <p:spPr>
          <a:xfrm>
            <a:off x="4332122" y="1508760"/>
            <a:ext cx="3527450" cy="43891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FFFFF"/>
                </a:solidFill>
                <a:latin typeface="Segoe UI"/>
              </a:defRPr>
            </a:pPr>
            <a:r>
              <a:t>BƯỚC 2</a:t>
            </a:r>
          </a:p>
        </p:txBody>
      </p:sp>
      <p:sp>
        <p:nvSpPr>
          <p:cNvPr id="13" name="Rounded Rectangle 12"/>
          <p:cNvSpPr/>
          <p:nvPr/>
        </p:nvSpPr>
        <p:spPr>
          <a:xfrm>
            <a:off x="4332122" y="2039112"/>
            <a:ext cx="3527450" cy="39502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0138" y="2167128"/>
            <a:ext cx="3271418" cy="3694176"/>
          </a:xfrm>
          <a:prstGeom prst="rect">
            <a:avLst/>
          </a:prstGeom>
          <a:noFill/>
        </p:spPr>
        <p:txBody>
          <a:bodyPr wrap="square" lIns="0" tIns="0" rIns="0" bIns="0">
            <a:spAutoFit/>
          </a:bodyPr>
          <a:lstStyle/>
          <a:p>
            <a:pPr>
              <a:spcAft>
                <a:spcPts val="400"/>
              </a:spcAft>
              <a:defRPr sz="1050" b="1">
                <a:solidFill>
                  <a:srgbClr val="0F172A"/>
                </a:solidFill>
                <a:latin typeface="Segoe UI"/>
              </a:defRPr>
            </a:pPr>
            <a:r>
              <a:t>Đối Soát Số Học Xác Định</a:t>
            </a:r>
          </a:p>
          <a:p>
            <a:pPr>
              <a:spcAft>
                <a:spcPts val="300"/>
              </a:spcAft>
            </a:pPr>
            <a:r>
              <a:rPr sz="880" b="1">
                <a:solidFill>
                  <a:srgbClr val="0F172A"/>
                </a:solidFill>
                <a:latin typeface="Segoe UI"/>
              </a:rPr>
              <a:t>• Khớp nối 99.8%: </a:t>
            </a:r>
            <a:r>
              <a:rPr sz="850">
                <a:solidFill>
                  <a:srgbClr val="334155"/>
                </a:solidFill>
                <a:latin typeface="Segoe UI"/>
              </a:rPr>
              <a:t>So sánh đối chiếu tự động giữa sao kê và các chứng từ trên sổ cái kế toán.</a:t>
            </a:r>
          </a:p>
          <a:p>
            <a:pPr>
              <a:spcAft>
                <a:spcPts val="300"/>
              </a:spcAft>
            </a:pPr>
            <a:r>
              <a:rPr sz="880" b="1">
                <a:solidFill>
                  <a:srgbClr val="0F172A"/>
                </a:solidFill>
                <a:latin typeface="Segoe UI"/>
              </a:rPr>
              <a:t>• Khóa an toàn 0.2%: </a:t>
            </a:r>
            <a:r>
              <a:rPr sz="850">
                <a:solidFill>
                  <a:srgbClr val="334155"/>
                </a:solidFill>
                <a:latin typeface="Segoe UI"/>
              </a:rPr>
              <a:t>Cách ly tức thì các dòng sai lệch số học dù chỉ 1 đồng hoặc nội dung mơ hồ.</a:t>
            </a:r>
          </a:p>
          <a:p>
            <a:pPr>
              <a:spcAft>
                <a:spcPts val="300"/>
              </a:spcAft>
            </a:pPr>
            <a:r>
              <a:rPr sz="880" b="1">
                <a:solidFill>
                  <a:srgbClr val="0F172A"/>
                </a:solidFill>
                <a:latin typeface="Segoe UI"/>
              </a:rPr>
              <a:t>• Không ảo giác: </a:t>
            </a:r>
            <a:r>
              <a:rPr sz="850">
                <a:solidFill>
                  <a:srgbClr val="334155"/>
                </a:solidFill>
                <a:latin typeface="Segoe UI"/>
              </a:rPr>
              <a:t>Thuật toán toán học xác định bảo đảm tuyệt đối không suy đoán số tiền bừa bãi.</a:t>
            </a:r>
          </a:p>
        </p:txBody>
      </p:sp>
      <p:sp>
        <p:nvSpPr>
          <p:cNvPr id="15" name="Chevron 14"/>
          <p:cNvSpPr/>
          <p:nvPr/>
        </p:nvSpPr>
        <p:spPr>
          <a:xfrm>
            <a:off x="7932724" y="1508760"/>
            <a:ext cx="3527450" cy="438912"/>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FFFFF"/>
                </a:solidFill>
                <a:latin typeface="Segoe UI"/>
              </a:defRPr>
            </a:pPr>
            <a:r>
              <a:t>BƯỚC 3</a:t>
            </a:r>
          </a:p>
        </p:txBody>
      </p:sp>
      <p:sp>
        <p:nvSpPr>
          <p:cNvPr id="16" name="Rounded Rectangle 15"/>
          <p:cNvSpPr/>
          <p:nvPr/>
        </p:nvSpPr>
        <p:spPr>
          <a:xfrm>
            <a:off x="7932724" y="2039112"/>
            <a:ext cx="3527450" cy="39502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60740" y="2167128"/>
            <a:ext cx="3271418" cy="3694176"/>
          </a:xfrm>
          <a:prstGeom prst="rect">
            <a:avLst/>
          </a:prstGeom>
          <a:noFill/>
        </p:spPr>
        <p:txBody>
          <a:bodyPr wrap="square" lIns="0" tIns="0" rIns="0" bIns="0">
            <a:spAutoFit/>
          </a:bodyPr>
          <a:lstStyle/>
          <a:p>
            <a:pPr>
              <a:spcAft>
                <a:spcPts val="400"/>
              </a:spcAft>
              <a:defRPr sz="1050" b="1">
                <a:solidFill>
                  <a:srgbClr val="0F172A"/>
                </a:solidFill>
                <a:latin typeface="Segoe UI"/>
              </a:defRPr>
            </a:pPr>
            <a:r>
              <a:t>Đề Xuất &amp; Phê Duyệt Hai Pha</a:t>
            </a:r>
          </a:p>
          <a:p>
            <a:pPr>
              <a:spcAft>
                <a:spcPts val="300"/>
              </a:spcAft>
            </a:pPr>
            <a:r>
              <a:rPr sz="880" b="1">
                <a:solidFill>
                  <a:srgbClr val="0F172A"/>
                </a:solidFill>
                <a:latin typeface="Segoe UI"/>
              </a:rPr>
              <a:t>• Lập dự thảo bút toán: </a:t>
            </a:r>
            <a:r>
              <a:rPr sz="850">
                <a:solidFill>
                  <a:srgbClr val="334155"/>
                </a:solidFill>
                <a:latin typeface="Segoe UI"/>
              </a:rPr>
              <a:t>Chuẩn bị sẵn đề xuất hạch toán và điều chuyển tiền thông minh giữa các tài khoản.</a:t>
            </a:r>
          </a:p>
          <a:p>
            <a:pPr>
              <a:spcAft>
                <a:spcPts val="300"/>
              </a:spcAft>
            </a:pPr>
            <a:r>
              <a:rPr sz="880" b="1">
                <a:solidFill>
                  <a:srgbClr val="0F172A"/>
                </a:solidFill>
                <a:latin typeface="Segoe UI"/>
              </a:rPr>
              <a:t>• Maker-Checker: </a:t>
            </a:r>
            <a:r>
              <a:rPr sz="850">
                <a:solidFill>
                  <a:srgbClr val="334155"/>
                </a:solidFill>
                <a:latin typeface="Segoe UI"/>
              </a:rPr>
              <a:t>Kế toán trưởng hoặc CFO ký duyệt điện tử thì lệnh mới có giá trị pháp lý.</a:t>
            </a:r>
          </a:p>
          <a:p>
            <a:pPr>
              <a:spcAft>
                <a:spcPts val="300"/>
              </a:spcAft>
            </a:pPr>
            <a:r>
              <a:rPr sz="880" b="1">
                <a:solidFill>
                  <a:srgbClr val="0F172A"/>
                </a:solidFill>
                <a:latin typeface="Segoe UI"/>
              </a:rPr>
              <a:t>• Đồng bộ phần mềm: </a:t>
            </a:r>
            <a:r>
              <a:rPr sz="850">
                <a:solidFill>
                  <a:srgbClr val="334155"/>
                </a:solidFill>
                <a:latin typeface="Segoe UI"/>
              </a:rPr>
              <a:t>Tự động cập nhật số liệu vào phần mềm kế toán (MISA, FAST, Bravo) chỉ bằng 1 chạm.</a:t>
            </a:r>
          </a:p>
        </p:txBody>
      </p:sp>
      <p:cxnSp>
        <p:nvCxnSpPr>
          <p:cNvPr id="18" name="Connector 17"/>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0" name="TextBox 19"/>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07 / 27 • INNOSTART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1 • CÔNG NGHỆ NÒNG CỐT • KIẾN TRÚC 2 TẦNG ĐỘC LẬP</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KIẾN TRÚC PHÂN TÁCH 2 TẦNG: ĐỘNG CƠ CỤC BỘ &amp; MÔ HÌNH NHỎ CHUYÊN SÂU</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Phân tách tuyệt đối giữa logic tính toán số học xác định và tầng suy luận ngữ nghĩa tiếng Việt.</a:t>
            </a:r>
          </a:p>
        </p:txBody>
      </p:sp>
      <p:sp>
        <p:nvSpPr>
          <p:cNvPr id="9" name="Rounded Rectangle 8"/>
          <p:cNvSpPr/>
          <p:nvPr/>
        </p:nvSpPr>
        <p:spPr>
          <a:xfrm>
            <a:off x="731520" y="1508760"/>
            <a:ext cx="5257800"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TẦNG 1</a:t>
            </a:r>
          </a:p>
        </p:txBody>
      </p:sp>
      <p:sp>
        <p:nvSpPr>
          <p:cNvPr id="11" name="TextBox 10"/>
          <p:cNvSpPr txBox="1"/>
          <p:nvPr/>
        </p:nvSpPr>
        <p:spPr>
          <a:xfrm>
            <a:off x="1463040" y="1673352"/>
            <a:ext cx="4389120" cy="530352"/>
          </a:xfrm>
          <a:prstGeom prst="rect">
            <a:avLst/>
          </a:prstGeom>
          <a:noFill/>
        </p:spPr>
        <p:txBody>
          <a:bodyPr wrap="square" lIns="0" tIns="0" rIns="0" bIns="0">
            <a:spAutoFit/>
          </a:bodyPr>
          <a:lstStyle/>
          <a:p>
            <a:pPr>
              <a:defRPr sz="1150" b="1">
                <a:solidFill>
                  <a:srgbClr val="0F172A"/>
                </a:solidFill>
                <a:latin typeface="Segoe UI"/>
              </a:defRPr>
            </a:pPr>
            <a:r>
              <a:t>TẦNG 1: ĐỘNG CƠ XỬ LÝ TOÁN HỌC XÁC ĐỊNH</a:t>
            </a:r>
          </a:p>
        </p:txBody>
      </p:sp>
      <p:sp>
        <p:nvSpPr>
          <p:cNvPr id="12" name="TextBox 11"/>
          <p:cNvSpPr txBox="1"/>
          <p:nvPr/>
        </p:nvSpPr>
        <p:spPr>
          <a:xfrm>
            <a:off x="914400" y="2240280"/>
            <a:ext cx="4892040" cy="621792"/>
          </a:xfrm>
          <a:prstGeom prst="rect">
            <a:avLst/>
          </a:prstGeom>
          <a:noFill/>
        </p:spPr>
        <p:txBody>
          <a:bodyPr wrap="square" lIns="0" tIns="0" rIns="0" bIns="0">
            <a:spAutoFit/>
          </a:bodyPr>
          <a:lstStyle/>
          <a:p>
            <a:pPr>
              <a:defRPr sz="2600" b="1">
                <a:solidFill>
                  <a:srgbClr val="1E3A8A"/>
                </a:solidFill>
                <a:latin typeface="Segoe UI"/>
              </a:defRPr>
            </a:pPr>
            <a:r>
              <a:t>0% Ảo Giác</a:t>
            </a:r>
          </a:p>
          <a:p>
            <a:pPr>
              <a:defRPr sz="850" b="1">
                <a:solidFill>
                  <a:srgbClr val="0F172A"/>
                </a:solidFill>
                <a:latin typeface="Segoe UI"/>
              </a:defRPr>
            </a:pPr>
            <a:r>
              <a:t>TOÁN HỌC XÁC ĐỊNH BẢO ĐẢM CHUẨN XÁC TỪNG ĐỒNG</a:t>
            </a:r>
          </a:p>
        </p:txBody>
      </p:sp>
      <p:sp>
        <p:nvSpPr>
          <p:cNvPr id="13" name="TextBox 12"/>
          <p:cNvSpPr txBox="1"/>
          <p:nvPr/>
        </p:nvSpPr>
        <p:spPr>
          <a:xfrm>
            <a:off x="914400" y="2898648"/>
            <a:ext cx="4892040"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Tính toán chuẩn xác: </a:t>
            </a:r>
            <a:r>
              <a:rPr sz="900">
                <a:solidFill>
                  <a:srgbClr val="334155"/>
                </a:solidFill>
                <a:latin typeface="Segoe UI"/>
              </a:rPr>
              <a:t>Thực hiện các phép cộng trừ và so khớp số dư với độ chính xác tuyệt đối từng đồng bạc.</a:t>
            </a:r>
          </a:p>
          <a:p>
            <a:pPr>
              <a:spcAft>
                <a:spcPts val="400"/>
              </a:spcAft>
            </a:pPr>
            <a:r>
              <a:rPr sz="950" b="1">
                <a:solidFill>
                  <a:srgbClr val="0F172A"/>
                </a:solidFill>
                <a:latin typeface="Segoe UI"/>
              </a:rPr>
              <a:t>• Quy tắc kế toán thép: </a:t>
            </a:r>
            <a:r>
              <a:rPr sz="900">
                <a:solidFill>
                  <a:srgbClr val="334155"/>
                </a:solidFill>
                <a:latin typeface="Segoe UI"/>
              </a:rPr>
              <a:t>Chỉ ghi nhận khớp nối khi số tiền cân bằng tuyệt đối và có bằng chứng chứng từ hợp lệ.</a:t>
            </a:r>
          </a:p>
          <a:p>
            <a:pPr>
              <a:spcAft>
                <a:spcPts val="400"/>
              </a:spcAft>
            </a:pPr>
            <a:r>
              <a:rPr sz="950" b="1">
                <a:solidFill>
                  <a:srgbClr val="0F172A"/>
                </a:solidFill>
                <a:latin typeface="Segoe UI"/>
              </a:rPr>
              <a:t>• Cơ chế khóa an toàn: </a:t>
            </a:r>
            <a:r>
              <a:rPr sz="900">
                <a:solidFill>
                  <a:srgbClr val="334155"/>
                </a:solidFill>
                <a:latin typeface="Segoe UI"/>
              </a:rPr>
              <a:t>Tự động dừng lại và chuyển sang con người kiểm tra ngay khi phát hiện sai lệch số học dù chỉ 1 đồng.</a:t>
            </a:r>
          </a:p>
          <a:p>
            <a:pPr>
              <a:spcAft>
                <a:spcPts val="400"/>
              </a:spcAft>
            </a:pPr>
            <a:r>
              <a:rPr sz="950" b="1">
                <a:solidFill>
                  <a:srgbClr val="0F172A"/>
                </a:solidFill>
                <a:latin typeface="Segoe UI"/>
              </a:rPr>
              <a:t>• Nhật ký kiểm toán: </a:t>
            </a:r>
            <a:r>
              <a:rPr sz="900">
                <a:solidFill>
                  <a:srgbClr val="334155"/>
                </a:solidFill>
                <a:latin typeface="Segoe UI"/>
              </a:rPr>
              <a:t>Ghi vết đầy đủ mọi thao tác đối soát phục vụ thanh tra và kiểm toán độc lập.</a:t>
            </a:r>
          </a:p>
        </p:txBody>
      </p:sp>
      <p:sp>
        <p:nvSpPr>
          <p:cNvPr id="14" name="Rounded Rectangle 13"/>
          <p:cNvSpPr/>
          <p:nvPr/>
        </p:nvSpPr>
        <p:spPr>
          <a:xfrm>
            <a:off x="6202375" y="1508760"/>
            <a:ext cx="5257800"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85255" y="1691640"/>
            <a:ext cx="475488" cy="47548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TẦNG 2</a:t>
            </a:r>
          </a:p>
        </p:txBody>
      </p:sp>
      <p:sp>
        <p:nvSpPr>
          <p:cNvPr id="16" name="TextBox 15"/>
          <p:cNvSpPr txBox="1"/>
          <p:nvPr/>
        </p:nvSpPr>
        <p:spPr>
          <a:xfrm>
            <a:off x="6933895" y="1673352"/>
            <a:ext cx="4389120" cy="530352"/>
          </a:xfrm>
          <a:prstGeom prst="rect">
            <a:avLst/>
          </a:prstGeom>
          <a:noFill/>
        </p:spPr>
        <p:txBody>
          <a:bodyPr wrap="square" lIns="0" tIns="0" rIns="0" bIns="0">
            <a:spAutoFit/>
          </a:bodyPr>
          <a:lstStyle/>
          <a:p>
            <a:pPr>
              <a:defRPr sz="1150" b="1">
                <a:solidFill>
                  <a:srgbClr val="0F172A"/>
                </a:solidFill>
                <a:latin typeface="Segoe UI"/>
              </a:defRPr>
            </a:pPr>
            <a:r>
              <a:t>TẦNG 2: MÔ HÌNH NGÔN NGỮ NHỎ BẢN ĐỊA (3B-8B)</a:t>
            </a:r>
          </a:p>
        </p:txBody>
      </p:sp>
      <p:sp>
        <p:nvSpPr>
          <p:cNvPr id="17" name="TextBox 16"/>
          <p:cNvSpPr txBox="1"/>
          <p:nvPr/>
        </p:nvSpPr>
        <p:spPr>
          <a:xfrm>
            <a:off x="6385255" y="2240280"/>
            <a:ext cx="4892040" cy="621792"/>
          </a:xfrm>
          <a:prstGeom prst="rect">
            <a:avLst/>
          </a:prstGeom>
          <a:noFill/>
        </p:spPr>
        <p:txBody>
          <a:bodyPr wrap="square" lIns="0" tIns="0" rIns="0" bIns="0">
            <a:spAutoFit/>
          </a:bodyPr>
          <a:lstStyle/>
          <a:p>
            <a:pPr>
              <a:defRPr sz="2600" b="1">
                <a:solidFill>
                  <a:srgbClr val="0284C7"/>
                </a:solidFill>
                <a:latin typeface="Segoe UI"/>
              </a:defRPr>
            </a:pPr>
            <a:r>
              <a:t>&lt; 0.5ms</a:t>
            </a:r>
          </a:p>
          <a:p>
            <a:pPr>
              <a:defRPr sz="850" b="1">
                <a:solidFill>
                  <a:srgbClr val="0F172A"/>
                </a:solidFill>
                <a:latin typeface="Segoe UI"/>
              </a:defRPr>
            </a:pPr>
            <a:r>
              <a:t>ĐỘ TRỄ XỬ LÝ NGỮ NGHĨA TRÊN MÁY TÍNH THÔNG THƯỜNG</a:t>
            </a:r>
          </a:p>
        </p:txBody>
      </p:sp>
      <p:sp>
        <p:nvSpPr>
          <p:cNvPr id="18" name="TextBox 17"/>
          <p:cNvSpPr txBox="1"/>
          <p:nvPr/>
        </p:nvSpPr>
        <p:spPr>
          <a:xfrm>
            <a:off x="6385255" y="2898648"/>
            <a:ext cx="4892040"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Đọc hiểu viết tắt: </a:t>
            </a:r>
            <a:r>
              <a:rPr sz="900">
                <a:solidFill>
                  <a:srgbClr val="334155"/>
                </a:solidFill>
                <a:latin typeface="Segoe UI"/>
              </a:rPr>
              <a:t>Tinh chỉnh chuyên biệt trên 500.000 mẫu chuyển khoản tiếng Việt thực tế của ngân hàng nội địa.</a:t>
            </a:r>
          </a:p>
          <a:p>
            <a:pPr>
              <a:spcAft>
                <a:spcPts val="400"/>
              </a:spcAft>
            </a:pPr>
            <a:r>
              <a:rPr sz="950" b="1">
                <a:solidFill>
                  <a:srgbClr val="0F172A"/>
                </a:solidFill>
                <a:latin typeface="Segoe UI"/>
              </a:rPr>
              <a:t>• Vận hành siêu nhẹ: </a:t>
            </a:r>
            <a:r>
              <a:rPr sz="900">
                <a:solidFill>
                  <a:srgbClr val="334155"/>
                </a:solidFill>
                <a:latin typeface="Segoe UI"/>
              </a:rPr>
              <a:t>Chạy mượt mà trên máy tính văn phòng chỉ với 2GB RAM, hoàn toàn không cần cạc đồ họa đắt đỏ.</a:t>
            </a:r>
          </a:p>
          <a:p>
            <a:pPr>
              <a:spcAft>
                <a:spcPts val="400"/>
              </a:spcAft>
            </a:pPr>
            <a:r>
              <a:rPr sz="950" b="1">
                <a:solidFill>
                  <a:srgbClr val="0F172A"/>
                </a:solidFill>
                <a:latin typeface="Segoe UI"/>
              </a:rPr>
              <a:t>• Không rò rỉ dữ liệu: </a:t>
            </a:r>
            <a:r>
              <a:rPr sz="900">
                <a:solidFill>
                  <a:srgbClr val="334155"/>
                </a:solidFill>
                <a:latin typeface="Segoe UI"/>
              </a:rPr>
              <a:t>Mô hình được đóng gói chạy hoàn toàn tại chỗ (Offline), không kết nối Internet ra bên ngoài.</a:t>
            </a:r>
          </a:p>
          <a:p>
            <a:pPr>
              <a:spcAft>
                <a:spcPts val="400"/>
              </a:spcAft>
            </a:pPr>
            <a:r>
              <a:rPr sz="950" b="1">
                <a:solidFill>
                  <a:srgbClr val="0F172A"/>
                </a:solidFill>
                <a:latin typeface="Segoe UI"/>
              </a:rPr>
              <a:t>• Tối ưu hóa bản địa: </a:t>
            </a:r>
            <a:r>
              <a:rPr sz="900">
                <a:solidFill>
                  <a:srgbClr val="334155"/>
                </a:solidFill>
                <a:latin typeface="Segoe UI"/>
              </a:rPr>
              <a:t>Hiểu sâu sắc các cấu trúc câu giao dịch đặc thù và tên viết tắt đối tác kinh doanh tại Việt Nam.</a:t>
            </a:r>
          </a:p>
        </p:txBody>
      </p:sp>
      <p:cxnSp>
        <p:nvCxnSpPr>
          <p:cNvPr id="19" name="Connector 18"/>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1" name="TextBox 20"/>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08 / 27 • INNOSTART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DF4"/>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0B981"/>
                </a:solidFill>
                <a:latin typeface="Segoe UI"/>
              </a:defRPr>
            </a:pPr>
            <a:r>
              <a:t>VÒNG 1 • THỰC NGHIỆM ĐO KIỂM • KẾT QUẢ PHÒNG LAB</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KẾT QUẢ ĐO KIỂM PHÒNG LAB: 19 GIÂY / 50.000 DÒNG &amp; 0% ẢO GIÁC SỐ HỌC</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Kiểm thử hiệu năng thực tế trên máy tính văn phòng thông thường chứng minh tính khả thi vượt trội.</a:t>
            </a:r>
          </a:p>
        </p:txBody>
      </p:sp>
      <p:sp>
        <p:nvSpPr>
          <p:cNvPr id="9" name="Rounded Rectangle 8"/>
          <p:cNvSpPr/>
          <p:nvPr/>
        </p:nvSpPr>
        <p:spPr>
          <a:xfrm>
            <a:off x="731520" y="1508760"/>
            <a:ext cx="3840480" cy="142036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508760"/>
            <a:ext cx="73152" cy="142036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1600200"/>
            <a:ext cx="2011680" cy="1237488"/>
          </a:xfrm>
          <a:prstGeom prst="rect">
            <a:avLst/>
          </a:prstGeom>
          <a:noFill/>
        </p:spPr>
        <p:txBody>
          <a:bodyPr wrap="square" lIns="0" tIns="0" rIns="0" bIns="0">
            <a:spAutoFit/>
          </a:bodyPr>
          <a:lstStyle/>
          <a:p>
            <a:pPr>
              <a:defRPr sz="2800" b="1">
                <a:solidFill>
                  <a:srgbClr val="1E3A8A"/>
                </a:solidFill>
                <a:latin typeface="Segoe UI"/>
              </a:defRPr>
            </a:pPr>
            <a:r>
              <a:t>19 Giây</a:t>
            </a:r>
          </a:p>
        </p:txBody>
      </p:sp>
      <p:sp>
        <p:nvSpPr>
          <p:cNvPr id="12" name="TextBox 11"/>
          <p:cNvSpPr txBox="1"/>
          <p:nvPr/>
        </p:nvSpPr>
        <p:spPr>
          <a:xfrm>
            <a:off x="3063240" y="1600200"/>
            <a:ext cx="1325880" cy="1237488"/>
          </a:xfrm>
          <a:prstGeom prst="rect">
            <a:avLst/>
          </a:prstGeom>
          <a:noFill/>
        </p:spPr>
        <p:txBody>
          <a:bodyPr wrap="square" lIns="0" tIns="0" rIns="0" bIns="0">
            <a:spAutoFit/>
          </a:bodyPr>
          <a:lstStyle/>
          <a:p>
            <a:pPr>
              <a:spcAft>
                <a:spcPts val="200"/>
              </a:spcAft>
              <a:defRPr sz="1000" b="1">
                <a:solidFill>
                  <a:srgbClr val="0F172A"/>
                </a:solidFill>
                <a:latin typeface="Segoe UI"/>
              </a:defRPr>
            </a:pPr>
            <a:r>
              <a:t>TỐC ĐỘ 50.000 DÒNG</a:t>
            </a:r>
          </a:p>
          <a:p>
            <a:pPr>
              <a:defRPr sz="919">
                <a:solidFill>
                  <a:srgbClr val="334155"/>
                </a:solidFill>
                <a:latin typeface="Segoe UI"/>
              </a:defRPr>
            </a:pPr>
            <a:r>
              <a:t>Thời gian bóc tách và đối soát hoàn tất 50.000 dòng giao dịch sao kê ngân hàng.</a:t>
            </a:r>
          </a:p>
        </p:txBody>
      </p:sp>
      <p:sp>
        <p:nvSpPr>
          <p:cNvPr id="13" name="Rounded Rectangle 12"/>
          <p:cNvSpPr/>
          <p:nvPr/>
        </p:nvSpPr>
        <p:spPr>
          <a:xfrm>
            <a:off x="731520" y="3038856"/>
            <a:ext cx="3840480" cy="142036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038856"/>
            <a:ext cx="73152" cy="142036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130296"/>
            <a:ext cx="2011680" cy="1237488"/>
          </a:xfrm>
          <a:prstGeom prst="rect">
            <a:avLst/>
          </a:prstGeom>
          <a:noFill/>
        </p:spPr>
        <p:txBody>
          <a:bodyPr wrap="square" lIns="0" tIns="0" rIns="0" bIns="0">
            <a:spAutoFit/>
          </a:bodyPr>
          <a:lstStyle/>
          <a:p>
            <a:pPr>
              <a:defRPr sz="2800" b="1">
                <a:solidFill>
                  <a:srgbClr val="0284C7"/>
                </a:solidFill>
                <a:latin typeface="Segoe UI"/>
              </a:defRPr>
            </a:pPr>
            <a:r>
              <a:t>&lt; 2.0 GB</a:t>
            </a:r>
          </a:p>
        </p:txBody>
      </p:sp>
      <p:sp>
        <p:nvSpPr>
          <p:cNvPr id="16" name="TextBox 15"/>
          <p:cNvSpPr txBox="1"/>
          <p:nvPr/>
        </p:nvSpPr>
        <p:spPr>
          <a:xfrm>
            <a:off x="3063240" y="3130296"/>
            <a:ext cx="1325880" cy="1237488"/>
          </a:xfrm>
          <a:prstGeom prst="rect">
            <a:avLst/>
          </a:prstGeom>
          <a:noFill/>
        </p:spPr>
        <p:txBody>
          <a:bodyPr wrap="square" lIns="0" tIns="0" rIns="0" bIns="0">
            <a:spAutoFit/>
          </a:bodyPr>
          <a:lstStyle/>
          <a:p>
            <a:pPr>
              <a:spcAft>
                <a:spcPts val="200"/>
              </a:spcAft>
              <a:defRPr sz="1000" b="1">
                <a:solidFill>
                  <a:srgbClr val="0F172A"/>
                </a:solidFill>
                <a:latin typeface="Segoe UI"/>
              </a:defRPr>
            </a:pPr>
            <a:r>
              <a:t>BỘ NHỚ TIÊU THỤ</a:t>
            </a:r>
          </a:p>
          <a:p>
            <a:pPr>
              <a:defRPr sz="919">
                <a:solidFill>
                  <a:srgbClr val="334155"/>
                </a:solidFill>
                <a:latin typeface="Segoe UI"/>
              </a:defRPr>
            </a:pPr>
            <a:r>
              <a:t>Dung lượng bộ nhớ RAM tiêu thụ khi vận hành toàn bộ mô hình và động cơ tại chỗ.</a:t>
            </a:r>
          </a:p>
        </p:txBody>
      </p:sp>
      <p:sp>
        <p:nvSpPr>
          <p:cNvPr id="17" name="Rounded Rectangle 16"/>
          <p:cNvSpPr/>
          <p:nvPr/>
        </p:nvSpPr>
        <p:spPr>
          <a:xfrm>
            <a:off x="731520" y="4568952"/>
            <a:ext cx="3840480" cy="142036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4568952"/>
            <a:ext cx="73152" cy="142036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4660392"/>
            <a:ext cx="2011680" cy="1237488"/>
          </a:xfrm>
          <a:prstGeom prst="rect">
            <a:avLst/>
          </a:prstGeom>
          <a:noFill/>
        </p:spPr>
        <p:txBody>
          <a:bodyPr wrap="square" lIns="0" tIns="0" rIns="0" bIns="0">
            <a:spAutoFit/>
          </a:bodyPr>
          <a:lstStyle/>
          <a:p>
            <a:pPr>
              <a:defRPr sz="2800" b="1">
                <a:solidFill>
                  <a:srgbClr val="10B981"/>
                </a:solidFill>
                <a:latin typeface="Segoe UI"/>
              </a:defRPr>
            </a:pPr>
            <a:r>
              <a:t>0%</a:t>
            </a:r>
          </a:p>
        </p:txBody>
      </p:sp>
      <p:sp>
        <p:nvSpPr>
          <p:cNvPr id="20" name="TextBox 19"/>
          <p:cNvSpPr txBox="1"/>
          <p:nvPr/>
        </p:nvSpPr>
        <p:spPr>
          <a:xfrm>
            <a:off x="3063240" y="4660392"/>
            <a:ext cx="1325880" cy="1237488"/>
          </a:xfrm>
          <a:prstGeom prst="rect">
            <a:avLst/>
          </a:prstGeom>
          <a:noFill/>
        </p:spPr>
        <p:txBody>
          <a:bodyPr wrap="square" lIns="0" tIns="0" rIns="0" bIns="0">
            <a:spAutoFit/>
          </a:bodyPr>
          <a:lstStyle/>
          <a:p>
            <a:pPr>
              <a:spcAft>
                <a:spcPts val="200"/>
              </a:spcAft>
              <a:defRPr sz="1000" b="1">
                <a:solidFill>
                  <a:srgbClr val="0F172A"/>
                </a:solidFill>
                <a:latin typeface="Segoe UI"/>
              </a:defRPr>
            </a:pPr>
            <a:r>
              <a:t>ẢO GIÁC SỐ HỌC</a:t>
            </a:r>
          </a:p>
          <a:p>
            <a:pPr>
              <a:defRPr sz="919">
                <a:solidFill>
                  <a:srgbClr val="334155"/>
                </a:solidFill>
                <a:latin typeface="Segoe UI"/>
              </a:defRPr>
            </a:pPr>
            <a:r>
              <a:t>Tỷ lệ ảo giác số học trong suốt quá trình xử lý và đối chiếu dữ liệu kế toán.</a:t>
            </a:r>
          </a:p>
        </p:txBody>
      </p:sp>
      <p:sp>
        <p:nvSpPr>
          <p:cNvPr id="21" name="Rounded Rectangle 20"/>
          <p:cNvSpPr/>
          <p:nvPr/>
        </p:nvSpPr>
        <p:spPr>
          <a:xfrm>
            <a:off x="4754880" y="1508760"/>
            <a:ext cx="6705295" cy="21717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3776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PHƯƠNG PHÁP</a:t>
            </a:r>
          </a:p>
        </p:txBody>
      </p:sp>
      <p:sp>
        <p:nvSpPr>
          <p:cNvPr id="23" name="TextBox 22"/>
          <p:cNvSpPr txBox="1"/>
          <p:nvPr/>
        </p:nvSpPr>
        <p:spPr>
          <a:xfrm>
            <a:off x="5486400" y="1673352"/>
            <a:ext cx="5836615" cy="530352"/>
          </a:xfrm>
          <a:prstGeom prst="rect">
            <a:avLst/>
          </a:prstGeom>
          <a:noFill/>
        </p:spPr>
        <p:txBody>
          <a:bodyPr wrap="square" lIns="0" tIns="0" rIns="0" bIns="0">
            <a:spAutoFit/>
          </a:bodyPr>
          <a:lstStyle/>
          <a:p>
            <a:pPr>
              <a:defRPr sz="1150" b="1">
                <a:solidFill>
                  <a:srgbClr val="0F172A"/>
                </a:solidFill>
                <a:latin typeface="Segoe UI"/>
              </a:defRPr>
            </a:pPr>
            <a:r>
              <a:t>Phương Pháp Luận Đo Kiểm Thực Tế</a:t>
            </a:r>
          </a:p>
        </p:txBody>
      </p:sp>
      <p:sp>
        <p:nvSpPr>
          <p:cNvPr id="24" name="TextBox 23"/>
          <p:cNvSpPr txBox="1"/>
          <p:nvPr/>
        </p:nvSpPr>
        <p:spPr>
          <a:xfrm>
            <a:off x="4937760" y="2240280"/>
            <a:ext cx="6339535" cy="1303020"/>
          </a:xfrm>
          <a:prstGeom prst="rect">
            <a:avLst/>
          </a:prstGeom>
          <a:noFill/>
        </p:spPr>
        <p:txBody>
          <a:bodyPr wrap="square" lIns="0" tIns="0" rIns="0" bIns="0">
            <a:spAutoFit/>
          </a:bodyPr>
          <a:lstStyle/>
          <a:p>
            <a:pPr>
              <a:spcAft>
                <a:spcPts val="400"/>
              </a:spcAft>
            </a:pPr>
            <a:r>
              <a:rPr sz="950" b="1">
                <a:solidFill>
                  <a:srgbClr val="0F172A"/>
                </a:solidFill>
                <a:latin typeface="Segoe UI"/>
              </a:rPr>
              <a:t>• Tập dữ liệu thử nghiệm: </a:t>
            </a:r>
            <a:r>
              <a:rPr sz="900">
                <a:solidFill>
                  <a:srgbClr val="334155"/>
                </a:solidFill>
                <a:latin typeface="Segoe UI"/>
              </a:rPr>
              <a:t>Sử dụng bộ dữ liệu tổng hợp mô phỏng 50.000 giao dịch thực tế từ 15 ngân hàng thương mại lớn.</a:t>
            </a:r>
          </a:p>
          <a:p>
            <a:pPr>
              <a:spcAft>
                <a:spcPts val="400"/>
              </a:spcAft>
            </a:pPr>
            <a:r>
              <a:rPr sz="950" b="1">
                <a:solidFill>
                  <a:srgbClr val="0F172A"/>
                </a:solidFill>
                <a:latin typeface="Segoe UI"/>
              </a:rPr>
              <a:t>• Phần cứng văn phòng: </a:t>
            </a:r>
            <a:r>
              <a:rPr sz="900">
                <a:solidFill>
                  <a:srgbClr val="334155"/>
                </a:solidFill>
                <a:latin typeface="Segoe UI"/>
              </a:rPr>
              <a:t>Thử nghiệm trên máy tính để bàn tiêu chuẩn (Chip Intel Core i5, RAM 8GB), không có cạc đồ họa rời.</a:t>
            </a:r>
          </a:p>
          <a:p>
            <a:pPr>
              <a:spcAft>
                <a:spcPts val="400"/>
              </a:spcAft>
            </a:pPr>
            <a:r>
              <a:rPr sz="950" b="1">
                <a:solidFill>
                  <a:srgbClr val="0F172A"/>
                </a:solidFill>
                <a:latin typeface="Segoe UI"/>
              </a:rPr>
              <a:t>• Kiểm tra sức chịu tải: </a:t>
            </a:r>
            <a:r>
              <a:rPr sz="900">
                <a:solidFill>
                  <a:srgbClr val="334155"/>
                </a:solidFill>
                <a:latin typeface="Segoe UI"/>
              </a:rPr>
              <a:t>Hệ thống vận hành liên tục ổn định, bộ nhớ giải phóng sạch sẽ ngay sau khi hoàn thành chu kỳ tính toán.</a:t>
            </a:r>
          </a:p>
        </p:txBody>
      </p:sp>
      <p:sp>
        <p:nvSpPr>
          <p:cNvPr id="25" name="Rounded Rectangle 24"/>
          <p:cNvSpPr/>
          <p:nvPr/>
        </p:nvSpPr>
        <p:spPr>
          <a:xfrm>
            <a:off x="4754880" y="3817620"/>
            <a:ext cx="6705295" cy="21717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937760" y="4000500"/>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SO SÁNH</a:t>
            </a:r>
          </a:p>
        </p:txBody>
      </p:sp>
      <p:sp>
        <p:nvSpPr>
          <p:cNvPr id="27" name="TextBox 26"/>
          <p:cNvSpPr txBox="1"/>
          <p:nvPr/>
        </p:nvSpPr>
        <p:spPr>
          <a:xfrm>
            <a:off x="5486400" y="3982212"/>
            <a:ext cx="5836615" cy="530352"/>
          </a:xfrm>
          <a:prstGeom prst="rect">
            <a:avLst/>
          </a:prstGeom>
          <a:noFill/>
        </p:spPr>
        <p:txBody>
          <a:bodyPr wrap="square" lIns="0" tIns="0" rIns="0" bIns="0">
            <a:spAutoFit/>
          </a:bodyPr>
          <a:lstStyle/>
          <a:p>
            <a:pPr>
              <a:defRPr sz="1150" b="1">
                <a:solidFill>
                  <a:srgbClr val="0F172A"/>
                </a:solidFill>
                <a:latin typeface="Segoe UI"/>
              </a:defRPr>
            </a:pPr>
            <a:r>
              <a:t>Hiệu Quả Vượt Trội So Với Thủ Công</a:t>
            </a:r>
          </a:p>
        </p:txBody>
      </p:sp>
      <p:sp>
        <p:nvSpPr>
          <p:cNvPr id="28" name="TextBox 27"/>
          <p:cNvSpPr txBox="1"/>
          <p:nvPr/>
        </p:nvSpPr>
        <p:spPr>
          <a:xfrm>
            <a:off x="4937760" y="4549140"/>
            <a:ext cx="6339535" cy="1303020"/>
          </a:xfrm>
          <a:prstGeom prst="rect">
            <a:avLst/>
          </a:prstGeom>
          <a:noFill/>
        </p:spPr>
        <p:txBody>
          <a:bodyPr wrap="square" lIns="0" tIns="0" rIns="0" bIns="0">
            <a:spAutoFit/>
          </a:bodyPr>
          <a:lstStyle/>
          <a:p>
            <a:pPr>
              <a:spcAft>
                <a:spcPts val="400"/>
              </a:spcAft>
            </a:pPr>
            <a:r>
              <a:rPr sz="950" b="1">
                <a:solidFill>
                  <a:srgbClr val="0F172A"/>
                </a:solidFill>
                <a:latin typeface="Segoe UI"/>
              </a:rPr>
              <a:t>• Nhanh gấp 450 lần: </a:t>
            </a:r>
            <a:r>
              <a:rPr sz="900">
                <a:solidFill>
                  <a:srgbClr val="334155"/>
                </a:solidFill>
                <a:latin typeface="Segoe UI"/>
              </a:rPr>
              <a:t>Rút ngắn thời gian xử lý từ 2.5 giờ lao động căng thẳng xuống chỉ còn đúng 19 giây máy chạy.</a:t>
            </a:r>
          </a:p>
          <a:p>
            <a:pPr>
              <a:spcAft>
                <a:spcPts val="400"/>
              </a:spcAft>
            </a:pPr>
            <a:r>
              <a:rPr sz="950" b="1">
                <a:solidFill>
                  <a:srgbClr val="0F172A"/>
                </a:solidFill>
                <a:latin typeface="Segoe UI"/>
              </a:rPr>
              <a:t>• Loại bỏ 100% lỗi con người: </a:t>
            </a:r>
            <a:r>
              <a:rPr sz="900">
                <a:solidFill>
                  <a:srgbClr val="334155"/>
                </a:solidFill>
                <a:latin typeface="Segoe UI"/>
              </a:rPr>
              <a:t>Không còn nguy cơ nhập sai số liệu, nhầm lẫn mã đối tác hoặc bỏ sót các khoản phí ngân hàng nhỏ.</a:t>
            </a:r>
          </a:p>
          <a:p>
            <a:pPr>
              <a:spcAft>
                <a:spcPts val="400"/>
              </a:spcAft>
            </a:pPr>
            <a:r>
              <a:rPr sz="950" b="1">
                <a:solidFill>
                  <a:srgbClr val="0F172A"/>
                </a:solidFill>
                <a:latin typeface="Segoe UI"/>
              </a:rPr>
              <a:t>• Tiết kiệm chi phí vận hành: </a:t>
            </a:r>
            <a:r>
              <a:rPr sz="900">
                <a:solidFill>
                  <a:srgbClr val="334155"/>
                </a:solidFill>
                <a:latin typeface="Segoe UI"/>
              </a:rPr>
              <a:t>Giảm hơn 85% chi phí nhân sự và thời gian phát sinh cho công tác đối chiếu sổ sách định kỳ.</a:t>
            </a:r>
          </a:p>
        </p:txBody>
      </p:sp>
      <p:cxnSp>
        <p:nvCxnSpPr>
          <p:cNvPr id="29" name="Connector 28"/>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31" name="TextBox 30"/>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09 / 27 • INNOSTART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1 • MÔ HÌNH KINH DOANH • NGUỒN DOANH THU KÉP</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MÔ HÌNH KINH DOANH: B2B SAAS TẠI CHỖ &amp; CẤP PHÉP BẢN QUYỀN NGÂN HÀNG</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Kết hợp hài hòa giữa dòng tiền định kỳ ổn định từ doanh nghiệp và giá trị hợp đồng lớn từ ngân hàng.</a:t>
            </a:r>
          </a:p>
        </p:txBody>
      </p:sp>
      <p:sp>
        <p:nvSpPr>
          <p:cNvPr id="9" name="Rounded Rectangle 8"/>
          <p:cNvSpPr/>
          <p:nvPr/>
        </p:nvSpPr>
        <p:spPr>
          <a:xfrm>
            <a:off x="731520" y="1508760"/>
            <a:ext cx="5257800"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KÊNH 1</a:t>
            </a:r>
          </a:p>
        </p:txBody>
      </p:sp>
      <p:sp>
        <p:nvSpPr>
          <p:cNvPr id="11" name="TextBox 10"/>
          <p:cNvSpPr txBox="1"/>
          <p:nvPr/>
        </p:nvSpPr>
        <p:spPr>
          <a:xfrm>
            <a:off x="1463040" y="1673352"/>
            <a:ext cx="4389120" cy="530352"/>
          </a:xfrm>
          <a:prstGeom prst="rect">
            <a:avLst/>
          </a:prstGeom>
          <a:noFill/>
        </p:spPr>
        <p:txBody>
          <a:bodyPr wrap="square" lIns="0" tIns="0" rIns="0" bIns="0">
            <a:spAutoFit/>
          </a:bodyPr>
          <a:lstStyle/>
          <a:p>
            <a:pPr>
              <a:defRPr sz="1150" b="1">
                <a:solidFill>
                  <a:srgbClr val="0F172A"/>
                </a:solidFill>
                <a:latin typeface="Segoe UI"/>
              </a:defRPr>
            </a:pPr>
            <a:r>
              <a:t>KÊNH 1: THUÊ BAO B2B SAAS DOANH NGHIỆP</a:t>
            </a:r>
          </a:p>
        </p:txBody>
      </p:sp>
      <p:sp>
        <p:nvSpPr>
          <p:cNvPr id="12" name="TextBox 11"/>
          <p:cNvSpPr txBox="1"/>
          <p:nvPr/>
        </p:nvSpPr>
        <p:spPr>
          <a:xfrm>
            <a:off x="914400" y="2240280"/>
            <a:ext cx="4892040" cy="621792"/>
          </a:xfrm>
          <a:prstGeom prst="rect">
            <a:avLst/>
          </a:prstGeom>
          <a:noFill/>
        </p:spPr>
        <p:txBody>
          <a:bodyPr wrap="square" lIns="0" tIns="0" rIns="0" bIns="0">
            <a:spAutoFit/>
          </a:bodyPr>
          <a:lstStyle/>
          <a:p>
            <a:pPr>
              <a:defRPr sz="2600" b="1">
                <a:solidFill>
                  <a:srgbClr val="1E3A8A"/>
                </a:solidFill>
                <a:latin typeface="Segoe UI"/>
              </a:defRPr>
            </a:pPr>
            <a:r>
              <a:t>$3k - $10k</a:t>
            </a:r>
          </a:p>
          <a:p>
            <a:pPr>
              <a:defRPr sz="850" b="1">
                <a:solidFill>
                  <a:srgbClr val="0F172A"/>
                </a:solidFill>
                <a:latin typeface="Segoe UI"/>
              </a:defRPr>
            </a:pPr>
            <a:r>
              <a:t>DOANH THU BÌNH QUÂN MỖI KHÁCH HÀNG / NĂM (ACV)</a:t>
            </a:r>
          </a:p>
        </p:txBody>
      </p:sp>
      <p:sp>
        <p:nvSpPr>
          <p:cNvPr id="13" name="TextBox 12"/>
          <p:cNvSpPr txBox="1"/>
          <p:nvPr/>
        </p:nvSpPr>
        <p:spPr>
          <a:xfrm>
            <a:off x="914400" y="2898648"/>
            <a:ext cx="4892040"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Gói Tiêu Chuẩn ($250/tháng): </a:t>
            </a:r>
            <a:r>
              <a:rPr sz="900">
                <a:solidFill>
                  <a:srgbClr val="334155"/>
                </a:solidFill>
                <a:latin typeface="Segoe UI"/>
              </a:rPr>
              <a:t>Dành cho doanh nghiệp quản lý dưới 5 tài khoản ngân hàng và 3.000 giao dịch mỗi tháng.</a:t>
            </a:r>
          </a:p>
          <a:p>
            <a:pPr>
              <a:spcAft>
                <a:spcPts val="400"/>
              </a:spcAft>
            </a:pPr>
            <a:r>
              <a:rPr sz="950" b="1">
                <a:solidFill>
                  <a:srgbClr val="0F172A"/>
                </a:solidFill>
                <a:latin typeface="Segoe UI"/>
              </a:rPr>
              <a:t>• Gói Chuyên Nghiệp ($500/tháng): </a:t>
            </a:r>
            <a:r>
              <a:rPr sz="900">
                <a:solidFill>
                  <a:srgbClr val="334155"/>
                </a:solidFill>
                <a:latin typeface="Segoe UI"/>
              </a:rPr>
              <a:t>Hỗ trợ tối đa 15 tài khoản, tính năng tháp canh dòng tiền 48 giờ và tích hợp ERP tự động.</a:t>
            </a:r>
          </a:p>
          <a:p>
            <a:pPr>
              <a:spcAft>
                <a:spcPts val="400"/>
              </a:spcAft>
            </a:pPr>
            <a:r>
              <a:rPr sz="950" b="1">
                <a:solidFill>
                  <a:srgbClr val="0F172A"/>
                </a:solidFill>
                <a:latin typeface="Segoe UI"/>
              </a:rPr>
              <a:t>• Gói Doanh Nghiệp Lớn ($850/tháng): </a:t>
            </a:r>
            <a:r>
              <a:rPr sz="900">
                <a:solidFill>
                  <a:srgbClr val="334155"/>
                </a:solidFill>
                <a:latin typeface="Segoe UI"/>
              </a:rPr>
              <a:t>Không giới hạn tài khoản, tích hợp sâu vào hệ thống kế toán nội bộ và hỗ trợ kỹ thuật 24/7.</a:t>
            </a:r>
          </a:p>
          <a:p>
            <a:pPr>
              <a:spcAft>
                <a:spcPts val="400"/>
              </a:spcAft>
            </a:pPr>
            <a:r>
              <a:rPr sz="950" b="1">
                <a:solidFill>
                  <a:srgbClr val="0F172A"/>
                </a:solidFill>
                <a:latin typeface="Segoe UI"/>
              </a:rPr>
              <a:t>• Mô hình giá trị bền vững: </a:t>
            </a:r>
            <a:r>
              <a:rPr sz="900">
                <a:solidFill>
                  <a:srgbClr val="334155"/>
                </a:solidFill>
                <a:latin typeface="Segoe UI"/>
              </a:rPr>
              <a:t>Thu phí theo năm, cam kết không phát sinh chi phí máy chủ đám mây biên cho khách hàng.</a:t>
            </a:r>
          </a:p>
        </p:txBody>
      </p:sp>
      <p:sp>
        <p:nvSpPr>
          <p:cNvPr id="14" name="Rounded Rectangle 13"/>
          <p:cNvSpPr/>
          <p:nvPr/>
        </p:nvSpPr>
        <p:spPr>
          <a:xfrm>
            <a:off x="6202375" y="1508760"/>
            <a:ext cx="5257800"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85255" y="1691640"/>
            <a:ext cx="475488" cy="47548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KÊNH 2</a:t>
            </a:r>
          </a:p>
        </p:txBody>
      </p:sp>
      <p:sp>
        <p:nvSpPr>
          <p:cNvPr id="16" name="TextBox 15"/>
          <p:cNvSpPr txBox="1"/>
          <p:nvPr/>
        </p:nvSpPr>
        <p:spPr>
          <a:xfrm>
            <a:off x="6933895" y="1673352"/>
            <a:ext cx="4389120" cy="530352"/>
          </a:xfrm>
          <a:prstGeom prst="rect">
            <a:avLst/>
          </a:prstGeom>
          <a:noFill/>
        </p:spPr>
        <p:txBody>
          <a:bodyPr wrap="square" lIns="0" tIns="0" rIns="0" bIns="0">
            <a:spAutoFit/>
          </a:bodyPr>
          <a:lstStyle/>
          <a:p>
            <a:pPr>
              <a:defRPr sz="1150" b="1">
                <a:solidFill>
                  <a:srgbClr val="0F172A"/>
                </a:solidFill>
                <a:latin typeface="Segoe UI"/>
              </a:defRPr>
            </a:pPr>
            <a:r>
              <a:t>KÊNH 2: CẤP PHÉP BẢN QUYỀN NGÂN HÀNG (WHITE-LABEL)</a:t>
            </a:r>
          </a:p>
        </p:txBody>
      </p:sp>
      <p:sp>
        <p:nvSpPr>
          <p:cNvPr id="17" name="TextBox 16"/>
          <p:cNvSpPr txBox="1"/>
          <p:nvPr/>
        </p:nvSpPr>
        <p:spPr>
          <a:xfrm>
            <a:off x="6385255" y="2240280"/>
            <a:ext cx="4892040" cy="621792"/>
          </a:xfrm>
          <a:prstGeom prst="rect">
            <a:avLst/>
          </a:prstGeom>
          <a:noFill/>
        </p:spPr>
        <p:txBody>
          <a:bodyPr wrap="square" lIns="0" tIns="0" rIns="0" bIns="0">
            <a:spAutoFit/>
          </a:bodyPr>
          <a:lstStyle/>
          <a:p>
            <a:pPr>
              <a:defRPr sz="2600" b="1">
                <a:solidFill>
                  <a:srgbClr val="0284C7"/>
                </a:solidFill>
                <a:latin typeface="Segoe UI"/>
              </a:defRPr>
            </a:pPr>
            <a:r>
              <a:t>$50k - $150k</a:t>
            </a:r>
          </a:p>
          <a:p>
            <a:pPr>
              <a:defRPr sz="850" b="1">
                <a:solidFill>
                  <a:srgbClr val="0F172A"/>
                </a:solidFill>
                <a:latin typeface="Segoe UI"/>
              </a:defRPr>
            </a:pPr>
            <a:r>
              <a:t>GIÁ TRỊ MỖI HỢP ĐỒNG BẢN QUYỀN NGÂN HÀNG / NĂM</a:t>
            </a:r>
          </a:p>
        </p:txBody>
      </p:sp>
      <p:sp>
        <p:nvSpPr>
          <p:cNvPr id="18" name="TextBox 17"/>
          <p:cNvSpPr txBox="1"/>
          <p:nvPr/>
        </p:nvSpPr>
        <p:spPr>
          <a:xfrm>
            <a:off x="6385255" y="2898648"/>
            <a:ext cx="4892040"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Tích hợp Internet Banking: </a:t>
            </a:r>
            <a:r>
              <a:rPr sz="900">
                <a:solidFill>
                  <a:srgbClr val="334155"/>
                </a:solidFill>
                <a:latin typeface="Segoe UI"/>
              </a:rPr>
              <a:t>Ngân hàng mua bản quyền LIVA để cung cấp giải pháp giá trị gia tăng cho khách hàng doanh nghiệp tổ chức.</a:t>
            </a:r>
          </a:p>
          <a:p>
            <a:pPr>
              <a:spcAft>
                <a:spcPts val="400"/>
              </a:spcAft>
            </a:pPr>
            <a:r>
              <a:rPr sz="950" b="1">
                <a:solidFill>
                  <a:srgbClr val="0F172A"/>
                </a:solidFill>
                <a:latin typeface="Segoe UI"/>
              </a:rPr>
              <a:t>• Gia tăng số dư CASA: </a:t>
            </a:r>
            <a:r>
              <a:rPr sz="900">
                <a:solidFill>
                  <a:srgbClr val="334155"/>
                </a:solidFill>
                <a:latin typeface="Segoe UI"/>
              </a:rPr>
              <a:t>Giúp ngân hàng giữ chân dòng tiền và thu hút thêm hàng ngàn tài khoản tiền gửi không kỳ hạn.</a:t>
            </a:r>
          </a:p>
          <a:p>
            <a:pPr>
              <a:spcAft>
                <a:spcPts val="400"/>
              </a:spcAft>
            </a:pPr>
            <a:r>
              <a:rPr sz="950" b="1">
                <a:solidFill>
                  <a:srgbClr val="0F172A"/>
                </a:solidFill>
                <a:latin typeface="Segoe UI"/>
              </a:rPr>
              <a:t>• Phí duy trì thường niên: </a:t>
            </a:r>
            <a:r>
              <a:rPr sz="900">
                <a:solidFill>
                  <a:srgbClr val="334155"/>
                </a:solidFill>
                <a:latin typeface="Segoe UI"/>
              </a:rPr>
              <a:t>Thu phí bảo trì và nâng cấp thuật toán định kỳ 20% trên giá trị hợp đồng hàng năm.</a:t>
            </a:r>
          </a:p>
          <a:p>
            <a:pPr>
              <a:spcAft>
                <a:spcPts val="400"/>
              </a:spcAft>
            </a:pPr>
            <a:r>
              <a:rPr sz="950" b="1">
                <a:solidFill>
                  <a:srgbClr val="0F172A"/>
                </a:solidFill>
                <a:latin typeface="Segoe UI"/>
              </a:rPr>
              <a:t>• Quan hệ cộng sinh: </a:t>
            </a:r>
            <a:r>
              <a:rPr sz="900">
                <a:solidFill>
                  <a:srgbClr val="334155"/>
                </a:solidFill>
                <a:latin typeface="Segoe UI"/>
              </a:rPr>
              <a:t>Ngân hàng đóng vai trò kênh bảo chứng và phân phối trực tiếp giải pháp tới khách hàng.</a:t>
            </a:r>
          </a:p>
        </p:txBody>
      </p:sp>
      <p:cxnSp>
        <p:nvCxnSpPr>
          <p:cNvPr id="19" name="Connector 18"/>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1" name="TextBox 20"/>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10 / 27 • INNOSTART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0284C7"/>
                </a:solidFill>
                <a:latin typeface="Segoe UI"/>
              </a:defRPr>
            </a:pPr>
            <a:r>
              <a:t>VÒNG 1 • TIẾP CẬN THỊ TRƯỜNG • GTM FLYWHEEL</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CHIẾN LƯỢC TIẾP CẬN THỊ TRƯỜNG: MẠNG LƯỚI ĐẠI LÝ ERP &amp; CFO SUMMIT</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Tận dụng các kênh phân phối sẵn có để rút ngắn chu kỳ bán hàng và tối ưu hóa chi phí thu hút khách hàng.</a:t>
            </a:r>
          </a:p>
        </p:txBody>
      </p:sp>
      <p:sp>
        <p:nvSpPr>
          <p:cNvPr id="9" name="Chevron 8"/>
          <p:cNvSpPr/>
          <p:nvPr/>
        </p:nvSpPr>
        <p:spPr>
          <a:xfrm>
            <a:off x="731520" y="1508760"/>
            <a:ext cx="3527450" cy="438912"/>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FFFFF"/>
                </a:solidFill>
                <a:latin typeface="Segoe UI"/>
              </a:defRPr>
            </a:pPr>
            <a:r>
              <a:t>GIAI ĐOẠN 1</a:t>
            </a:r>
          </a:p>
        </p:txBody>
      </p:sp>
      <p:sp>
        <p:nvSpPr>
          <p:cNvPr id="10" name="Rounded Rectangle 9"/>
          <p:cNvSpPr/>
          <p:nvPr/>
        </p:nvSpPr>
        <p:spPr>
          <a:xfrm>
            <a:off x="731520" y="2039112"/>
            <a:ext cx="3527450" cy="39502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2167128"/>
            <a:ext cx="3271418" cy="3694176"/>
          </a:xfrm>
          <a:prstGeom prst="rect">
            <a:avLst/>
          </a:prstGeom>
          <a:noFill/>
        </p:spPr>
        <p:txBody>
          <a:bodyPr wrap="square" lIns="0" tIns="0" rIns="0" bIns="0">
            <a:spAutoFit/>
          </a:bodyPr>
          <a:lstStyle/>
          <a:p>
            <a:pPr>
              <a:spcAft>
                <a:spcPts val="400"/>
              </a:spcAft>
              <a:defRPr sz="1050" b="1">
                <a:solidFill>
                  <a:srgbClr val="0F172A"/>
                </a:solidFill>
                <a:latin typeface="Segoe UI"/>
              </a:defRPr>
            </a:pPr>
            <a:r>
              <a:t>Kênh Đại Lý Phần Mềm Kế Toán</a:t>
            </a:r>
          </a:p>
          <a:p>
            <a:pPr>
              <a:spcAft>
                <a:spcPts val="300"/>
              </a:spcAft>
            </a:pPr>
            <a:r>
              <a:rPr sz="880" b="1">
                <a:solidFill>
                  <a:srgbClr val="0F172A"/>
                </a:solidFill>
                <a:latin typeface="Segoe UI"/>
              </a:rPr>
              <a:t>• Hợp tác đại lý: </a:t>
            </a:r>
            <a:r>
              <a:rPr sz="850">
                <a:solidFill>
                  <a:srgbClr val="334155"/>
                </a:solidFill>
                <a:latin typeface="Segoe UI"/>
              </a:rPr>
              <a:t>Bắt tay với các đại lý triển khai MISA, FAST, Bravo để bán kèm LIVA như tiện ích mở rộng.</a:t>
            </a:r>
          </a:p>
          <a:p>
            <a:pPr>
              <a:spcAft>
                <a:spcPts val="300"/>
              </a:spcAft>
            </a:pPr>
            <a:r>
              <a:rPr sz="880" b="1">
                <a:solidFill>
                  <a:srgbClr val="0F172A"/>
                </a:solidFill>
                <a:latin typeface="Segoe UI"/>
              </a:rPr>
              <a:t>• Chia sẻ doanh thu: </a:t>
            </a:r>
            <a:r>
              <a:rPr sz="850">
                <a:solidFill>
                  <a:srgbClr val="334155"/>
                </a:solidFill>
                <a:latin typeface="Segoe UI"/>
              </a:rPr>
              <a:t>Chiết khấu 25% - 30% hoa hồng năm đầu để kích hoạt động lực giới thiệu khách hàng của đại lý.</a:t>
            </a:r>
          </a:p>
          <a:p>
            <a:pPr>
              <a:spcAft>
                <a:spcPts val="300"/>
              </a:spcAft>
            </a:pPr>
            <a:r>
              <a:rPr sz="880" b="1">
                <a:solidFill>
                  <a:srgbClr val="0F172A"/>
                </a:solidFill>
                <a:latin typeface="Segoe UI"/>
              </a:rPr>
              <a:t>• Tiếp cận nhanh: </a:t>
            </a:r>
            <a:r>
              <a:rPr sz="850">
                <a:solidFill>
                  <a:srgbClr val="334155"/>
                </a:solidFill>
                <a:latin typeface="Segoe UI"/>
              </a:rPr>
              <a:t>Tận dụng tệp hơn 100.000 doanh nghiệp đang dùng phần mềm kế toán sẵn có trên thị trường.</a:t>
            </a:r>
          </a:p>
        </p:txBody>
      </p:sp>
      <p:sp>
        <p:nvSpPr>
          <p:cNvPr id="12" name="Chevron 11"/>
          <p:cNvSpPr/>
          <p:nvPr/>
        </p:nvSpPr>
        <p:spPr>
          <a:xfrm>
            <a:off x="4332122" y="1508760"/>
            <a:ext cx="3527450" cy="43891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FFFFF"/>
                </a:solidFill>
                <a:latin typeface="Segoe UI"/>
              </a:defRPr>
            </a:pPr>
            <a:r>
              <a:t>GIAI ĐOẠN 2</a:t>
            </a:r>
          </a:p>
        </p:txBody>
      </p:sp>
      <p:sp>
        <p:nvSpPr>
          <p:cNvPr id="13" name="Rounded Rectangle 12"/>
          <p:cNvSpPr/>
          <p:nvPr/>
        </p:nvSpPr>
        <p:spPr>
          <a:xfrm>
            <a:off x="4332122" y="2039112"/>
            <a:ext cx="3527450" cy="39502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0138" y="2167128"/>
            <a:ext cx="3271418" cy="3694176"/>
          </a:xfrm>
          <a:prstGeom prst="rect">
            <a:avLst/>
          </a:prstGeom>
          <a:noFill/>
        </p:spPr>
        <p:txBody>
          <a:bodyPr wrap="square" lIns="0" tIns="0" rIns="0" bIns="0">
            <a:spAutoFit/>
          </a:bodyPr>
          <a:lstStyle/>
          <a:p>
            <a:pPr>
              <a:spcAft>
                <a:spcPts val="400"/>
              </a:spcAft>
              <a:defRPr sz="1050" b="1">
                <a:solidFill>
                  <a:srgbClr val="0F172A"/>
                </a:solidFill>
                <a:latin typeface="Segoe UI"/>
              </a:defRPr>
            </a:pPr>
            <a:r>
              <a:t>Chuỗi Hội Thảo CFO Summit</a:t>
            </a:r>
          </a:p>
          <a:p>
            <a:pPr>
              <a:spcAft>
                <a:spcPts val="300"/>
              </a:spcAft>
            </a:pPr>
            <a:r>
              <a:rPr sz="880" b="1">
                <a:solidFill>
                  <a:srgbClr val="0F172A"/>
                </a:solidFill>
                <a:latin typeface="Segoe UI"/>
              </a:rPr>
              <a:t>• Tổ chức hội thảo chuyên đề: </a:t>
            </a:r>
            <a:r>
              <a:rPr sz="850">
                <a:solidFill>
                  <a:srgbClr val="334155"/>
                </a:solidFill>
                <a:latin typeface="Segoe UI"/>
              </a:rPr>
              <a:t>Tài trợ và tổ chức các sự kiện chuyển đổi số tài chính dành riêng cho CFO và Kế toán trưởng.</a:t>
            </a:r>
          </a:p>
          <a:p>
            <a:pPr>
              <a:spcAft>
                <a:spcPts val="300"/>
              </a:spcAft>
            </a:pPr>
            <a:r>
              <a:rPr sz="880" b="1">
                <a:solidFill>
                  <a:srgbClr val="0F172A"/>
                </a:solidFill>
                <a:latin typeface="Segoe UI"/>
              </a:rPr>
              <a:t>• Chương trình dùng thử 30 ngày: </a:t>
            </a:r>
            <a:r>
              <a:rPr sz="850">
                <a:solidFill>
                  <a:srgbClr val="334155"/>
                </a:solidFill>
                <a:latin typeface="Segoe UI"/>
              </a:rPr>
              <a:t>Cung cấp bản dùng thử miễn phí trực tiếp trên dữ liệu sao kê của chính doanh nghiệp tham gia.</a:t>
            </a:r>
          </a:p>
          <a:p>
            <a:pPr>
              <a:spcAft>
                <a:spcPts val="300"/>
              </a:spcAft>
            </a:pPr>
            <a:r>
              <a:rPr sz="880" b="1">
                <a:solidFill>
                  <a:srgbClr val="0F172A"/>
                </a:solidFill>
                <a:latin typeface="Segoe UI"/>
              </a:rPr>
              <a:t>• Tỷ lệ chuyển đổi cao: </a:t>
            </a:r>
            <a:r>
              <a:rPr sz="850">
                <a:solidFill>
                  <a:srgbClr val="334155"/>
                </a:solidFill>
                <a:latin typeface="Segoe UI"/>
              </a:rPr>
              <a:t>Kỳ vọng đạt tỷ lệ chuyển đổi trên 35% từ người dùng thử sang hợp đồng thuê bao trả phí.</a:t>
            </a:r>
          </a:p>
        </p:txBody>
      </p:sp>
      <p:sp>
        <p:nvSpPr>
          <p:cNvPr id="15" name="Chevron 14"/>
          <p:cNvSpPr/>
          <p:nvPr/>
        </p:nvSpPr>
        <p:spPr>
          <a:xfrm>
            <a:off x="7932724" y="1508760"/>
            <a:ext cx="3527450" cy="438912"/>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FFFFF"/>
                </a:solidFill>
                <a:latin typeface="Segoe UI"/>
              </a:defRPr>
            </a:pPr>
            <a:r>
              <a:t>GIAI ĐOẠN 3</a:t>
            </a:r>
          </a:p>
        </p:txBody>
      </p:sp>
      <p:sp>
        <p:nvSpPr>
          <p:cNvPr id="16" name="Rounded Rectangle 15"/>
          <p:cNvSpPr/>
          <p:nvPr/>
        </p:nvSpPr>
        <p:spPr>
          <a:xfrm>
            <a:off x="7932724" y="2039112"/>
            <a:ext cx="3527450" cy="39502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60740" y="2167128"/>
            <a:ext cx="3271418" cy="3694176"/>
          </a:xfrm>
          <a:prstGeom prst="rect">
            <a:avLst/>
          </a:prstGeom>
          <a:noFill/>
        </p:spPr>
        <p:txBody>
          <a:bodyPr wrap="square" lIns="0" tIns="0" rIns="0" bIns="0">
            <a:spAutoFit/>
          </a:bodyPr>
          <a:lstStyle/>
          <a:p>
            <a:pPr>
              <a:spcAft>
                <a:spcPts val="400"/>
              </a:spcAft>
              <a:defRPr sz="1050" b="1">
                <a:solidFill>
                  <a:srgbClr val="0F172A"/>
                </a:solidFill>
                <a:latin typeface="Segoe UI"/>
              </a:defRPr>
            </a:pPr>
            <a:r>
              <a:t>Bản Quyền Ngân Hàng Thương Mại</a:t>
            </a:r>
          </a:p>
          <a:p>
            <a:pPr>
              <a:spcAft>
                <a:spcPts val="300"/>
              </a:spcAft>
            </a:pPr>
            <a:r>
              <a:rPr sz="880" b="1">
                <a:solidFill>
                  <a:srgbClr val="0F172A"/>
                </a:solidFill>
                <a:latin typeface="Segoe UI"/>
              </a:rPr>
              <a:t>• Thí điểm cùng 2 ngân hàng: </a:t>
            </a:r>
            <a:r>
              <a:rPr sz="850">
                <a:solidFill>
                  <a:srgbClr val="334155"/>
                </a:solidFill>
                <a:latin typeface="Segoe UI"/>
              </a:rPr>
              <a:t>Triển khai giải pháp Sandbox đồng hành cùng các ngân hàng thương mại tiên phong.</a:t>
            </a:r>
          </a:p>
          <a:p>
            <a:pPr>
              <a:spcAft>
                <a:spcPts val="300"/>
              </a:spcAft>
            </a:pPr>
            <a:r>
              <a:rPr sz="880" b="1">
                <a:solidFill>
                  <a:srgbClr val="0F172A"/>
                </a:solidFill>
                <a:latin typeface="Segoe UI"/>
              </a:rPr>
              <a:t>• Bán chéo dịch vụ: </a:t>
            </a:r>
            <a:r>
              <a:rPr sz="850">
                <a:solidFill>
                  <a:srgbClr val="334155"/>
                </a:solidFill>
                <a:latin typeface="Segoe UI"/>
              </a:rPr>
              <a:t>Ngân hàng giới thiệu LIVA cho tệp khách hàng doanh nghiệp lớn để tăng cường liên kết CASA.</a:t>
            </a:r>
          </a:p>
          <a:p>
            <a:pPr>
              <a:spcAft>
                <a:spcPts val="300"/>
              </a:spcAft>
            </a:pPr>
            <a:r>
              <a:rPr sz="880" b="1">
                <a:solidFill>
                  <a:srgbClr val="0F172A"/>
                </a:solidFill>
                <a:latin typeface="Segoe UI"/>
              </a:rPr>
              <a:t>• Hiệu ứng mạng lưới: </a:t>
            </a:r>
            <a:r>
              <a:rPr sz="850">
                <a:solidFill>
                  <a:srgbClr val="334155"/>
                </a:solidFill>
                <a:latin typeface="Segoe UI"/>
              </a:rPr>
              <a:t>Tạo rào cản phòng thủ tự nhiên khi giải pháp được bảo chứng bởi các định chế tài chính uy tín.</a:t>
            </a:r>
          </a:p>
        </p:txBody>
      </p:sp>
      <p:cxnSp>
        <p:nvCxnSpPr>
          <p:cNvPr id="18" name="Connector 17"/>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0" name="TextBox 19"/>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11 / 27 • INNOSTART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1 • LỢI THẾ CẠNH TRANH • HÀO LŨY PHÒNG THỦ</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HÀO LŨY PHÒNG THỦ: TÍNH TRUNG LẬP ĐA NGÂN HÀNG &amp; BỘ NGỮ LIỆU ĐỘC QUYỀN</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4 Trụ cột lợi thế bảo đảm vị thế dẫn đầu tuyệt đối trước các đối thủ trong nước và quốc tế.</a:t>
            </a:r>
          </a:p>
        </p:txBody>
      </p:sp>
      <p:sp>
        <p:nvSpPr>
          <p:cNvPr id="9" name="Rounded Rectangle 8"/>
          <p:cNvSpPr/>
          <p:nvPr/>
        </p:nvSpPr>
        <p:spPr>
          <a:xfrm>
            <a:off x="731520"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TRUNG LẬP</a:t>
            </a:r>
          </a:p>
        </p:txBody>
      </p:sp>
      <p:sp>
        <p:nvSpPr>
          <p:cNvPr id="11" name="TextBox 10"/>
          <p:cNvSpPr txBox="1"/>
          <p:nvPr/>
        </p:nvSpPr>
        <p:spPr>
          <a:xfrm>
            <a:off x="1463040" y="1673352"/>
            <a:ext cx="1676095" cy="530352"/>
          </a:xfrm>
          <a:prstGeom prst="rect">
            <a:avLst/>
          </a:prstGeom>
          <a:noFill/>
        </p:spPr>
        <p:txBody>
          <a:bodyPr wrap="square" lIns="0" tIns="0" rIns="0" bIns="0">
            <a:spAutoFit/>
          </a:bodyPr>
          <a:lstStyle/>
          <a:p>
            <a:pPr>
              <a:defRPr sz="1150" b="1">
                <a:solidFill>
                  <a:srgbClr val="0F172A"/>
                </a:solidFill>
                <a:latin typeface="Segoe UI"/>
              </a:defRPr>
            </a:pPr>
            <a:r>
              <a:t>Tính Trung Lập Đa Ngân Hàng</a:t>
            </a:r>
          </a:p>
        </p:txBody>
      </p:sp>
      <p:sp>
        <p:nvSpPr>
          <p:cNvPr id="12" name="TextBox 11"/>
          <p:cNvSpPr txBox="1"/>
          <p:nvPr/>
        </p:nvSpPr>
        <p:spPr>
          <a:xfrm>
            <a:off x="914400" y="2240280"/>
            <a:ext cx="2179015" cy="621792"/>
          </a:xfrm>
          <a:prstGeom prst="rect">
            <a:avLst/>
          </a:prstGeom>
          <a:noFill/>
        </p:spPr>
        <p:txBody>
          <a:bodyPr wrap="square" lIns="0" tIns="0" rIns="0" bIns="0">
            <a:spAutoFit/>
          </a:bodyPr>
          <a:lstStyle/>
          <a:p>
            <a:pPr>
              <a:defRPr sz="2600" b="1">
                <a:solidFill>
                  <a:srgbClr val="1E3A8A"/>
                </a:solidFill>
                <a:latin typeface="Segoe UI"/>
              </a:defRPr>
            </a:pPr>
            <a:r>
              <a:t>Trung Lập</a:t>
            </a:r>
          </a:p>
          <a:p>
            <a:pPr>
              <a:defRPr sz="850" b="1">
                <a:solidFill>
                  <a:srgbClr val="0F172A"/>
                </a:solidFill>
                <a:latin typeface="Segoe UI"/>
              </a:defRPr>
            </a:pPr>
            <a:r>
              <a:t>VỊ THẾ TRỌNG TÀI ĐỘC LẬP</a:t>
            </a:r>
          </a:p>
        </p:txBody>
      </p:sp>
      <p:sp>
        <p:nvSpPr>
          <p:cNvPr id="13" name="TextBox 12"/>
          <p:cNvSpPr txBox="1"/>
          <p:nvPr/>
        </p:nvSpPr>
        <p:spPr>
          <a:xfrm>
            <a:off x="914400"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Không xung đột: </a:t>
            </a:r>
            <a:r>
              <a:rPr sz="900">
                <a:solidFill>
                  <a:srgbClr val="334155"/>
                </a:solidFill>
                <a:latin typeface="Segoe UI"/>
              </a:rPr>
              <a:t>Ngân hàng không bao giờ xây ứng dụng quản lý tài khoản đối thủ.</a:t>
            </a:r>
          </a:p>
          <a:p>
            <a:pPr>
              <a:spcAft>
                <a:spcPts val="400"/>
              </a:spcAft>
            </a:pPr>
            <a:r>
              <a:rPr sz="950" b="1">
                <a:solidFill>
                  <a:srgbClr val="0F172A"/>
                </a:solidFill>
                <a:latin typeface="Segoe UI"/>
              </a:rPr>
              <a:t>• Trọng tài độc lập: </a:t>
            </a:r>
            <a:r>
              <a:rPr sz="900">
                <a:solidFill>
                  <a:srgbClr val="334155"/>
                </a:solidFill>
                <a:latin typeface="Segoe UI"/>
              </a:rPr>
              <a:t>Doanh nghiệp bắt buộc cần bên thứ ba độc lập như LIVA.</a:t>
            </a:r>
          </a:p>
          <a:p>
            <a:pPr>
              <a:spcAft>
                <a:spcPts val="400"/>
              </a:spcAft>
            </a:pPr>
            <a:r>
              <a:rPr sz="950" b="1">
                <a:solidFill>
                  <a:srgbClr val="0F172A"/>
                </a:solidFill>
                <a:latin typeface="Segoe UI"/>
              </a:rPr>
              <a:t>• Bảo mật dữ liệu: </a:t>
            </a:r>
            <a:r>
              <a:rPr sz="900">
                <a:solidFill>
                  <a:srgbClr val="334155"/>
                </a:solidFill>
                <a:latin typeface="Segoe UI"/>
              </a:rPr>
              <a:t>Tuyệt đối không để lộ số dư giữa các tổ chức tín dụng.</a:t>
            </a:r>
          </a:p>
        </p:txBody>
      </p:sp>
      <p:sp>
        <p:nvSpPr>
          <p:cNvPr id="14" name="Rounded Rectangle 13"/>
          <p:cNvSpPr/>
          <p:nvPr/>
        </p:nvSpPr>
        <p:spPr>
          <a:xfrm>
            <a:off x="3459175"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42055" y="1691640"/>
            <a:ext cx="475488" cy="47548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NGỮ LIỆU</a:t>
            </a:r>
          </a:p>
        </p:txBody>
      </p:sp>
      <p:sp>
        <p:nvSpPr>
          <p:cNvPr id="16" name="TextBox 15"/>
          <p:cNvSpPr txBox="1"/>
          <p:nvPr/>
        </p:nvSpPr>
        <p:spPr>
          <a:xfrm>
            <a:off x="4190695" y="1673352"/>
            <a:ext cx="1676095" cy="530352"/>
          </a:xfrm>
          <a:prstGeom prst="rect">
            <a:avLst/>
          </a:prstGeom>
          <a:noFill/>
        </p:spPr>
        <p:txBody>
          <a:bodyPr wrap="square" lIns="0" tIns="0" rIns="0" bIns="0">
            <a:spAutoFit/>
          </a:bodyPr>
          <a:lstStyle/>
          <a:p>
            <a:pPr>
              <a:defRPr sz="1150" b="1">
                <a:solidFill>
                  <a:srgbClr val="0F172A"/>
                </a:solidFill>
                <a:latin typeface="Segoe UI"/>
              </a:defRPr>
            </a:pPr>
            <a:r>
              <a:t>Bộ Ngữ Liệu Bản Địa Độc Quyền</a:t>
            </a:r>
          </a:p>
        </p:txBody>
      </p:sp>
      <p:sp>
        <p:nvSpPr>
          <p:cNvPr id="17" name="TextBox 16"/>
          <p:cNvSpPr txBox="1"/>
          <p:nvPr/>
        </p:nvSpPr>
        <p:spPr>
          <a:xfrm>
            <a:off x="3642055" y="2240280"/>
            <a:ext cx="2179015" cy="621792"/>
          </a:xfrm>
          <a:prstGeom prst="rect">
            <a:avLst/>
          </a:prstGeom>
          <a:noFill/>
        </p:spPr>
        <p:txBody>
          <a:bodyPr wrap="square" lIns="0" tIns="0" rIns="0" bIns="0">
            <a:spAutoFit/>
          </a:bodyPr>
          <a:lstStyle/>
          <a:p>
            <a:pPr>
              <a:defRPr sz="2600" b="1">
                <a:solidFill>
                  <a:srgbClr val="0284C7"/>
                </a:solidFill>
                <a:latin typeface="Segoe UI"/>
              </a:defRPr>
            </a:pPr>
            <a:r>
              <a:t>500k Mẫu</a:t>
            </a:r>
          </a:p>
          <a:p>
            <a:pPr>
              <a:defRPr sz="850" b="1">
                <a:solidFill>
                  <a:srgbClr val="0F172A"/>
                </a:solidFill>
                <a:latin typeface="Segoe UI"/>
              </a:defRPr>
            </a:pPr>
            <a:r>
              <a:t>DỮ LIỆU NGỮ LIỆU BẢN ĐỊA</a:t>
            </a:r>
          </a:p>
        </p:txBody>
      </p:sp>
      <p:sp>
        <p:nvSpPr>
          <p:cNvPr id="18" name="TextBox 17"/>
          <p:cNvSpPr txBox="1"/>
          <p:nvPr/>
        </p:nvSpPr>
        <p:spPr>
          <a:xfrm>
            <a:off x="3642055"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500k Mẫu thực tế: </a:t>
            </a:r>
            <a:r>
              <a:rPr sz="900">
                <a:solidFill>
                  <a:srgbClr val="334155"/>
                </a:solidFill>
                <a:latin typeface="Segoe UI"/>
              </a:rPr>
              <a:t>Kho dữ liệu bóc tách viết tắt tiếng Việt tài chính độc quyền lớn nhất.</a:t>
            </a:r>
          </a:p>
          <a:p>
            <a:pPr>
              <a:spcAft>
                <a:spcPts val="400"/>
              </a:spcAft>
            </a:pPr>
            <a:r>
              <a:rPr sz="950" b="1">
                <a:solidFill>
                  <a:srgbClr val="0F172A"/>
                </a:solidFill>
                <a:latin typeface="Segoe UI"/>
              </a:rPr>
              <a:t>• Hào lũy bản địa: </a:t>
            </a:r>
            <a:r>
              <a:rPr sz="900">
                <a:solidFill>
                  <a:srgbClr val="334155"/>
                </a:solidFill>
                <a:latin typeface="Segoe UI"/>
              </a:rPr>
              <a:t>Mô hình toàn cầu không thể tiếp cận dữ liệu sao kê nội địa.</a:t>
            </a:r>
          </a:p>
          <a:p>
            <a:pPr>
              <a:spcAft>
                <a:spcPts val="400"/>
              </a:spcAft>
            </a:pPr>
            <a:r>
              <a:rPr sz="950" b="1">
                <a:solidFill>
                  <a:srgbClr val="0F172A"/>
                </a:solidFill>
                <a:latin typeface="Segoe UI"/>
              </a:rPr>
              <a:t>• Độ chính xác cao: </a:t>
            </a:r>
            <a:r>
              <a:rPr sz="900">
                <a:solidFill>
                  <a:srgbClr val="334155"/>
                </a:solidFill>
                <a:latin typeface="Segoe UI"/>
              </a:rPr>
              <a:t>Hiểu sâu sắc các quy ước viết tắt và từ lóng kế toán.</a:t>
            </a:r>
          </a:p>
        </p:txBody>
      </p:sp>
      <p:sp>
        <p:nvSpPr>
          <p:cNvPr id="19" name="Rounded Rectangle 18"/>
          <p:cNvSpPr/>
          <p:nvPr/>
        </p:nvSpPr>
        <p:spPr>
          <a:xfrm>
            <a:off x="6186830"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69710" y="1691640"/>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TẠI CHỖ</a:t>
            </a:r>
          </a:p>
        </p:txBody>
      </p:sp>
      <p:sp>
        <p:nvSpPr>
          <p:cNvPr id="21" name="TextBox 20"/>
          <p:cNvSpPr txBox="1"/>
          <p:nvPr/>
        </p:nvSpPr>
        <p:spPr>
          <a:xfrm>
            <a:off x="6918350" y="1673352"/>
            <a:ext cx="1676095" cy="530352"/>
          </a:xfrm>
          <a:prstGeom prst="rect">
            <a:avLst/>
          </a:prstGeom>
          <a:noFill/>
        </p:spPr>
        <p:txBody>
          <a:bodyPr wrap="square" lIns="0" tIns="0" rIns="0" bIns="0">
            <a:spAutoFit/>
          </a:bodyPr>
          <a:lstStyle/>
          <a:p>
            <a:pPr>
              <a:defRPr sz="1150" b="1">
                <a:solidFill>
                  <a:srgbClr val="0F172A"/>
                </a:solidFill>
                <a:latin typeface="Segoe UI"/>
              </a:defRPr>
            </a:pPr>
            <a:r>
              <a:t>Kiến Trúc Vận Hành Tại Chỗ</a:t>
            </a:r>
          </a:p>
        </p:txBody>
      </p:sp>
      <p:sp>
        <p:nvSpPr>
          <p:cNvPr id="22" name="TextBox 21"/>
          <p:cNvSpPr txBox="1"/>
          <p:nvPr/>
        </p:nvSpPr>
        <p:spPr>
          <a:xfrm>
            <a:off x="6369710" y="2240280"/>
            <a:ext cx="2179015" cy="621792"/>
          </a:xfrm>
          <a:prstGeom prst="rect">
            <a:avLst/>
          </a:prstGeom>
          <a:noFill/>
        </p:spPr>
        <p:txBody>
          <a:bodyPr wrap="square" lIns="0" tIns="0" rIns="0" bIns="0">
            <a:spAutoFit/>
          </a:bodyPr>
          <a:lstStyle/>
          <a:p>
            <a:pPr>
              <a:defRPr sz="2600" b="1">
                <a:solidFill>
                  <a:srgbClr val="10B981"/>
                </a:solidFill>
                <a:latin typeface="Segoe UI"/>
              </a:defRPr>
            </a:pPr>
            <a:r>
              <a:t>$0 Cloud</a:t>
            </a:r>
          </a:p>
          <a:p>
            <a:pPr>
              <a:defRPr sz="850" b="1">
                <a:solidFill>
                  <a:srgbClr val="0F172A"/>
                </a:solidFill>
                <a:latin typeface="Segoe UI"/>
              </a:defRPr>
            </a:pPr>
            <a:r>
              <a:t>CHI PHÍ MÁY CHỦ BIÊN</a:t>
            </a:r>
          </a:p>
        </p:txBody>
      </p:sp>
      <p:sp>
        <p:nvSpPr>
          <p:cNvPr id="23" name="TextBox 22"/>
          <p:cNvSpPr txBox="1"/>
          <p:nvPr/>
        </p:nvSpPr>
        <p:spPr>
          <a:xfrm>
            <a:off x="6369710"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100% Không Cloud: </a:t>
            </a:r>
            <a:r>
              <a:rPr sz="900">
                <a:solidFill>
                  <a:srgbClr val="334155"/>
                </a:solidFill>
                <a:latin typeface="Segoe UI"/>
              </a:rPr>
              <a:t>Dữ liệu không rời máy trạm; tuân thủ hoàn hảo Nghị định 13.</a:t>
            </a:r>
          </a:p>
          <a:p>
            <a:pPr>
              <a:spcAft>
                <a:spcPts val="400"/>
              </a:spcAft>
            </a:pPr>
            <a:r>
              <a:rPr sz="950" b="1">
                <a:solidFill>
                  <a:srgbClr val="0F172A"/>
                </a:solidFill>
                <a:latin typeface="Segoe UI"/>
              </a:rPr>
              <a:t>• Chi phí biên $0: </a:t>
            </a:r>
            <a:r>
              <a:rPr sz="900">
                <a:solidFill>
                  <a:srgbClr val="334155"/>
                </a:solidFill>
                <a:latin typeface="Segoe UI"/>
              </a:rPr>
              <a:t>Không chịu chi phí máy chủ đắt đỏ, biên gộp vững chắc &gt;88%.</a:t>
            </a:r>
          </a:p>
          <a:p>
            <a:pPr>
              <a:spcAft>
                <a:spcPts val="400"/>
              </a:spcAft>
            </a:pPr>
            <a:r>
              <a:rPr sz="950" b="1">
                <a:solidFill>
                  <a:srgbClr val="0F172A"/>
                </a:solidFill>
                <a:latin typeface="Segoe UI"/>
              </a:rPr>
              <a:t>• Vận hành mượt mà: </a:t>
            </a:r>
            <a:r>
              <a:rPr sz="900">
                <a:solidFill>
                  <a:srgbClr val="334155"/>
                </a:solidFill>
                <a:latin typeface="Segoe UI"/>
              </a:rPr>
              <a:t>Chạy trên máy tính văn phòng, không phụ thuộc Internet.</a:t>
            </a:r>
          </a:p>
        </p:txBody>
      </p:sp>
      <p:sp>
        <p:nvSpPr>
          <p:cNvPr id="24" name="Rounded Rectangle 23"/>
          <p:cNvSpPr/>
          <p:nvPr/>
        </p:nvSpPr>
        <p:spPr>
          <a:xfrm>
            <a:off x="8914485"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7365" y="1691640"/>
            <a:ext cx="475488" cy="47548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XÁC ĐỊNH</a:t>
            </a:r>
          </a:p>
        </p:txBody>
      </p:sp>
      <p:sp>
        <p:nvSpPr>
          <p:cNvPr id="26" name="TextBox 25"/>
          <p:cNvSpPr txBox="1"/>
          <p:nvPr/>
        </p:nvSpPr>
        <p:spPr>
          <a:xfrm>
            <a:off x="9646005" y="1673352"/>
            <a:ext cx="1676095" cy="530352"/>
          </a:xfrm>
          <a:prstGeom prst="rect">
            <a:avLst/>
          </a:prstGeom>
          <a:noFill/>
        </p:spPr>
        <p:txBody>
          <a:bodyPr wrap="square" lIns="0" tIns="0" rIns="0" bIns="0">
            <a:spAutoFit/>
          </a:bodyPr>
          <a:lstStyle/>
          <a:p>
            <a:pPr>
              <a:defRPr sz="1150" b="1">
                <a:solidFill>
                  <a:srgbClr val="0F172A"/>
                </a:solidFill>
                <a:latin typeface="Segoe UI"/>
              </a:defRPr>
            </a:pPr>
            <a:r>
              <a:t>Động Cơ Toán Học Xác Định</a:t>
            </a:r>
          </a:p>
        </p:txBody>
      </p:sp>
      <p:sp>
        <p:nvSpPr>
          <p:cNvPr id="27" name="TextBox 26"/>
          <p:cNvSpPr txBox="1"/>
          <p:nvPr/>
        </p:nvSpPr>
        <p:spPr>
          <a:xfrm>
            <a:off x="9097365" y="2240280"/>
            <a:ext cx="2179015" cy="621792"/>
          </a:xfrm>
          <a:prstGeom prst="rect">
            <a:avLst/>
          </a:prstGeom>
          <a:noFill/>
        </p:spPr>
        <p:txBody>
          <a:bodyPr wrap="square" lIns="0" tIns="0" rIns="0" bIns="0">
            <a:spAutoFit/>
          </a:bodyPr>
          <a:lstStyle/>
          <a:p>
            <a:pPr>
              <a:defRPr sz="2600" b="1">
                <a:solidFill>
                  <a:srgbClr val="D97706"/>
                </a:solidFill>
                <a:latin typeface="Segoe UI"/>
              </a:defRPr>
            </a:pPr>
            <a:r>
              <a:t>0% Ảo Giác</a:t>
            </a:r>
          </a:p>
          <a:p>
            <a:pPr>
              <a:defRPr sz="850" b="1">
                <a:solidFill>
                  <a:srgbClr val="0F172A"/>
                </a:solidFill>
                <a:latin typeface="Segoe UI"/>
              </a:defRPr>
            </a:pPr>
            <a:r>
              <a:t>TOÁN HỌC XÁC ĐỊNH</a:t>
            </a:r>
          </a:p>
        </p:txBody>
      </p:sp>
      <p:sp>
        <p:nvSpPr>
          <p:cNvPr id="28" name="TextBox 27"/>
          <p:cNvSpPr txBox="1"/>
          <p:nvPr/>
        </p:nvSpPr>
        <p:spPr>
          <a:xfrm>
            <a:off x="9097365"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Không ảo giác số: </a:t>
            </a:r>
            <a:r>
              <a:rPr sz="900">
                <a:solidFill>
                  <a:srgbClr val="334155"/>
                </a:solidFill>
                <a:latin typeface="Segoe UI"/>
              </a:rPr>
              <a:t>Động cơ toán học xác định bảo đảm kết quả cân đối 100%.</a:t>
            </a:r>
          </a:p>
          <a:p>
            <a:pPr>
              <a:spcAft>
                <a:spcPts val="400"/>
              </a:spcAft>
            </a:pPr>
            <a:r>
              <a:rPr sz="950" b="1">
                <a:solidFill>
                  <a:srgbClr val="0F172A"/>
                </a:solidFill>
                <a:latin typeface="Segoe UI"/>
              </a:rPr>
              <a:t>• Khóa an toàn 0.2%: </a:t>
            </a:r>
            <a:r>
              <a:rPr sz="900">
                <a:solidFill>
                  <a:srgbClr val="334155"/>
                </a:solidFill>
                <a:latin typeface="Segoe UI"/>
              </a:rPr>
              <a:t>Dừng lại và chuyển người duyệt khi có bất kỳ nghi vấn.</a:t>
            </a:r>
          </a:p>
          <a:p>
            <a:pPr>
              <a:spcAft>
                <a:spcPts val="400"/>
              </a:spcAft>
            </a:pPr>
            <a:r>
              <a:rPr sz="950" b="1">
                <a:solidFill>
                  <a:srgbClr val="0F172A"/>
                </a:solidFill>
                <a:latin typeface="Segoe UI"/>
              </a:rPr>
              <a:t>• Maker-Checker: </a:t>
            </a:r>
            <a:r>
              <a:rPr sz="900">
                <a:solidFill>
                  <a:srgbClr val="334155"/>
                </a:solidFill>
                <a:latin typeface="Segoe UI"/>
              </a:rPr>
              <a:t>Giữ nguyên quyền quyết định tài chính tối cao cho con người.</a:t>
            </a:r>
          </a:p>
        </p:txBody>
      </p:sp>
      <p:cxnSp>
        <p:nvCxnSpPr>
          <p:cNvPr id="29" name="Connector 28"/>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31" name="TextBox 30"/>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12 / 27 • INNOSTART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1 • KÊU GỌI ĐẦU TƯ • SEED ROUND ASK</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KÊU GỌI VỐN SEED: $500K-$750K CHO 18-24 THÁNG RUNWAY TỰ CHỦ</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Sử dụng nguồn vốn có kỷ luật để hoàn thiện sản phẩm và mở rộng kênh phân phối đại lý kế toán.</a:t>
            </a:r>
          </a:p>
        </p:txBody>
      </p:sp>
      <p:sp>
        <p:nvSpPr>
          <p:cNvPr id="9" name="Rounded Rectangle 8"/>
          <p:cNvSpPr/>
          <p:nvPr/>
        </p:nvSpPr>
        <p:spPr>
          <a:xfrm>
            <a:off x="731520" y="1508760"/>
            <a:ext cx="4754880" cy="1432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SEED</a:t>
            </a:r>
          </a:p>
        </p:txBody>
      </p:sp>
      <p:sp>
        <p:nvSpPr>
          <p:cNvPr id="11" name="TextBox 10"/>
          <p:cNvSpPr txBox="1"/>
          <p:nvPr/>
        </p:nvSpPr>
        <p:spPr>
          <a:xfrm>
            <a:off x="1463040" y="1673352"/>
            <a:ext cx="3886200" cy="530352"/>
          </a:xfrm>
          <a:prstGeom prst="rect">
            <a:avLst/>
          </a:prstGeom>
          <a:noFill/>
        </p:spPr>
        <p:txBody>
          <a:bodyPr wrap="square" lIns="0" tIns="0" rIns="0" bIns="0">
            <a:spAutoFit/>
          </a:bodyPr>
          <a:lstStyle/>
          <a:p>
            <a:pPr>
              <a:defRPr sz="1150" b="1">
                <a:solidFill>
                  <a:srgbClr val="0F172A"/>
                </a:solidFill>
                <a:latin typeface="Segoe UI"/>
              </a:defRPr>
            </a:pPr>
            <a:r>
              <a:t>Quy Mô Vòng Gọi Vốn Seed</a:t>
            </a:r>
          </a:p>
        </p:txBody>
      </p:sp>
      <p:sp>
        <p:nvSpPr>
          <p:cNvPr id="12" name="TextBox 11"/>
          <p:cNvSpPr txBox="1"/>
          <p:nvPr/>
        </p:nvSpPr>
        <p:spPr>
          <a:xfrm>
            <a:off x="914400" y="2240280"/>
            <a:ext cx="4389120" cy="621792"/>
          </a:xfrm>
          <a:prstGeom prst="rect">
            <a:avLst/>
          </a:prstGeom>
          <a:noFill/>
        </p:spPr>
        <p:txBody>
          <a:bodyPr wrap="square" lIns="0" tIns="0" rIns="0" bIns="0">
            <a:spAutoFit/>
          </a:bodyPr>
          <a:lstStyle/>
          <a:p>
            <a:pPr>
              <a:defRPr sz="2600" b="1">
                <a:solidFill>
                  <a:srgbClr val="1E3A8A"/>
                </a:solidFill>
                <a:latin typeface="Segoe UI"/>
              </a:defRPr>
            </a:pPr>
            <a:r>
              <a:t>$500k - $750k</a:t>
            </a:r>
          </a:p>
          <a:p>
            <a:pPr>
              <a:defRPr sz="850" b="1">
                <a:solidFill>
                  <a:srgbClr val="0F172A"/>
                </a:solidFill>
                <a:latin typeface="Segoe UI"/>
              </a:defRPr>
            </a:pPr>
            <a:r>
              <a:t>QUY MÔ VỐN GỌI SEED</a:t>
            </a:r>
          </a:p>
        </p:txBody>
      </p:sp>
      <p:sp>
        <p:nvSpPr>
          <p:cNvPr id="13" name="TextBox 12"/>
          <p:cNvSpPr txBox="1"/>
          <p:nvPr/>
        </p:nvSpPr>
        <p:spPr>
          <a:xfrm>
            <a:off x="914400" y="2898648"/>
            <a:ext cx="4389120" cy="-94488"/>
          </a:xfrm>
          <a:prstGeom prst="rect">
            <a:avLst/>
          </a:prstGeom>
          <a:noFill/>
        </p:spPr>
        <p:txBody>
          <a:bodyPr wrap="square" lIns="0" tIns="0" rIns="0" bIns="0">
            <a:spAutoFit/>
          </a:bodyPr>
          <a:lstStyle/>
          <a:p>
            <a:pPr>
              <a:spcAft>
                <a:spcPts val="400"/>
              </a:spcAft>
            </a:pPr>
            <a:r>
              <a:rPr sz="950" b="1">
                <a:solidFill>
                  <a:srgbClr val="0F172A"/>
                </a:solidFill>
                <a:latin typeface="Segoe UI"/>
              </a:rPr>
              <a:t>• Mục tiêu huy động: </a:t>
            </a:r>
            <a:r>
              <a:rPr sz="900">
                <a:solidFill>
                  <a:srgbClr val="334155"/>
                </a:solidFill>
                <a:latin typeface="Segoe UI"/>
              </a:rPr>
              <a:t>Từ $500.000 đến $750.000 USD cho 12.0% – 15.0% cổ phần.</a:t>
            </a:r>
          </a:p>
          <a:p>
            <a:pPr>
              <a:spcAft>
                <a:spcPts val="400"/>
              </a:spcAft>
            </a:pPr>
            <a:r>
              <a:rPr sz="950" b="1">
                <a:solidFill>
                  <a:srgbClr val="0F172A"/>
                </a:solidFill>
                <a:latin typeface="Segoe UI"/>
              </a:rPr>
              <a:t>• Định giá doanh nghiệp: </a:t>
            </a:r>
            <a:r>
              <a:rPr sz="900">
                <a:solidFill>
                  <a:srgbClr val="334155"/>
                </a:solidFill>
                <a:latin typeface="Segoe UI"/>
              </a:rPr>
              <a:t>$4.0M – $5.0M USD (Post-money), bảo đảm 18-24 tháng runway.</a:t>
            </a:r>
          </a:p>
        </p:txBody>
      </p:sp>
      <p:sp>
        <p:nvSpPr>
          <p:cNvPr id="14" name="Rounded Rectangle 13"/>
          <p:cNvSpPr/>
          <p:nvPr/>
        </p:nvSpPr>
        <p:spPr>
          <a:xfrm>
            <a:off x="731520" y="3032760"/>
            <a:ext cx="4754880" cy="1432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3215640"/>
            <a:ext cx="475488" cy="47548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MỤC TIÊU</a:t>
            </a:r>
          </a:p>
        </p:txBody>
      </p:sp>
      <p:sp>
        <p:nvSpPr>
          <p:cNvPr id="16" name="TextBox 15"/>
          <p:cNvSpPr txBox="1"/>
          <p:nvPr/>
        </p:nvSpPr>
        <p:spPr>
          <a:xfrm>
            <a:off x="1463040" y="3197352"/>
            <a:ext cx="3886200" cy="530352"/>
          </a:xfrm>
          <a:prstGeom prst="rect">
            <a:avLst/>
          </a:prstGeom>
          <a:noFill/>
        </p:spPr>
        <p:txBody>
          <a:bodyPr wrap="square" lIns="0" tIns="0" rIns="0" bIns="0">
            <a:spAutoFit/>
          </a:bodyPr>
          <a:lstStyle/>
          <a:p>
            <a:pPr>
              <a:defRPr sz="1150" b="1">
                <a:solidFill>
                  <a:srgbClr val="0F172A"/>
                </a:solidFill>
                <a:latin typeface="Segoe UI"/>
              </a:defRPr>
            </a:pPr>
            <a:r>
              <a:t>Mục Tiêu Thương Mại 12 Tháng</a:t>
            </a:r>
          </a:p>
        </p:txBody>
      </p:sp>
      <p:sp>
        <p:nvSpPr>
          <p:cNvPr id="17" name="TextBox 16"/>
          <p:cNvSpPr txBox="1"/>
          <p:nvPr/>
        </p:nvSpPr>
        <p:spPr>
          <a:xfrm>
            <a:off x="914400" y="3764280"/>
            <a:ext cx="4389120" cy="621792"/>
          </a:xfrm>
          <a:prstGeom prst="rect">
            <a:avLst/>
          </a:prstGeom>
          <a:noFill/>
        </p:spPr>
        <p:txBody>
          <a:bodyPr wrap="square" lIns="0" tIns="0" rIns="0" bIns="0">
            <a:spAutoFit/>
          </a:bodyPr>
          <a:lstStyle/>
          <a:p>
            <a:pPr>
              <a:defRPr sz="2600" b="1">
                <a:solidFill>
                  <a:srgbClr val="0284C7"/>
                </a:solidFill>
                <a:latin typeface="Segoe UI"/>
              </a:defRPr>
            </a:pPr>
            <a:r>
              <a:t>220 DN</a:t>
            </a:r>
          </a:p>
          <a:p>
            <a:pPr>
              <a:defRPr sz="850" b="1">
                <a:solidFill>
                  <a:srgbClr val="0F172A"/>
                </a:solidFill>
                <a:latin typeface="Segoe UI"/>
              </a:defRPr>
            </a:pPr>
            <a:r>
              <a:t>KHÁCH HÀNG DOANH NGHIỆP MỤC TIÊU</a:t>
            </a:r>
          </a:p>
        </p:txBody>
      </p:sp>
      <p:sp>
        <p:nvSpPr>
          <p:cNvPr id="18" name="TextBox 17"/>
          <p:cNvSpPr txBox="1"/>
          <p:nvPr/>
        </p:nvSpPr>
        <p:spPr>
          <a:xfrm>
            <a:off x="914400" y="4422648"/>
            <a:ext cx="4389120" cy="-94488"/>
          </a:xfrm>
          <a:prstGeom prst="rect">
            <a:avLst/>
          </a:prstGeom>
          <a:noFill/>
        </p:spPr>
        <p:txBody>
          <a:bodyPr wrap="square" lIns="0" tIns="0" rIns="0" bIns="0">
            <a:spAutoFit/>
          </a:bodyPr>
          <a:lstStyle/>
          <a:p>
            <a:pPr>
              <a:spcAft>
                <a:spcPts val="400"/>
              </a:spcAft>
            </a:pPr>
            <a:r>
              <a:rPr sz="950" b="1">
                <a:solidFill>
                  <a:srgbClr val="0F172A"/>
                </a:solidFill>
                <a:latin typeface="Segoe UI"/>
              </a:rPr>
              <a:t>• Quy mô khách hàng: </a:t>
            </a:r>
            <a:r>
              <a:rPr sz="900">
                <a:solidFill>
                  <a:srgbClr val="334155"/>
                </a:solidFill>
                <a:latin typeface="Segoe UI"/>
              </a:rPr>
              <a:t>Đạt mốc 220 khách hàng doanh nghiệp trả phí định kỳ.</a:t>
            </a:r>
          </a:p>
          <a:p>
            <a:pPr>
              <a:spcAft>
                <a:spcPts val="400"/>
              </a:spcAft>
            </a:pPr>
            <a:r>
              <a:rPr sz="950" b="1">
                <a:solidFill>
                  <a:srgbClr val="0F172A"/>
                </a:solidFill>
                <a:latin typeface="Segoe UI"/>
              </a:rPr>
              <a:t>• Đối tác ngân hàng: </a:t>
            </a:r>
            <a:r>
              <a:rPr sz="900">
                <a:solidFill>
                  <a:srgbClr val="334155"/>
                </a:solidFill>
                <a:latin typeface="Segoe UI"/>
              </a:rPr>
              <a:t>Ký kết thỏa thuận thử nghiệm chính thức cùng 02 ngân hàng lớn.</a:t>
            </a:r>
          </a:p>
        </p:txBody>
      </p:sp>
      <p:sp>
        <p:nvSpPr>
          <p:cNvPr id="19" name="Rounded Rectangle 18"/>
          <p:cNvSpPr/>
          <p:nvPr/>
        </p:nvSpPr>
        <p:spPr>
          <a:xfrm>
            <a:off x="731520" y="4556760"/>
            <a:ext cx="4754880" cy="1432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4400" y="4739640"/>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RUNWAY</a:t>
            </a:r>
          </a:p>
        </p:txBody>
      </p:sp>
      <p:sp>
        <p:nvSpPr>
          <p:cNvPr id="21" name="TextBox 20"/>
          <p:cNvSpPr txBox="1"/>
          <p:nvPr/>
        </p:nvSpPr>
        <p:spPr>
          <a:xfrm>
            <a:off x="1463040" y="4721352"/>
            <a:ext cx="3886200" cy="530352"/>
          </a:xfrm>
          <a:prstGeom prst="rect">
            <a:avLst/>
          </a:prstGeom>
          <a:noFill/>
        </p:spPr>
        <p:txBody>
          <a:bodyPr wrap="square" lIns="0" tIns="0" rIns="0" bIns="0">
            <a:spAutoFit/>
          </a:bodyPr>
          <a:lstStyle/>
          <a:p>
            <a:pPr>
              <a:defRPr sz="1150" b="1">
                <a:solidFill>
                  <a:srgbClr val="0F172A"/>
                </a:solidFill>
                <a:latin typeface="Segoe UI"/>
              </a:defRPr>
            </a:pPr>
            <a:r>
              <a:t>Bảo Đảm Đường Băng Tài Chính</a:t>
            </a:r>
          </a:p>
        </p:txBody>
      </p:sp>
      <p:sp>
        <p:nvSpPr>
          <p:cNvPr id="22" name="TextBox 21"/>
          <p:cNvSpPr txBox="1"/>
          <p:nvPr/>
        </p:nvSpPr>
        <p:spPr>
          <a:xfrm>
            <a:off x="914400" y="5288280"/>
            <a:ext cx="4389120" cy="621792"/>
          </a:xfrm>
          <a:prstGeom prst="rect">
            <a:avLst/>
          </a:prstGeom>
          <a:noFill/>
        </p:spPr>
        <p:txBody>
          <a:bodyPr wrap="square" lIns="0" tIns="0" rIns="0" bIns="0">
            <a:spAutoFit/>
          </a:bodyPr>
          <a:lstStyle/>
          <a:p>
            <a:pPr>
              <a:defRPr sz="2600" b="1">
                <a:solidFill>
                  <a:srgbClr val="10B981"/>
                </a:solidFill>
                <a:latin typeface="Segoe UI"/>
              </a:defRPr>
            </a:pPr>
            <a:r>
              <a:t>18 - 24 Th</a:t>
            </a:r>
          </a:p>
          <a:p>
            <a:pPr>
              <a:defRPr sz="850" b="1">
                <a:solidFill>
                  <a:srgbClr val="0F172A"/>
                </a:solidFill>
                <a:latin typeface="Segoe UI"/>
              </a:defRPr>
            </a:pPr>
            <a:r>
              <a:t>RUNWAY TÀI CHÍNH AN TOÀN</a:t>
            </a:r>
          </a:p>
        </p:txBody>
      </p:sp>
      <p:sp>
        <p:nvSpPr>
          <p:cNvPr id="23" name="TextBox 22"/>
          <p:cNvSpPr txBox="1"/>
          <p:nvPr/>
        </p:nvSpPr>
        <p:spPr>
          <a:xfrm>
            <a:off x="914400" y="5946648"/>
            <a:ext cx="4389120" cy="-94488"/>
          </a:xfrm>
          <a:prstGeom prst="rect">
            <a:avLst/>
          </a:prstGeom>
          <a:noFill/>
        </p:spPr>
        <p:txBody>
          <a:bodyPr wrap="square" lIns="0" tIns="0" rIns="0" bIns="0">
            <a:spAutoFit/>
          </a:bodyPr>
          <a:lstStyle/>
          <a:p>
            <a:pPr>
              <a:spcAft>
                <a:spcPts val="400"/>
              </a:spcAft>
            </a:pPr>
            <a:r>
              <a:rPr sz="950" b="1">
                <a:solidFill>
                  <a:srgbClr val="0F172A"/>
                </a:solidFill>
                <a:latin typeface="Segoe UI"/>
              </a:rPr>
              <a:t>• Tự chủ tài chính: </a:t>
            </a:r>
            <a:r>
              <a:rPr sz="900">
                <a:solidFill>
                  <a:srgbClr val="334155"/>
                </a:solidFill>
                <a:latin typeface="Segoe UI"/>
              </a:rPr>
              <a:t>Runway 18 đến 24 tháng an toàn tuyệt đối với mức đốt vốn tinh gọn.</a:t>
            </a:r>
          </a:p>
          <a:p>
            <a:pPr>
              <a:spcAft>
                <a:spcPts val="400"/>
              </a:spcAft>
            </a:pPr>
            <a:r>
              <a:rPr sz="950" b="1">
                <a:solidFill>
                  <a:srgbClr val="0F172A"/>
                </a:solidFill>
                <a:latin typeface="Segoe UI"/>
              </a:rPr>
              <a:t>• Điểm hòa vốn: </a:t>
            </a:r>
            <a:r>
              <a:rPr sz="900">
                <a:solidFill>
                  <a:srgbClr val="334155"/>
                </a:solidFill>
                <a:latin typeface="Segoe UI"/>
              </a:rPr>
              <a:t>Dự kiến chính thức chạm điểm hòa vốn vận hành vào Tháng 11/2027.</a:t>
            </a:r>
          </a:p>
        </p:txBody>
      </p:sp>
      <p:sp>
        <p:nvSpPr>
          <p:cNvPr id="24" name="Rounded Rectangle 23"/>
          <p:cNvSpPr/>
          <p:nvPr/>
        </p:nvSpPr>
        <p:spPr>
          <a:xfrm>
            <a:off x="5669280" y="1508760"/>
            <a:ext cx="5790895"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52160" y="1618488"/>
            <a:ext cx="5425135" cy="365760"/>
          </a:xfrm>
          <a:prstGeom prst="rect">
            <a:avLst/>
          </a:prstGeom>
          <a:noFill/>
        </p:spPr>
        <p:txBody>
          <a:bodyPr wrap="square" lIns="0" tIns="0" rIns="0" bIns="0">
            <a:spAutoFit/>
          </a:bodyPr>
          <a:lstStyle/>
          <a:p>
            <a:pPr algn="ctr">
              <a:defRPr sz="950" b="1">
                <a:solidFill>
                  <a:srgbClr val="0F172A"/>
                </a:solidFill>
                <a:latin typeface="Segoe UI"/>
              </a:defRPr>
            </a:pPr>
            <a:r>
              <a:t>PHÂN BỔ NGUỒN VỐN SEED ($500K - $750K USD)</a:t>
            </a:r>
          </a:p>
        </p:txBody>
      </p:sp>
      <p:graphicFrame>
        <p:nvGraphicFramePr>
          <p:cNvPr id="26" name="Chart 25"/>
          <p:cNvGraphicFramePr>
            <a:graphicFrameLocks noGrp="1"/>
          </p:cNvGraphicFramePr>
          <p:nvPr/>
        </p:nvGraphicFramePr>
        <p:xfrm>
          <a:off x="5806440" y="1947672"/>
          <a:ext cx="5516575" cy="3968496"/>
        </p:xfrm>
        <a:graphic>
          <a:graphicData uri="http://schemas.openxmlformats.org/drawingml/2006/chart">
            <c:chart xmlns:c="http://schemas.openxmlformats.org/drawingml/2006/chart" r:id="rId2"/>
          </a:graphicData>
        </a:graphic>
      </p:graphicFrame>
      <p:cxnSp>
        <p:nvCxnSpPr>
          <p:cNvPr id="27" name="Connector 26"/>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9" name="TextBox 28"/>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13 / 27 • INNOSTART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2 • KẾ HOẠCH 1 NĂM (TOP 3) • LỘ TRÌNH SẢN PHẨM</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LỘ TRÌNH THỰC THI 4 QUÝ: TỪ PHÒNG LAB ĐẾN LIÊN MINH KẾ TOÁN &amp; NGÂN HÀNG</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Kế hoạch hành động kỷ luật theo từng mốc quý (Q4/2026 – Q3/2027), bám sát các chỉ số nghiệm thu thực tế.</a:t>
            </a:r>
          </a:p>
        </p:txBody>
      </p:sp>
      <p:sp>
        <p:nvSpPr>
          <p:cNvPr id="9" name="Chevron 8"/>
          <p:cNvSpPr/>
          <p:nvPr/>
        </p:nvSpPr>
        <p:spPr>
          <a:xfrm>
            <a:off x="731520" y="1508760"/>
            <a:ext cx="2627299" cy="438912"/>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FFFFF"/>
                </a:solidFill>
                <a:latin typeface="Segoe UI"/>
              </a:defRPr>
            </a:pPr>
            <a:r>
              <a:t>QUÝ 1</a:t>
            </a:r>
          </a:p>
        </p:txBody>
      </p:sp>
      <p:sp>
        <p:nvSpPr>
          <p:cNvPr id="10" name="Rounded Rectangle 9"/>
          <p:cNvSpPr/>
          <p:nvPr/>
        </p:nvSpPr>
        <p:spPr>
          <a:xfrm>
            <a:off x="731520" y="2039112"/>
            <a:ext cx="2627299" cy="39502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2167128"/>
            <a:ext cx="2371267" cy="3694176"/>
          </a:xfrm>
          <a:prstGeom prst="rect">
            <a:avLst/>
          </a:prstGeom>
          <a:noFill/>
        </p:spPr>
        <p:txBody>
          <a:bodyPr wrap="square" lIns="0" tIns="0" rIns="0" bIns="0">
            <a:spAutoFit/>
          </a:bodyPr>
          <a:lstStyle/>
          <a:p>
            <a:pPr>
              <a:spcAft>
                <a:spcPts val="400"/>
              </a:spcAft>
              <a:defRPr sz="1050" b="1">
                <a:solidFill>
                  <a:srgbClr val="0F172A"/>
                </a:solidFill>
                <a:latin typeface="Segoe UI"/>
              </a:defRPr>
            </a:pPr>
            <a:r>
              <a:t>Q4/2026: Thử Nghiệm &amp; Hoàn Thiện</a:t>
            </a:r>
          </a:p>
          <a:p>
            <a:pPr>
              <a:spcAft>
                <a:spcPts val="300"/>
              </a:spcAft>
            </a:pPr>
            <a:r>
              <a:rPr sz="880" b="1">
                <a:solidFill>
                  <a:srgbClr val="0F172A"/>
                </a:solidFill>
                <a:latin typeface="Segoe UI"/>
              </a:rPr>
              <a:t>• Hoàn thiện sản phẩm: </a:t>
            </a:r>
            <a:r>
              <a:rPr sz="850">
                <a:solidFill>
                  <a:srgbClr val="334155"/>
                </a:solidFill>
                <a:latin typeface="Segoe UI"/>
              </a:rPr>
              <a:t>Mở rộng bộ giải mã cho 20 ngân hàng lớn; thử nghiệm nội bộ cùng 15 doanh nghiệp thân thiết.</a:t>
            </a:r>
          </a:p>
          <a:p>
            <a:pPr>
              <a:spcAft>
                <a:spcPts val="300"/>
              </a:spcAft>
            </a:pPr>
            <a:r>
              <a:rPr sz="880" b="1">
                <a:solidFill>
                  <a:srgbClr val="0F172A"/>
                </a:solidFill>
                <a:latin typeface="Segoe UI"/>
              </a:rPr>
              <a:t>• Hồ sơ pháp lý: </a:t>
            </a:r>
            <a:r>
              <a:rPr sz="850">
                <a:solidFill>
                  <a:srgbClr val="334155"/>
                </a:solidFill>
                <a:latin typeface="Segoe UI"/>
              </a:rPr>
              <a:t>Nộp hồ sơ đánh giá an ninh thông tin và chuẩn bị tham gia cơ chế thử nghiệm Sandbox.</a:t>
            </a:r>
          </a:p>
          <a:p>
            <a:pPr>
              <a:spcAft>
                <a:spcPts val="300"/>
              </a:spcAft>
            </a:pPr>
            <a:r>
              <a:rPr sz="880" b="1">
                <a:solidFill>
                  <a:srgbClr val="0F172A"/>
                </a:solidFill>
                <a:latin typeface="Segoe UI"/>
              </a:rPr>
              <a:t>• Doanh thu mục tiêu: </a:t>
            </a:r>
            <a:r>
              <a:rPr sz="850">
                <a:solidFill>
                  <a:srgbClr val="334155"/>
                </a:solidFill>
                <a:latin typeface="Segoe UI"/>
              </a:rPr>
              <a:t>ARR $150.000 USD từ các khách hàng tiên phong đầu tiên.</a:t>
            </a:r>
          </a:p>
        </p:txBody>
      </p:sp>
      <p:sp>
        <p:nvSpPr>
          <p:cNvPr id="12" name="Chevron 11"/>
          <p:cNvSpPr/>
          <p:nvPr/>
        </p:nvSpPr>
        <p:spPr>
          <a:xfrm>
            <a:off x="3431971" y="1508760"/>
            <a:ext cx="2627299" cy="43891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FFFFF"/>
                </a:solidFill>
                <a:latin typeface="Segoe UI"/>
              </a:defRPr>
            </a:pPr>
            <a:r>
              <a:t>QUÝ 2</a:t>
            </a:r>
          </a:p>
        </p:txBody>
      </p:sp>
      <p:sp>
        <p:nvSpPr>
          <p:cNvPr id="13" name="Rounded Rectangle 12"/>
          <p:cNvSpPr/>
          <p:nvPr/>
        </p:nvSpPr>
        <p:spPr>
          <a:xfrm>
            <a:off x="3431971" y="2039112"/>
            <a:ext cx="2627299" cy="39502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9987" y="2167128"/>
            <a:ext cx="2371267" cy="3694176"/>
          </a:xfrm>
          <a:prstGeom prst="rect">
            <a:avLst/>
          </a:prstGeom>
          <a:noFill/>
        </p:spPr>
        <p:txBody>
          <a:bodyPr wrap="square" lIns="0" tIns="0" rIns="0" bIns="0">
            <a:spAutoFit/>
          </a:bodyPr>
          <a:lstStyle/>
          <a:p>
            <a:pPr>
              <a:spcAft>
                <a:spcPts val="400"/>
              </a:spcAft>
              <a:defRPr sz="1050" b="1">
                <a:solidFill>
                  <a:srgbClr val="0F172A"/>
                </a:solidFill>
                <a:latin typeface="Segoe UI"/>
              </a:defRPr>
            </a:pPr>
            <a:r>
              <a:t>Q1/2027: Ra Mắt Top 5 Ngân Hàng</a:t>
            </a:r>
          </a:p>
          <a:p>
            <a:pPr>
              <a:spcAft>
                <a:spcPts val="300"/>
              </a:spcAft>
            </a:pPr>
            <a:r>
              <a:rPr sz="880" b="1">
                <a:solidFill>
                  <a:srgbClr val="0F172A"/>
                </a:solidFill>
                <a:latin typeface="Segoe UI"/>
              </a:rPr>
              <a:t>• Kết nối chuẩn hóa: </a:t>
            </a:r>
            <a:r>
              <a:rPr sz="850">
                <a:solidFill>
                  <a:srgbClr val="334155"/>
                </a:solidFill>
                <a:latin typeface="Segoe UI"/>
              </a:rPr>
              <a:t>Hỗ trợ hoàn chỉnh Vietcombank, Techcombank, BIDV, VietinBank và MBBank.</a:t>
            </a:r>
          </a:p>
          <a:p>
            <a:pPr>
              <a:spcAft>
                <a:spcPts val="300"/>
              </a:spcAft>
            </a:pPr>
            <a:r>
              <a:rPr sz="880" b="1">
                <a:solidFill>
                  <a:srgbClr val="0F172A"/>
                </a:solidFill>
                <a:latin typeface="Segoe UI"/>
              </a:rPr>
              <a:t>• Mở rộng khách hàng: </a:t>
            </a:r>
            <a:r>
              <a:rPr sz="850">
                <a:solidFill>
                  <a:srgbClr val="334155"/>
                </a:solidFill>
                <a:latin typeface="Segoe UI"/>
              </a:rPr>
              <a:t>Đạt 50 khách hàng doanh nghiệp trả phí; triển khai cơ chế phê duyệt hai pha hoàn chỉnh.</a:t>
            </a:r>
          </a:p>
          <a:p>
            <a:pPr>
              <a:spcAft>
                <a:spcPts val="300"/>
              </a:spcAft>
            </a:pPr>
            <a:r>
              <a:rPr sz="880" b="1">
                <a:solidFill>
                  <a:srgbClr val="0F172A"/>
                </a:solidFill>
                <a:latin typeface="Segoe UI"/>
              </a:rPr>
              <a:t>• Doanh thu mục tiêu: </a:t>
            </a:r>
            <a:r>
              <a:rPr sz="850">
                <a:solidFill>
                  <a:srgbClr val="334155"/>
                </a:solidFill>
                <a:latin typeface="Segoe UI"/>
              </a:rPr>
              <a:t>ARR $450.000 USD với dòng tiền vận hành ổn định.</a:t>
            </a:r>
          </a:p>
        </p:txBody>
      </p:sp>
      <p:sp>
        <p:nvSpPr>
          <p:cNvPr id="15" name="Chevron 14"/>
          <p:cNvSpPr/>
          <p:nvPr/>
        </p:nvSpPr>
        <p:spPr>
          <a:xfrm>
            <a:off x="6132423" y="1508760"/>
            <a:ext cx="2627299" cy="438912"/>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FFFFF"/>
                </a:solidFill>
                <a:latin typeface="Segoe UI"/>
              </a:defRPr>
            </a:pPr>
            <a:r>
              <a:t>QUÝ 3</a:t>
            </a:r>
          </a:p>
        </p:txBody>
      </p:sp>
      <p:sp>
        <p:nvSpPr>
          <p:cNvPr id="16" name="Rounded Rectangle 15"/>
          <p:cNvSpPr/>
          <p:nvPr/>
        </p:nvSpPr>
        <p:spPr>
          <a:xfrm>
            <a:off x="6132423" y="2039112"/>
            <a:ext cx="2627299" cy="39502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0439" y="2167128"/>
            <a:ext cx="2371267" cy="3694176"/>
          </a:xfrm>
          <a:prstGeom prst="rect">
            <a:avLst/>
          </a:prstGeom>
          <a:noFill/>
        </p:spPr>
        <p:txBody>
          <a:bodyPr wrap="square" lIns="0" tIns="0" rIns="0" bIns="0">
            <a:spAutoFit/>
          </a:bodyPr>
          <a:lstStyle/>
          <a:p>
            <a:pPr>
              <a:spcAft>
                <a:spcPts val="400"/>
              </a:spcAft>
              <a:defRPr sz="1050" b="1">
                <a:solidFill>
                  <a:srgbClr val="0F172A"/>
                </a:solidFill>
                <a:latin typeface="Segoe UI"/>
              </a:defRPr>
            </a:pPr>
            <a:r>
              <a:t>Q2/2027: Tích Hợp Phần Mềm Kế Toán</a:t>
            </a:r>
          </a:p>
          <a:p>
            <a:pPr>
              <a:spcAft>
                <a:spcPts val="300"/>
              </a:spcAft>
            </a:pPr>
            <a:r>
              <a:rPr sz="880" b="1">
                <a:solidFill>
                  <a:srgbClr val="0F172A"/>
                </a:solidFill>
                <a:latin typeface="Segoe UI"/>
              </a:rPr>
              <a:t>• Kết nối ERP 1 chạm: </a:t>
            </a:r>
            <a:r>
              <a:rPr sz="850">
                <a:solidFill>
                  <a:srgbClr val="334155"/>
                </a:solidFill>
                <a:latin typeface="Segoe UI"/>
              </a:rPr>
              <a:t>Tích hợp tự động vào các phần mềm kế toán phổ biến MISA, FAST và Bravo.</a:t>
            </a:r>
          </a:p>
          <a:p>
            <a:pPr>
              <a:spcAft>
                <a:spcPts val="300"/>
              </a:spcAft>
            </a:pPr>
            <a:r>
              <a:rPr sz="880" b="1">
                <a:solidFill>
                  <a:srgbClr val="0F172A"/>
                </a:solidFill>
                <a:latin typeface="Segoe UI"/>
              </a:rPr>
              <a:t>• Thí điểm ngân hàng: </a:t>
            </a:r>
            <a:r>
              <a:rPr sz="850">
                <a:solidFill>
                  <a:srgbClr val="334155"/>
                </a:solidFill>
                <a:latin typeface="Segoe UI"/>
              </a:rPr>
              <a:t>Thí điểm cùng 2 ngân hàng thương mại tiên phong; vượt mốc 120 doanh nghiệp sử dụng.</a:t>
            </a:r>
          </a:p>
          <a:p>
            <a:pPr>
              <a:spcAft>
                <a:spcPts val="300"/>
              </a:spcAft>
            </a:pPr>
            <a:r>
              <a:rPr sz="880" b="1">
                <a:solidFill>
                  <a:srgbClr val="0F172A"/>
                </a:solidFill>
                <a:latin typeface="Segoe UI"/>
              </a:rPr>
              <a:t>• Doanh thu mục tiêu: </a:t>
            </a:r>
            <a:r>
              <a:rPr sz="850">
                <a:solidFill>
                  <a:srgbClr val="334155"/>
                </a:solidFill>
                <a:latin typeface="Segoe UI"/>
              </a:rPr>
              <a:t>ARR $1.100.000 USD khẳng định tính khả thi của mô hình.</a:t>
            </a:r>
          </a:p>
        </p:txBody>
      </p:sp>
      <p:sp>
        <p:nvSpPr>
          <p:cNvPr id="18" name="Chevron 17"/>
          <p:cNvSpPr/>
          <p:nvPr/>
        </p:nvSpPr>
        <p:spPr>
          <a:xfrm>
            <a:off x="8832875" y="1508760"/>
            <a:ext cx="2627299" cy="438912"/>
          </a:xfrm>
          <a:prstGeom prst="chevron">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FFFFF"/>
                </a:solidFill>
                <a:latin typeface="Segoe UI"/>
              </a:defRPr>
            </a:pPr>
            <a:r>
              <a:t>QUÝ 4</a:t>
            </a:r>
          </a:p>
        </p:txBody>
      </p:sp>
      <p:sp>
        <p:nvSpPr>
          <p:cNvPr id="19" name="Rounded Rectangle 18"/>
          <p:cNvSpPr/>
          <p:nvPr/>
        </p:nvSpPr>
        <p:spPr>
          <a:xfrm>
            <a:off x="8832875" y="2039112"/>
            <a:ext cx="2627299" cy="39502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0891" y="2167128"/>
            <a:ext cx="2371267" cy="3694176"/>
          </a:xfrm>
          <a:prstGeom prst="rect">
            <a:avLst/>
          </a:prstGeom>
          <a:noFill/>
        </p:spPr>
        <p:txBody>
          <a:bodyPr wrap="square" lIns="0" tIns="0" rIns="0" bIns="0">
            <a:spAutoFit/>
          </a:bodyPr>
          <a:lstStyle/>
          <a:p>
            <a:pPr>
              <a:spcAft>
                <a:spcPts val="400"/>
              </a:spcAft>
              <a:defRPr sz="1050" b="1">
                <a:solidFill>
                  <a:srgbClr val="0F172A"/>
                </a:solidFill>
                <a:latin typeface="Segoe UI"/>
              </a:defRPr>
            </a:pPr>
            <a:r>
              <a:t>Q3/2027: Phủ Sóng 35+ Ngân Hàng</a:t>
            </a:r>
          </a:p>
          <a:p>
            <a:pPr>
              <a:spcAft>
                <a:spcPts val="300"/>
              </a:spcAft>
            </a:pPr>
            <a:r>
              <a:rPr sz="880" b="1">
                <a:solidFill>
                  <a:srgbClr val="0F172A"/>
                </a:solidFill>
                <a:latin typeface="Segoe UI"/>
              </a:rPr>
              <a:t>• Phủ sóng toàn diện: </a:t>
            </a:r>
            <a:r>
              <a:rPr sz="850">
                <a:solidFill>
                  <a:srgbClr val="334155"/>
                </a:solidFill>
                <a:latin typeface="Segoe UI"/>
              </a:rPr>
              <a:t>Hỗ trợ toàn bộ 35+ ngân hàng tại Việt Nam; thương mại hóa tháp canh dự báo dòng tiền 48 giờ.</a:t>
            </a:r>
          </a:p>
          <a:p>
            <a:pPr>
              <a:spcAft>
                <a:spcPts val="300"/>
              </a:spcAft>
            </a:pPr>
            <a:r>
              <a:rPr sz="880" b="1">
                <a:solidFill>
                  <a:srgbClr val="0F172A"/>
                </a:solidFill>
                <a:latin typeface="Segoe UI"/>
              </a:rPr>
              <a:t>• Cấp phép bản quyền: </a:t>
            </a:r>
            <a:r>
              <a:rPr sz="850">
                <a:solidFill>
                  <a:srgbClr val="334155"/>
                </a:solidFill>
                <a:latin typeface="Segoe UI"/>
              </a:rPr>
              <a:t>Cấp bản quyền cho 2 ngân hàng thương mại; đạt 220 doanh nghiệp trả phí.</a:t>
            </a:r>
          </a:p>
          <a:p>
            <a:pPr>
              <a:spcAft>
                <a:spcPts val="300"/>
              </a:spcAft>
            </a:pPr>
            <a:r>
              <a:rPr sz="880" b="1">
                <a:solidFill>
                  <a:srgbClr val="0F172A"/>
                </a:solidFill>
                <a:latin typeface="Segoe UI"/>
              </a:rPr>
              <a:t>• Doanh thu mục tiêu: </a:t>
            </a:r>
            <a:r>
              <a:rPr sz="850">
                <a:solidFill>
                  <a:srgbClr val="334155"/>
                </a:solidFill>
                <a:latin typeface="Segoe UI"/>
              </a:rPr>
              <a:t>ARR $2.400.000 USD và chính thức chuẩn bị chạm điểm hòa vốn.</a:t>
            </a:r>
          </a:p>
        </p:txBody>
      </p:sp>
      <p:cxnSp>
        <p:nvCxnSpPr>
          <p:cNvPr id="21" name="Connector 20"/>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3" name="TextBox 22"/>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14 / 27 • INNOSTART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DF4"/>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0B981"/>
                </a:solidFill>
                <a:latin typeface="Segoe UI"/>
              </a:defRPr>
            </a:pPr>
            <a:r>
              <a:t>VÒNG 2 • KẾ HOẠCH 1 NĂM • UNIT ECONOMICS &amp; TÀI CHÍNH</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HIỆU QUẢ ĐƠN VỊ VƯỢT TRỘI: LTV/CAC 5.2X &amp; ĐIỂM HÒA VỐN THÁNG 11/2027</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Mô hình tài chính bền vững nhờ chi phí máy chủ đám mây biên bằng 0 và thời gian hoàn vốn khách hàng dưới 3 tháng.</a:t>
            </a:r>
          </a:p>
        </p:txBody>
      </p:sp>
      <p:sp>
        <p:nvSpPr>
          <p:cNvPr id="9" name="Rounded Rectangle 8"/>
          <p:cNvSpPr/>
          <p:nvPr/>
        </p:nvSpPr>
        <p:spPr>
          <a:xfrm>
            <a:off x="731520"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TỶ</a:t>
            </a:r>
          </a:p>
        </p:txBody>
      </p:sp>
      <p:sp>
        <p:nvSpPr>
          <p:cNvPr id="11" name="TextBox 10"/>
          <p:cNvSpPr txBox="1"/>
          <p:nvPr/>
        </p:nvSpPr>
        <p:spPr>
          <a:xfrm>
            <a:off x="1463040" y="1673352"/>
            <a:ext cx="1676095" cy="530352"/>
          </a:xfrm>
          <a:prstGeom prst="rect">
            <a:avLst/>
          </a:prstGeom>
          <a:noFill/>
        </p:spPr>
        <p:txBody>
          <a:bodyPr wrap="square" lIns="0" tIns="0" rIns="0" bIns="0">
            <a:spAutoFit/>
          </a:bodyPr>
          <a:lstStyle/>
          <a:p>
            <a:pPr>
              <a:defRPr sz="1150" b="1">
                <a:solidFill>
                  <a:srgbClr val="0F172A"/>
                </a:solidFill>
                <a:latin typeface="Segoe UI"/>
              </a:defRPr>
            </a:pPr>
            <a:r>
              <a:t>TỶ LỆ LTV / CAC</a:t>
            </a:r>
          </a:p>
        </p:txBody>
      </p:sp>
      <p:sp>
        <p:nvSpPr>
          <p:cNvPr id="12" name="TextBox 11"/>
          <p:cNvSpPr txBox="1"/>
          <p:nvPr/>
        </p:nvSpPr>
        <p:spPr>
          <a:xfrm>
            <a:off x="914400" y="2240280"/>
            <a:ext cx="2179015" cy="621792"/>
          </a:xfrm>
          <a:prstGeom prst="rect">
            <a:avLst/>
          </a:prstGeom>
          <a:noFill/>
        </p:spPr>
        <p:txBody>
          <a:bodyPr wrap="square" lIns="0" tIns="0" rIns="0" bIns="0">
            <a:spAutoFit/>
          </a:bodyPr>
          <a:lstStyle/>
          <a:p>
            <a:pPr>
              <a:defRPr sz="2600" b="1">
                <a:solidFill>
                  <a:srgbClr val="1E3A8A"/>
                </a:solidFill>
                <a:latin typeface="Segoe UI"/>
              </a:defRPr>
            </a:pPr>
            <a:r>
              <a:t>5.2x</a:t>
            </a:r>
          </a:p>
          <a:p>
            <a:pPr>
              <a:defRPr sz="850" b="1">
                <a:solidFill>
                  <a:srgbClr val="0F172A"/>
                </a:solidFill>
                <a:latin typeface="Segoe UI"/>
              </a:defRPr>
            </a:pPr>
            <a:r>
              <a:t>GIÁ TRỊ VÒNG ĐỜI KHÁCH HÀNG TRÊN CHI PHÍ THU HÚT</a:t>
            </a:r>
          </a:p>
        </p:txBody>
      </p:sp>
      <p:sp>
        <p:nvSpPr>
          <p:cNvPr id="13" name="TextBox 12"/>
          <p:cNvSpPr txBox="1"/>
          <p:nvPr/>
        </p:nvSpPr>
        <p:spPr>
          <a:xfrm>
            <a:off x="914400"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Thời gian gắn bó: </a:t>
            </a:r>
            <a:r>
              <a:rPr sz="900">
                <a:solidFill>
                  <a:srgbClr val="334155"/>
                </a:solidFill>
                <a:latin typeface="Segoe UI"/>
              </a:rPr>
              <a:t>Tính trên thời gian sử dụng trung bình 36 tháng của khách hàng doanh nghiệp.</a:t>
            </a:r>
          </a:p>
          <a:p>
            <a:pPr>
              <a:spcAft>
                <a:spcPts val="400"/>
              </a:spcAft>
            </a:pPr>
            <a:r>
              <a:rPr sz="950" b="1">
                <a:solidFill>
                  <a:srgbClr val="0F172A"/>
                </a:solidFill>
                <a:latin typeface="Segoe UI"/>
              </a:rPr>
              <a:t>• Tỷ lệ giữ chân cao: </a:t>
            </a:r>
            <a:r>
              <a:rPr sz="900">
                <a:solidFill>
                  <a:srgbClr val="334155"/>
                </a:solidFill>
                <a:latin typeface="Segoe UI"/>
              </a:rPr>
              <a:t>Dự kiến đạt tỷ lệ giữ chân và gia hạn hợp đồng trên 92% hàng năm.</a:t>
            </a:r>
          </a:p>
          <a:p>
            <a:pPr>
              <a:spcAft>
                <a:spcPts val="400"/>
              </a:spcAft>
            </a:pPr>
            <a:r>
              <a:rPr sz="950" b="1">
                <a:solidFill>
                  <a:srgbClr val="0F172A"/>
                </a:solidFill>
                <a:latin typeface="Segoe UI"/>
              </a:rPr>
              <a:t>• Hiệu quả vốn: </a:t>
            </a:r>
            <a:r>
              <a:rPr sz="900">
                <a:solidFill>
                  <a:srgbClr val="334155"/>
                </a:solidFill>
                <a:latin typeface="Segoe UI"/>
              </a:rPr>
              <a:t>Mỗi đồng chi phí thu hút mang lại hơn 5.2 đồng doanh thu trọn đời.</a:t>
            </a:r>
          </a:p>
        </p:txBody>
      </p:sp>
      <p:sp>
        <p:nvSpPr>
          <p:cNvPr id="14" name="Rounded Rectangle 13"/>
          <p:cNvSpPr/>
          <p:nvPr/>
        </p:nvSpPr>
        <p:spPr>
          <a:xfrm>
            <a:off x="3459175"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42055" y="1691640"/>
            <a:ext cx="475488" cy="47548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HOÀN</a:t>
            </a:r>
          </a:p>
        </p:txBody>
      </p:sp>
      <p:sp>
        <p:nvSpPr>
          <p:cNvPr id="16" name="TextBox 15"/>
          <p:cNvSpPr txBox="1"/>
          <p:nvPr/>
        </p:nvSpPr>
        <p:spPr>
          <a:xfrm>
            <a:off x="4190695" y="1673352"/>
            <a:ext cx="1676095" cy="530352"/>
          </a:xfrm>
          <a:prstGeom prst="rect">
            <a:avLst/>
          </a:prstGeom>
          <a:noFill/>
        </p:spPr>
        <p:txBody>
          <a:bodyPr wrap="square" lIns="0" tIns="0" rIns="0" bIns="0">
            <a:spAutoFit/>
          </a:bodyPr>
          <a:lstStyle/>
          <a:p>
            <a:pPr>
              <a:defRPr sz="1150" b="1">
                <a:solidFill>
                  <a:srgbClr val="0F172A"/>
                </a:solidFill>
                <a:latin typeface="Segoe UI"/>
              </a:defRPr>
            </a:pPr>
            <a:r>
              <a:t>HOÀN VỐN CAC</a:t>
            </a:r>
          </a:p>
        </p:txBody>
      </p:sp>
      <p:sp>
        <p:nvSpPr>
          <p:cNvPr id="17" name="TextBox 16"/>
          <p:cNvSpPr txBox="1"/>
          <p:nvPr/>
        </p:nvSpPr>
        <p:spPr>
          <a:xfrm>
            <a:off x="3642055" y="2240280"/>
            <a:ext cx="2179015" cy="621792"/>
          </a:xfrm>
          <a:prstGeom prst="rect">
            <a:avLst/>
          </a:prstGeom>
          <a:noFill/>
        </p:spPr>
        <p:txBody>
          <a:bodyPr wrap="square" lIns="0" tIns="0" rIns="0" bIns="0">
            <a:spAutoFit/>
          </a:bodyPr>
          <a:lstStyle/>
          <a:p>
            <a:pPr>
              <a:defRPr sz="2600" b="1">
                <a:solidFill>
                  <a:srgbClr val="0284C7"/>
                </a:solidFill>
                <a:latin typeface="Segoe UI"/>
              </a:defRPr>
            </a:pPr>
            <a:r>
              <a:t>4.6 Th</a:t>
            </a:r>
          </a:p>
          <a:p>
            <a:pPr>
              <a:defRPr sz="850" b="1">
                <a:solidFill>
                  <a:srgbClr val="0F172A"/>
                </a:solidFill>
                <a:latin typeface="Segoe UI"/>
              </a:defRPr>
            </a:pPr>
            <a:r>
              <a:t>THỜI GIAN THU HỒI CHI PHÍ BÁN HÀNG VÀ TIẾP THỊ</a:t>
            </a:r>
          </a:p>
        </p:txBody>
      </p:sp>
      <p:sp>
        <p:nvSpPr>
          <p:cNvPr id="18" name="TextBox 17"/>
          <p:cNvSpPr txBox="1"/>
          <p:nvPr/>
        </p:nvSpPr>
        <p:spPr>
          <a:xfrm>
            <a:off x="3642055"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Kênh đại lý sẵn có: </a:t>
            </a:r>
            <a:r>
              <a:rPr sz="900">
                <a:solidFill>
                  <a:srgbClr val="334155"/>
                </a:solidFill>
                <a:latin typeface="Segoe UI"/>
              </a:rPr>
              <a:t>Tận dụng mạng lưới đại lý phần mềm kế toán giúp rút ngắn thời gian bán hàng.</a:t>
            </a:r>
          </a:p>
          <a:p>
            <a:pPr>
              <a:spcAft>
                <a:spcPts val="400"/>
              </a:spcAft>
            </a:pPr>
            <a:r>
              <a:rPr sz="950" b="1">
                <a:solidFill>
                  <a:srgbClr val="0F172A"/>
                </a:solidFill>
                <a:latin typeface="Segoe UI"/>
              </a:rPr>
              <a:t>• Chu kỳ chốt nhanh: </a:t>
            </a:r>
            <a:r>
              <a:rPr sz="900">
                <a:solidFill>
                  <a:srgbClr val="334155"/>
                </a:solidFill>
                <a:latin typeface="Segoe UI"/>
              </a:rPr>
              <a:t>Khách hàng ra quyết định thuê bao trong vòng 2 đến 4 tuần làm việc.</a:t>
            </a:r>
          </a:p>
          <a:p>
            <a:pPr>
              <a:spcAft>
                <a:spcPts val="400"/>
              </a:spcAft>
            </a:pPr>
            <a:r>
              <a:rPr sz="950" b="1">
                <a:solidFill>
                  <a:srgbClr val="0F172A"/>
                </a:solidFill>
                <a:latin typeface="Segoe UI"/>
              </a:rPr>
              <a:t>• Dòng tiền quay vòng: </a:t>
            </a:r>
            <a:r>
              <a:rPr sz="900">
                <a:solidFill>
                  <a:srgbClr val="334155"/>
                </a:solidFill>
                <a:latin typeface="Segoe UI"/>
              </a:rPr>
              <a:t>Thu hồi toàn bộ chi phí bán hàng chỉ sau 4.6 tháng thu phí dịch vụ.</a:t>
            </a:r>
          </a:p>
        </p:txBody>
      </p:sp>
      <p:sp>
        <p:nvSpPr>
          <p:cNvPr id="19" name="Rounded Rectangle 18"/>
          <p:cNvSpPr/>
          <p:nvPr/>
        </p:nvSpPr>
        <p:spPr>
          <a:xfrm>
            <a:off x="6186830"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69710" y="1691640"/>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BIÊN</a:t>
            </a:r>
          </a:p>
        </p:txBody>
      </p:sp>
      <p:sp>
        <p:nvSpPr>
          <p:cNvPr id="21" name="TextBox 20"/>
          <p:cNvSpPr txBox="1"/>
          <p:nvPr/>
        </p:nvSpPr>
        <p:spPr>
          <a:xfrm>
            <a:off x="6918350" y="1673352"/>
            <a:ext cx="1676095" cy="530352"/>
          </a:xfrm>
          <a:prstGeom prst="rect">
            <a:avLst/>
          </a:prstGeom>
          <a:noFill/>
        </p:spPr>
        <p:txBody>
          <a:bodyPr wrap="square" lIns="0" tIns="0" rIns="0" bIns="0">
            <a:spAutoFit/>
          </a:bodyPr>
          <a:lstStyle/>
          <a:p>
            <a:pPr>
              <a:defRPr sz="1150" b="1">
                <a:solidFill>
                  <a:srgbClr val="0F172A"/>
                </a:solidFill>
                <a:latin typeface="Segoe UI"/>
              </a:defRPr>
            </a:pPr>
            <a:r>
              <a:t>BIÊN LỢI NHUẬN GỘP</a:t>
            </a:r>
          </a:p>
        </p:txBody>
      </p:sp>
      <p:sp>
        <p:nvSpPr>
          <p:cNvPr id="22" name="TextBox 21"/>
          <p:cNvSpPr txBox="1"/>
          <p:nvPr/>
        </p:nvSpPr>
        <p:spPr>
          <a:xfrm>
            <a:off x="6369710" y="2240280"/>
            <a:ext cx="2179015" cy="621792"/>
          </a:xfrm>
          <a:prstGeom prst="rect">
            <a:avLst/>
          </a:prstGeom>
          <a:noFill/>
        </p:spPr>
        <p:txBody>
          <a:bodyPr wrap="square" lIns="0" tIns="0" rIns="0" bIns="0">
            <a:spAutoFit/>
          </a:bodyPr>
          <a:lstStyle/>
          <a:p>
            <a:pPr>
              <a:defRPr sz="2600" b="1">
                <a:solidFill>
                  <a:srgbClr val="10B981"/>
                </a:solidFill>
                <a:latin typeface="Segoe UI"/>
              </a:defRPr>
            </a:pPr>
            <a:r>
              <a:t>&gt; 88%</a:t>
            </a:r>
          </a:p>
          <a:p>
            <a:pPr>
              <a:defRPr sz="850" b="1">
                <a:solidFill>
                  <a:srgbClr val="0F172A"/>
                </a:solidFill>
                <a:latin typeface="Segoe UI"/>
              </a:defRPr>
            </a:pPr>
            <a:r>
              <a:t>BIÊN LỢI NHUẬN GỘP PHẦN MỀM VỮNG CHẮC</a:t>
            </a:r>
          </a:p>
        </p:txBody>
      </p:sp>
      <p:sp>
        <p:nvSpPr>
          <p:cNvPr id="23" name="TextBox 22"/>
          <p:cNvSpPr txBox="1"/>
          <p:nvPr/>
        </p:nvSpPr>
        <p:spPr>
          <a:xfrm>
            <a:off x="6369710"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Chi phí máy chủ $0: </a:t>
            </a:r>
            <a:r>
              <a:rPr sz="900">
                <a:solidFill>
                  <a:srgbClr val="334155"/>
                </a:solidFill>
                <a:latin typeface="Segoe UI"/>
              </a:rPr>
              <a:t>Phần mềm chạy trực tiếp trên máy trạm, không tốn chi phí điện toán đám mây.</a:t>
            </a:r>
          </a:p>
          <a:p>
            <a:pPr>
              <a:spcAft>
                <a:spcPts val="400"/>
              </a:spcAft>
            </a:pPr>
            <a:r>
              <a:rPr sz="950" b="1">
                <a:solidFill>
                  <a:srgbClr val="0F172A"/>
                </a:solidFill>
                <a:latin typeface="Segoe UI"/>
              </a:rPr>
              <a:t>• Mở rộng không tốn kém: </a:t>
            </a:r>
            <a:r>
              <a:rPr sz="900">
                <a:solidFill>
                  <a:srgbClr val="334155"/>
                </a:solidFill>
                <a:latin typeface="Segoe UI"/>
              </a:rPr>
              <a:t>Thêm khách hàng mới không làm tăng chi phí hạ tầng máy chủ biên.</a:t>
            </a:r>
          </a:p>
          <a:p>
            <a:pPr>
              <a:spcAft>
                <a:spcPts val="400"/>
              </a:spcAft>
            </a:pPr>
            <a:r>
              <a:rPr sz="950" b="1">
                <a:solidFill>
                  <a:srgbClr val="0F172A"/>
                </a:solidFill>
                <a:latin typeface="Segoe UI"/>
              </a:rPr>
              <a:t>• Tỷ suất lợi nhuận cao: </a:t>
            </a:r>
            <a:r>
              <a:rPr sz="900">
                <a:solidFill>
                  <a:srgbClr val="334155"/>
                </a:solidFill>
                <a:latin typeface="Segoe UI"/>
              </a:rPr>
              <a:t>Duy trì biên lợi nhuận gộp bền vững trên 88% qua các năm phát triển.</a:t>
            </a:r>
          </a:p>
        </p:txBody>
      </p:sp>
      <p:sp>
        <p:nvSpPr>
          <p:cNvPr id="24" name="Rounded Rectangle 23"/>
          <p:cNvSpPr/>
          <p:nvPr/>
        </p:nvSpPr>
        <p:spPr>
          <a:xfrm>
            <a:off x="8914485"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7365" y="1691640"/>
            <a:ext cx="475488" cy="47548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ĐIỂM</a:t>
            </a:r>
          </a:p>
        </p:txBody>
      </p:sp>
      <p:sp>
        <p:nvSpPr>
          <p:cNvPr id="26" name="TextBox 25"/>
          <p:cNvSpPr txBox="1"/>
          <p:nvPr/>
        </p:nvSpPr>
        <p:spPr>
          <a:xfrm>
            <a:off x="9646005" y="1673352"/>
            <a:ext cx="1676095" cy="530352"/>
          </a:xfrm>
          <a:prstGeom prst="rect">
            <a:avLst/>
          </a:prstGeom>
          <a:noFill/>
        </p:spPr>
        <p:txBody>
          <a:bodyPr wrap="square" lIns="0" tIns="0" rIns="0" bIns="0">
            <a:spAutoFit/>
          </a:bodyPr>
          <a:lstStyle/>
          <a:p>
            <a:pPr>
              <a:defRPr sz="1150" b="1">
                <a:solidFill>
                  <a:srgbClr val="0F172A"/>
                </a:solidFill>
                <a:latin typeface="Segoe UI"/>
              </a:defRPr>
            </a:pPr>
            <a:r>
              <a:t>ĐIỂM HÒA VỐN</a:t>
            </a:r>
          </a:p>
        </p:txBody>
      </p:sp>
      <p:sp>
        <p:nvSpPr>
          <p:cNvPr id="27" name="TextBox 26"/>
          <p:cNvSpPr txBox="1"/>
          <p:nvPr/>
        </p:nvSpPr>
        <p:spPr>
          <a:xfrm>
            <a:off x="9097365" y="2240280"/>
            <a:ext cx="2179015" cy="621792"/>
          </a:xfrm>
          <a:prstGeom prst="rect">
            <a:avLst/>
          </a:prstGeom>
          <a:noFill/>
        </p:spPr>
        <p:txBody>
          <a:bodyPr wrap="square" lIns="0" tIns="0" rIns="0" bIns="0">
            <a:spAutoFit/>
          </a:bodyPr>
          <a:lstStyle/>
          <a:p>
            <a:pPr>
              <a:defRPr sz="2600" b="1">
                <a:solidFill>
                  <a:srgbClr val="D97706"/>
                </a:solidFill>
                <a:latin typeface="Segoe UI"/>
              </a:defRPr>
            </a:pPr>
            <a:r>
              <a:t>T11/27</a:t>
            </a:r>
          </a:p>
          <a:p>
            <a:pPr>
              <a:defRPr sz="850" b="1">
                <a:solidFill>
                  <a:srgbClr val="0F172A"/>
                </a:solidFill>
                <a:latin typeface="Segoe UI"/>
              </a:defRPr>
            </a:pPr>
            <a:r>
              <a:t>THỜI ĐIỂM HÒA VỐN DÒNG TIỀN VẬN HÀNH TỰ CHỦ</a:t>
            </a:r>
          </a:p>
        </p:txBody>
      </p:sp>
      <p:sp>
        <p:nvSpPr>
          <p:cNvPr id="28" name="TextBox 27"/>
          <p:cNvSpPr txBox="1"/>
          <p:nvPr/>
        </p:nvSpPr>
        <p:spPr>
          <a:xfrm>
            <a:off x="9097365"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Quy mô hòa vốn: </a:t>
            </a:r>
            <a:r>
              <a:rPr sz="900">
                <a:solidFill>
                  <a:srgbClr val="334155"/>
                </a:solidFill>
                <a:latin typeface="Segoe UI"/>
              </a:rPr>
              <a:t>Đạt điểm hòa vốn vận hành khi chạm mốc 220 khách hàng doanh nghiệp trả phí.</a:t>
            </a:r>
          </a:p>
          <a:p>
            <a:pPr>
              <a:spcAft>
                <a:spcPts val="400"/>
              </a:spcAft>
            </a:pPr>
            <a:r>
              <a:rPr sz="950" b="1">
                <a:solidFill>
                  <a:srgbClr val="0F172A"/>
                </a:solidFill>
                <a:latin typeface="Segoe UI"/>
              </a:rPr>
              <a:t>• Tự chủ tài chính: </a:t>
            </a:r>
            <a:r>
              <a:rPr sz="900">
                <a:solidFill>
                  <a:srgbClr val="334155"/>
                </a:solidFill>
                <a:latin typeface="Segoe UI"/>
              </a:rPr>
              <a:t>Dòng tiền kinh doanh đủ bù đắp toàn bộ chi phí hoạt động mà không cần gọi thêm vốn.</a:t>
            </a:r>
          </a:p>
          <a:p>
            <a:pPr>
              <a:spcAft>
                <a:spcPts val="400"/>
              </a:spcAft>
            </a:pPr>
            <a:r>
              <a:rPr sz="950" b="1">
                <a:solidFill>
                  <a:srgbClr val="0F172A"/>
                </a:solidFill>
                <a:latin typeface="Segoe UI"/>
              </a:rPr>
              <a:t>• Bảo toàn giá trị: </a:t>
            </a:r>
            <a:r>
              <a:rPr sz="900">
                <a:solidFill>
                  <a:srgbClr val="334155"/>
                </a:solidFill>
                <a:latin typeface="Segoe UI"/>
              </a:rPr>
              <a:t>Bảo vệ tối đa quyền lợi và tránh pha loãng cổ phần cho các nhà đầu tư vòng Seed.</a:t>
            </a:r>
          </a:p>
        </p:txBody>
      </p:sp>
      <p:cxnSp>
        <p:nvCxnSpPr>
          <p:cNvPr id="29" name="Connector 28"/>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31" name="TextBox 30"/>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15 / 27 • INNOSTART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0284C7"/>
                </a:solidFill>
                <a:latin typeface="Segoe UI"/>
              </a:defRPr>
            </a:pPr>
            <a:r>
              <a:t>VÒNG 2 • KẾ HOẠCH 1 NĂM • DỰ PHÓNG DOANH THU</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DỰ PHÓNG DOANH THU 3 NĂM: BASE CASE $3.9M VÀ BULL TARGET $7.2M NĂM 2028</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Cơ cấu doanh thu minh bạch giữa thuê bao doanh nghiệp và bản quyền vận hành ngân hàng thương mại.</a:t>
            </a:r>
          </a:p>
        </p:txBody>
      </p:sp>
      <p:sp>
        <p:nvSpPr>
          <p:cNvPr id="9" name="Rounded Rectangle 8"/>
          <p:cNvSpPr/>
          <p:nvPr/>
        </p:nvSpPr>
        <p:spPr>
          <a:xfrm>
            <a:off x="731520" y="1508760"/>
            <a:ext cx="5257800" cy="3383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BASE</a:t>
            </a:r>
          </a:p>
        </p:txBody>
      </p:sp>
      <p:sp>
        <p:nvSpPr>
          <p:cNvPr id="11" name="TextBox 10"/>
          <p:cNvSpPr txBox="1"/>
          <p:nvPr/>
        </p:nvSpPr>
        <p:spPr>
          <a:xfrm>
            <a:off x="1463040" y="1673352"/>
            <a:ext cx="4389120" cy="530352"/>
          </a:xfrm>
          <a:prstGeom prst="rect">
            <a:avLst/>
          </a:prstGeom>
          <a:noFill/>
        </p:spPr>
        <p:txBody>
          <a:bodyPr wrap="square" lIns="0" tIns="0" rIns="0" bIns="0">
            <a:spAutoFit/>
          </a:bodyPr>
          <a:lstStyle/>
          <a:p>
            <a:pPr>
              <a:defRPr sz="1150" b="1">
                <a:solidFill>
                  <a:srgbClr val="0F172A"/>
                </a:solidFill>
                <a:latin typeface="Segoe UI"/>
              </a:defRPr>
            </a:pPr>
            <a:r>
              <a:t>Kịch Bản Cơ Sở (Base Case 2028)</a:t>
            </a:r>
          </a:p>
        </p:txBody>
      </p:sp>
      <p:sp>
        <p:nvSpPr>
          <p:cNvPr id="12" name="TextBox 11"/>
          <p:cNvSpPr txBox="1"/>
          <p:nvPr/>
        </p:nvSpPr>
        <p:spPr>
          <a:xfrm>
            <a:off x="914400" y="2240280"/>
            <a:ext cx="4892040" cy="621792"/>
          </a:xfrm>
          <a:prstGeom prst="rect">
            <a:avLst/>
          </a:prstGeom>
          <a:noFill/>
        </p:spPr>
        <p:txBody>
          <a:bodyPr wrap="square" lIns="0" tIns="0" rIns="0" bIns="0">
            <a:spAutoFit/>
          </a:bodyPr>
          <a:lstStyle/>
          <a:p>
            <a:pPr>
              <a:defRPr sz="2600" b="1">
                <a:solidFill>
                  <a:srgbClr val="1E3A8A"/>
                </a:solidFill>
                <a:latin typeface="Segoe UI"/>
              </a:defRPr>
            </a:pPr>
            <a:r>
              <a:t>$3,900,000</a:t>
            </a:r>
          </a:p>
          <a:p>
            <a:pPr>
              <a:defRPr sz="850" b="1">
                <a:solidFill>
                  <a:srgbClr val="0F172A"/>
                </a:solidFill>
                <a:latin typeface="Segoe UI"/>
              </a:defRPr>
            </a:pPr>
            <a:r>
              <a:t>DOANH THU DỰ PHÓNG NĂM 2028</a:t>
            </a:r>
          </a:p>
        </p:txBody>
      </p:sp>
      <p:sp>
        <p:nvSpPr>
          <p:cNvPr id="13" name="TextBox 12"/>
          <p:cNvSpPr txBox="1"/>
          <p:nvPr/>
        </p:nvSpPr>
        <p:spPr>
          <a:xfrm>
            <a:off x="914400" y="2898648"/>
            <a:ext cx="4892040" cy="1856232"/>
          </a:xfrm>
          <a:prstGeom prst="rect">
            <a:avLst/>
          </a:prstGeom>
          <a:noFill/>
        </p:spPr>
        <p:txBody>
          <a:bodyPr wrap="square" lIns="0" tIns="0" rIns="0" bIns="0">
            <a:spAutoFit/>
          </a:bodyPr>
          <a:lstStyle/>
          <a:p>
            <a:pPr>
              <a:spcAft>
                <a:spcPts val="400"/>
              </a:spcAft>
            </a:pPr>
            <a:r>
              <a:rPr sz="950" b="1">
                <a:solidFill>
                  <a:srgbClr val="0F172A"/>
                </a:solidFill>
                <a:latin typeface="Segoe UI"/>
              </a:rPr>
              <a:t>• Doanh thu dự phóng: </a:t>
            </a:r>
            <a:r>
              <a:rPr sz="900">
                <a:solidFill>
                  <a:srgbClr val="334155"/>
                </a:solidFill>
                <a:latin typeface="Segoe UI"/>
              </a:rPr>
              <a:t>$3,900,000 USD (Doanh thu định kỳ ARR: $2,750,000 USD).</a:t>
            </a:r>
          </a:p>
          <a:p>
            <a:pPr>
              <a:spcAft>
                <a:spcPts val="400"/>
              </a:spcAft>
            </a:pPr>
            <a:r>
              <a:rPr sz="950" b="1">
                <a:solidFill>
                  <a:srgbClr val="0F172A"/>
                </a:solidFill>
                <a:latin typeface="Segoe UI"/>
              </a:rPr>
              <a:t>• Quy mô khách hàng: </a:t>
            </a:r>
            <a:r>
              <a:rPr sz="900">
                <a:solidFill>
                  <a:srgbClr val="334155"/>
                </a:solidFill>
                <a:latin typeface="Segoe UI"/>
              </a:rPr>
              <a:t>450 Doanh nghiệp trả phí và 8 Ngân hàng thương mại cấp phép bản quyền.</a:t>
            </a:r>
          </a:p>
          <a:p>
            <a:pPr>
              <a:spcAft>
                <a:spcPts val="400"/>
              </a:spcAft>
            </a:pPr>
            <a:r>
              <a:rPr sz="950" b="1">
                <a:solidFill>
                  <a:srgbClr val="0F172A"/>
                </a:solidFill>
                <a:latin typeface="Segoe UI"/>
              </a:rPr>
              <a:t>• Tỷ lệ gia hạn hợp đồng: </a:t>
            </a:r>
            <a:r>
              <a:rPr sz="900">
                <a:solidFill>
                  <a:srgbClr val="334155"/>
                </a:solidFill>
                <a:latin typeface="Segoe UI"/>
              </a:rPr>
              <a:t>Dự kiến đạt &gt; 92% nhờ tính gắn kết nghiệp vụ cao của phần mềm.</a:t>
            </a:r>
          </a:p>
          <a:p>
            <a:pPr>
              <a:spcAft>
                <a:spcPts val="400"/>
              </a:spcAft>
            </a:pPr>
            <a:r>
              <a:rPr sz="950" b="1">
                <a:solidFill>
                  <a:srgbClr val="0F172A"/>
                </a:solidFill>
                <a:latin typeface="Segoe UI"/>
              </a:rPr>
              <a:t>• Cơ cấu nguồn thu: </a:t>
            </a:r>
            <a:r>
              <a:rPr sz="900">
                <a:solidFill>
                  <a:srgbClr val="334155"/>
                </a:solidFill>
                <a:latin typeface="Segoe UI"/>
              </a:rPr>
              <a:t>70% từ thuê bao doanh nghiệp và 30% từ bản quyền ngân hàng.</a:t>
            </a:r>
          </a:p>
        </p:txBody>
      </p:sp>
      <p:sp>
        <p:nvSpPr>
          <p:cNvPr id="14" name="Rounded Rectangle 13"/>
          <p:cNvSpPr/>
          <p:nvPr/>
        </p:nvSpPr>
        <p:spPr>
          <a:xfrm>
            <a:off x="6202375" y="1508760"/>
            <a:ext cx="5257800" cy="3383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85255" y="1691640"/>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BULL</a:t>
            </a:r>
          </a:p>
        </p:txBody>
      </p:sp>
      <p:sp>
        <p:nvSpPr>
          <p:cNvPr id="16" name="TextBox 15"/>
          <p:cNvSpPr txBox="1"/>
          <p:nvPr/>
        </p:nvSpPr>
        <p:spPr>
          <a:xfrm>
            <a:off x="6933895" y="1673352"/>
            <a:ext cx="4389120" cy="530352"/>
          </a:xfrm>
          <a:prstGeom prst="rect">
            <a:avLst/>
          </a:prstGeom>
          <a:noFill/>
        </p:spPr>
        <p:txBody>
          <a:bodyPr wrap="square" lIns="0" tIns="0" rIns="0" bIns="0">
            <a:spAutoFit/>
          </a:bodyPr>
          <a:lstStyle/>
          <a:p>
            <a:pPr>
              <a:defRPr sz="1150" b="1">
                <a:solidFill>
                  <a:srgbClr val="0F172A"/>
                </a:solidFill>
                <a:latin typeface="Segoe UI"/>
              </a:defRPr>
            </a:pPr>
            <a:r>
              <a:t>Kịch Bản Mục Tiêu Bứt Phá (Bull Target 2028)</a:t>
            </a:r>
          </a:p>
        </p:txBody>
      </p:sp>
      <p:sp>
        <p:nvSpPr>
          <p:cNvPr id="17" name="TextBox 16"/>
          <p:cNvSpPr txBox="1"/>
          <p:nvPr/>
        </p:nvSpPr>
        <p:spPr>
          <a:xfrm>
            <a:off x="6385255" y="2240280"/>
            <a:ext cx="4892040" cy="621792"/>
          </a:xfrm>
          <a:prstGeom prst="rect">
            <a:avLst/>
          </a:prstGeom>
          <a:noFill/>
        </p:spPr>
        <p:txBody>
          <a:bodyPr wrap="square" lIns="0" tIns="0" rIns="0" bIns="0">
            <a:spAutoFit/>
          </a:bodyPr>
          <a:lstStyle/>
          <a:p>
            <a:pPr>
              <a:defRPr sz="2600" b="1">
                <a:solidFill>
                  <a:srgbClr val="10B981"/>
                </a:solidFill>
                <a:latin typeface="Segoe UI"/>
              </a:defRPr>
            </a:pPr>
            <a:r>
              <a:t>$7,200,000</a:t>
            </a:r>
          </a:p>
          <a:p>
            <a:pPr>
              <a:defRPr sz="850" b="1">
                <a:solidFill>
                  <a:srgbClr val="0F172A"/>
                </a:solidFill>
                <a:latin typeface="Segoe UI"/>
              </a:defRPr>
            </a:pPr>
            <a:r>
              <a:t>KỊCH BẢN MỤC TIÊU BỨT PHÁ NĂM 2028</a:t>
            </a:r>
          </a:p>
        </p:txBody>
      </p:sp>
      <p:sp>
        <p:nvSpPr>
          <p:cNvPr id="18" name="TextBox 17"/>
          <p:cNvSpPr txBox="1"/>
          <p:nvPr/>
        </p:nvSpPr>
        <p:spPr>
          <a:xfrm>
            <a:off x="6385255" y="2898648"/>
            <a:ext cx="4892040" cy="1856232"/>
          </a:xfrm>
          <a:prstGeom prst="rect">
            <a:avLst/>
          </a:prstGeom>
          <a:noFill/>
        </p:spPr>
        <p:txBody>
          <a:bodyPr wrap="square" lIns="0" tIns="0" rIns="0" bIns="0">
            <a:spAutoFit/>
          </a:bodyPr>
          <a:lstStyle/>
          <a:p>
            <a:pPr>
              <a:spcAft>
                <a:spcPts val="400"/>
              </a:spcAft>
            </a:pPr>
            <a:r>
              <a:rPr sz="950" b="1">
                <a:solidFill>
                  <a:srgbClr val="0F172A"/>
                </a:solidFill>
                <a:latin typeface="Segoe UI"/>
              </a:rPr>
              <a:t>• Doanh thu bứt phá: </a:t>
            </a:r>
            <a:r>
              <a:rPr sz="900">
                <a:solidFill>
                  <a:srgbClr val="334155"/>
                </a:solidFill>
                <a:latin typeface="Segoe UI"/>
              </a:rPr>
              <a:t>$7,200,000 USD (Doanh thu định kỳ ARR: $5,800,000 USD).</a:t>
            </a:r>
          </a:p>
          <a:p>
            <a:pPr>
              <a:spcAft>
                <a:spcPts val="400"/>
              </a:spcAft>
            </a:pPr>
            <a:r>
              <a:rPr sz="950" b="1">
                <a:solidFill>
                  <a:srgbClr val="0F172A"/>
                </a:solidFill>
                <a:latin typeface="Segoe UI"/>
              </a:rPr>
              <a:t>• Quy mô mở rộng: </a:t>
            </a:r>
            <a:r>
              <a:rPr sz="900">
                <a:solidFill>
                  <a:srgbClr val="334155"/>
                </a:solidFill>
                <a:latin typeface="Segoe UI"/>
              </a:rPr>
              <a:t>750 Doanh nghiệp trả phí và 8 Ngân hàng thương mại mua bản quyền nâng cao.</a:t>
            </a:r>
          </a:p>
          <a:p>
            <a:pPr>
              <a:spcAft>
                <a:spcPts val="400"/>
              </a:spcAft>
            </a:pPr>
            <a:r>
              <a:rPr sz="950" b="1">
                <a:solidFill>
                  <a:srgbClr val="0F172A"/>
                </a:solidFill>
                <a:latin typeface="Segoe UI"/>
              </a:rPr>
              <a:t>• Biên lợi nhuận ròng: </a:t>
            </a:r>
            <a:r>
              <a:rPr sz="900">
                <a:solidFill>
                  <a:srgbClr val="334155"/>
                </a:solidFill>
                <a:latin typeface="Segoe UI"/>
              </a:rPr>
              <a:t>Dự kiến vượt &gt; 42% nhờ mô hình phần mềm tại chỗ không chịu chi phí server.</a:t>
            </a:r>
          </a:p>
          <a:p>
            <a:pPr>
              <a:spcAft>
                <a:spcPts val="400"/>
              </a:spcAft>
            </a:pPr>
            <a:r>
              <a:rPr sz="950" b="1">
                <a:solidFill>
                  <a:srgbClr val="0F172A"/>
                </a:solidFill>
                <a:latin typeface="Segoe UI"/>
              </a:rPr>
              <a:t>• Thị phần mục tiêu: </a:t>
            </a:r>
            <a:r>
              <a:rPr sz="900">
                <a:solidFill>
                  <a:srgbClr val="334155"/>
                </a:solidFill>
                <a:latin typeface="Segoe UI"/>
              </a:rPr>
              <a:t>Chiếm khoảng 4.5% thị phần doanh nghiệp mục tiêu tại Việt Nam.</a:t>
            </a:r>
          </a:p>
        </p:txBody>
      </p:sp>
      <p:sp>
        <p:nvSpPr>
          <p:cNvPr id="19" name="Rounded Rectangle 18"/>
          <p:cNvSpPr/>
          <p:nvPr/>
        </p:nvSpPr>
        <p:spPr>
          <a:xfrm>
            <a:off x="731520" y="5056632"/>
            <a:ext cx="10728655" cy="93268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148072"/>
            <a:ext cx="10362895" cy="749808"/>
          </a:xfrm>
          <a:prstGeom prst="rect">
            <a:avLst/>
          </a:prstGeom>
          <a:noFill/>
        </p:spPr>
        <p:txBody>
          <a:bodyPr wrap="square" lIns="0" tIns="0" rIns="0" bIns="0">
            <a:spAutoFit/>
          </a:bodyPr>
          <a:lstStyle/>
          <a:p>
            <a:pPr>
              <a:spcAft>
                <a:spcPts val="200"/>
              </a:spcAft>
              <a:defRPr sz="880" b="1">
                <a:solidFill>
                  <a:srgbClr val="0284C7"/>
                </a:solidFill>
                <a:latin typeface="Segoe UI"/>
              </a:defRPr>
            </a:pPr>
            <a:r>
              <a:t>LỘ TRÌNH TĂNG TRƯỞNG DOANH THU 3 NĂM</a:t>
            </a:r>
          </a:p>
          <a:p>
            <a:pPr>
              <a:defRPr sz="1100" b="1">
                <a:solidFill>
                  <a:srgbClr val="0F172A"/>
                </a:solidFill>
                <a:latin typeface="Segoe UI"/>
              </a:defRPr>
            </a:pPr>
            <a:r>
              <a:t>Năm 2026: $450k (35 DN, 1 NH) ➔ Năm 2027: $2.4M (220 DN, 3 NH, Hòa vốn T11) ➔ Năm 2028: $3.9M (Base) – $7.2M (Bull)</a:t>
            </a:r>
          </a:p>
        </p:txBody>
      </p:sp>
      <p:cxnSp>
        <p:nvCxnSpPr>
          <p:cNvPr id="21" name="Connector 20"/>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3" name="TextBox 22"/>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16 / 27 • INNOSTART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2 • KẾ HOẠCH 1 NĂM • CƠ CẤU CHI PHÍ &amp; BURN RATE</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QUẢN TRỊ DÒNG TIỀN VẬN HÀNH: CHI PHÍ TINH GỌN &amp; TỶ LỆ ĐỐT TIỀN DƯỚI $25K/THÁNG</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Tối ưu hóa tối đa chi phí hoạt động nhờ mô hình phần mềm chạy tại chỗ, bảo đảm runway dài hạn.</a:t>
            </a:r>
          </a:p>
        </p:txBody>
      </p:sp>
      <p:sp>
        <p:nvSpPr>
          <p:cNvPr id="9" name="Rounded Rectangle 8"/>
          <p:cNvSpPr/>
          <p:nvPr/>
        </p:nvSpPr>
        <p:spPr>
          <a:xfrm>
            <a:off x="731520" y="1508760"/>
            <a:ext cx="4754880" cy="1432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BURN</a:t>
            </a:r>
          </a:p>
        </p:txBody>
      </p:sp>
      <p:sp>
        <p:nvSpPr>
          <p:cNvPr id="11" name="TextBox 10"/>
          <p:cNvSpPr txBox="1"/>
          <p:nvPr/>
        </p:nvSpPr>
        <p:spPr>
          <a:xfrm>
            <a:off x="1463040" y="1673352"/>
            <a:ext cx="3886200" cy="530352"/>
          </a:xfrm>
          <a:prstGeom prst="rect">
            <a:avLst/>
          </a:prstGeom>
          <a:noFill/>
        </p:spPr>
        <p:txBody>
          <a:bodyPr wrap="square" lIns="0" tIns="0" rIns="0" bIns="0">
            <a:spAutoFit/>
          </a:bodyPr>
          <a:lstStyle/>
          <a:p>
            <a:pPr>
              <a:defRPr sz="1150" b="1">
                <a:solidFill>
                  <a:srgbClr val="0F172A"/>
                </a:solidFill>
                <a:latin typeface="Segoe UI"/>
              </a:defRPr>
            </a:pPr>
            <a:r>
              <a:t>Kiểm Soát Tỷ Lệ Đốt Tiền</a:t>
            </a:r>
          </a:p>
        </p:txBody>
      </p:sp>
      <p:sp>
        <p:nvSpPr>
          <p:cNvPr id="12" name="TextBox 11"/>
          <p:cNvSpPr txBox="1"/>
          <p:nvPr/>
        </p:nvSpPr>
        <p:spPr>
          <a:xfrm>
            <a:off x="914400" y="2240280"/>
            <a:ext cx="4389120" cy="621792"/>
          </a:xfrm>
          <a:prstGeom prst="rect">
            <a:avLst/>
          </a:prstGeom>
          <a:noFill/>
        </p:spPr>
        <p:txBody>
          <a:bodyPr wrap="square" lIns="0" tIns="0" rIns="0" bIns="0">
            <a:spAutoFit/>
          </a:bodyPr>
          <a:lstStyle/>
          <a:p>
            <a:pPr>
              <a:defRPr sz="2600" b="1">
                <a:solidFill>
                  <a:srgbClr val="DC2626"/>
                </a:solidFill>
                <a:latin typeface="Segoe UI"/>
              </a:defRPr>
            </a:pPr>
            <a:r>
              <a:t>&lt;$25k/Th</a:t>
            </a:r>
          </a:p>
          <a:p>
            <a:pPr>
              <a:defRPr sz="850" b="1">
                <a:solidFill>
                  <a:srgbClr val="0F172A"/>
                </a:solidFill>
                <a:latin typeface="Segoe UI"/>
              </a:defRPr>
            </a:pPr>
            <a:r>
              <a:t>TỶ LỆ ĐỐT TIỀN HÀNG THÁNG</a:t>
            </a:r>
          </a:p>
        </p:txBody>
      </p:sp>
      <p:sp>
        <p:nvSpPr>
          <p:cNvPr id="13" name="TextBox 12"/>
          <p:cNvSpPr txBox="1"/>
          <p:nvPr/>
        </p:nvSpPr>
        <p:spPr>
          <a:xfrm>
            <a:off x="914400" y="2898648"/>
            <a:ext cx="4389120" cy="-94488"/>
          </a:xfrm>
          <a:prstGeom prst="rect">
            <a:avLst/>
          </a:prstGeom>
          <a:noFill/>
        </p:spPr>
        <p:txBody>
          <a:bodyPr wrap="square" lIns="0" tIns="0" rIns="0" bIns="0">
            <a:spAutoFit/>
          </a:bodyPr>
          <a:lstStyle/>
          <a:p>
            <a:pPr>
              <a:spcAft>
                <a:spcPts val="400"/>
              </a:spcAft>
            </a:pPr>
            <a:r>
              <a:rPr sz="950" b="1">
                <a:solidFill>
                  <a:srgbClr val="0F172A"/>
                </a:solidFill>
                <a:latin typeface="Segoe UI"/>
              </a:rPr>
              <a:t>• Mức chi tiêu hàng tháng: </a:t>
            </a:r>
            <a:r>
              <a:rPr sz="900">
                <a:solidFill>
                  <a:srgbClr val="334155"/>
                </a:solidFill>
                <a:latin typeface="Segoe UI"/>
              </a:rPr>
              <a:t>Kiểm soát chặt chẽ ở mức $15.000 – $25.000 USD/tháng trong giai đoạn đầu.</a:t>
            </a:r>
          </a:p>
          <a:p>
            <a:pPr>
              <a:spcAft>
                <a:spcPts val="400"/>
              </a:spcAft>
            </a:pPr>
            <a:r>
              <a:rPr sz="950" b="1">
                <a:solidFill>
                  <a:srgbClr val="0F172A"/>
                </a:solidFill>
                <a:latin typeface="Segoe UI"/>
              </a:rPr>
              <a:t>• Nguyên tắc kỷ luật: </a:t>
            </a:r>
            <a:r>
              <a:rPr sz="900">
                <a:solidFill>
                  <a:srgbClr val="334155"/>
                </a:solidFill>
                <a:latin typeface="Segoe UI"/>
              </a:rPr>
              <a:t>Chỉ gia tăng ngân sách khi các chỉ số doanh thu thực tế đạt mốc nghiệm thu.</a:t>
            </a:r>
          </a:p>
        </p:txBody>
      </p:sp>
      <p:sp>
        <p:nvSpPr>
          <p:cNvPr id="14" name="Rounded Rectangle 13"/>
          <p:cNvSpPr/>
          <p:nvPr/>
        </p:nvSpPr>
        <p:spPr>
          <a:xfrm>
            <a:off x="731520" y="3032760"/>
            <a:ext cx="4754880" cy="1432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3215640"/>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RUNWAY</a:t>
            </a:r>
          </a:p>
        </p:txBody>
      </p:sp>
      <p:sp>
        <p:nvSpPr>
          <p:cNvPr id="16" name="TextBox 15"/>
          <p:cNvSpPr txBox="1"/>
          <p:nvPr/>
        </p:nvSpPr>
        <p:spPr>
          <a:xfrm>
            <a:off x="1463040" y="3197352"/>
            <a:ext cx="3886200" cy="530352"/>
          </a:xfrm>
          <a:prstGeom prst="rect">
            <a:avLst/>
          </a:prstGeom>
          <a:noFill/>
        </p:spPr>
        <p:txBody>
          <a:bodyPr wrap="square" lIns="0" tIns="0" rIns="0" bIns="0">
            <a:spAutoFit/>
          </a:bodyPr>
          <a:lstStyle/>
          <a:p>
            <a:pPr>
              <a:defRPr sz="1150" b="1">
                <a:solidFill>
                  <a:srgbClr val="0F172A"/>
                </a:solidFill>
                <a:latin typeface="Segoe UI"/>
              </a:defRPr>
            </a:pPr>
            <a:r>
              <a:t>Đường Băng Tài Chính An Toàn</a:t>
            </a:r>
          </a:p>
        </p:txBody>
      </p:sp>
      <p:sp>
        <p:nvSpPr>
          <p:cNvPr id="17" name="TextBox 16"/>
          <p:cNvSpPr txBox="1"/>
          <p:nvPr/>
        </p:nvSpPr>
        <p:spPr>
          <a:xfrm>
            <a:off x="914400" y="3764280"/>
            <a:ext cx="4389120" cy="621792"/>
          </a:xfrm>
          <a:prstGeom prst="rect">
            <a:avLst/>
          </a:prstGeom>
          <a:noFill/>
        </p:spPr>
        <p:txBody>
          <a:bodyPr wrap="square" lIns="0" tIns="0" rIns="0" bIns="0">
            <a:spAutoFit/>
          </a:bodyPr>
          <a:lstStyle/>
          <a:p>
            <a:pPr>
              <a:defRPr sz="2600" b="1">
                <a:solidFill>
                  <a:srgbClr val="10B981"/>
                </a:solidFill>
                <a:latin typeface="Segoe UI"/>
              </a:defRPr>
            </a:pPr>
            <a:r>
              <a:t>18 - 24 Th</a:t>
            </a:r>
          </a:p>
          <a:p>
            <a:pPr>
              <a:defRPr sz="850" b="1">
                <a:solidFill>
                  <a:srgbClr val="0F172A"/>
                </a:solidFill>
                <a:latin typeface="Segoe UI"/>
              </a:defRPr>
            </a:pPr>
            <a:r>
              <a:t>RUNWAY AN TOÀN TUYỆT ĐỐI</a:t>
            </a:r>
          </a:p>
        </p:txBody>
      </p:sp>
      <p:sp>
        <p:nvSpPr>
          <p:cNvPr id="18" name="TextBox 17"/>
          <p:cNvSpPr txBox="1"/>
          <p:nvPr/>
        </p:nvSpPr>
        <p:spPr>
          <a:xfrm>
            <a:off x="914400" y="4422648"/>
            <a:ext cx="4389120" cy="-94488"/>
          </a:xfrm>
          <a:prstGeom prst="rect">
            <a:avLst/>
          </a:prstGeom>
          <a:noFill/>
        </p:spPr>
        <p:txBody>
          <a:bodyPr wrap="square" lIns="0" tIns="0" rIns="0" bIns="0">
            <a:spAutoFit/>
          </a:bodyPr>
          <a:lstStyle/>
          <a:p>
            <a:pPr>
              <a:spcAft>
                <a:spcPts val="400"/>
              </a:spcAft>
            </a:pPr>
            <a:r>
              <a:rPr sz="950" b="1">
                <a:solidFill>
                  <a:srgbClr val="0F172A"/>
                </a:solidFill>
                <a:latin typeface="Segoe UI"/>
              </a:rPr>
              <a:t>• Thời gian bảo đảm: </a:t>
            </a:r>
            <a:r>
              <a:rPr sz="900">
                <a:solidFill>
                  <a:srgbClr val="334155"/>
                </a:solidFill>
                <a:latin typeface="Segoe UI"/>
              </a:rPr>
              <a:t>Nguồn vốn Seed $500k – $750k bảo đảm 18 đến 24 tháng vận hành liên tục.</a:t>
            </a:r>
          </a:p>
          <a:p>
            <a:pPr>
              <a:spcAft>
                <a:spcPts val="400"/>
              </a:spcAft>
            </a:pPr>
            <a:r>
              <a:rPr sz="950" b="1">
                <a:solidFill>
                  <a:srgbClr val="0F172A"/>
                </a:solidFill>
                <a:latin typeface="Segoe UI"/>
              </a:rPr>
              <a:t>• Vùng đệm an toàn: </a:t>
            </a:r>
            <a:r>
              <a:rPr sz="900">
                <a:solidFill>
                  <a:srgbClr val="334155"/>
                </a:solidFill>
                <a:latin typeface="Segoe UI"/>
              </a:rPr>
              <a:t>Duy trì hoạt động ổn định kể cả khi thị trường có biến động bất lợi.</a:t>
            </a:r>
          </a:p>
        </p:txBody>
      </p:sp>
      <p:sp>
        <p:nvSpPr>
          <p:cNvPr id="19" name="Rounded Rectangle 18"/>
          <p:cNvSpPr/>
          <p:nvPr/>
        </p:nvSpPr>
        <p:spPr>
          <a:xfrm>
            <a:off x="731520" y="4556760"/>
            <a:ext cx="4754880" cy="1432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4400" y="4739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TỰ CHỦ</a:t>
            </a:r>
          </a:p>
        </p:txBody>
      </p:sp>
      <p:sp>
        <p:nvSpPr>
          <p:cNvPr id="21" name="TextBox 20"/>
          <p:cNvSpPr txBox="1"/>
          <p:nvPr/>
        </p:nvSpPr>
        <p:spPr>
          <a:xfrm>
            <a:off x="1463040" y="4721352"/>
            <a:ext cx="3886200" cy="530352"/>
          </a:xfrm>
          <a:prstGeom prst="rect">
            <a:avLst/>
          </a:prstGeom>
          <a:noFill/>
        </p:spPr>
        <p:txBody>
          <a:bodyPr wrap="square" lIns="0" tIns="0" rIns="0" bIns="0">
            <a:spAutoFit/>
          </a:bodyPr>
          <a:lstStyle/>
          <a:p>
            <a:pPr>
              <a:defRPr sz="1150" b="1">
                <a:solidFill>
                  <a:srgbClr val="0F172A"/>
                </a:solidFill>
                <a:latin typeface="Segoe UI"/>
              </a:defRPr>
            </a:pPr>
            <a:r>
              <a:t>Nguyên Tắc Dòng Tiền Thép</a:t>
            </a:r>
          </a:p>
        </p:txBody>
      </p:sp>
      <p:sp>
        <p:nvSpPr>
          <p:cNvPr id="22" name="TextBox 21"/>
          <p:cNvSpPr txBox="1"/>
          <p:nvPr/>
        </p:nvSpPr>
        <p:spPr>
          <a:xfrm>
            <a:off x="914400" y="5288280"/>
            <a:ext cx="4389120" cy="621792"/>
          </a:xfrm>
          <a:prstGeom prst="rect">
            <a:avLst/>
          </a:prstGeom>
          <a:noFill/>
        </p:spPr>
        <p:txBody>
          <a:bodyPr wrap="square" lIns="0" tIns="0" rIns="0" bIns="0">
            <a:spAutoFit/>
          </a:bodyPr>
          <a:lstStyle/>
          <a:p>
            <a:pPr>
              <a:defRPr sz="2600" b="1">
                <a:solidFill>
                  <a:srgbClr val="1E3A8A"/>
                </a:solidFill>
                <a:latin typeface="Segoe UI"/>
              </a:defRPr>
            </a:pPr>
            <a:r>
              <a:t>Tự Chủ</a:t>
            </a:r>
          </a:p>
          <a:p>
            <a:pPr>
              <a:defRPr sz="850" b="1">
                <a:solidFill>
                  <a:srgbClr val="0F172A"/>
                </a:solidFill>
                <a:latin typeface="Segoe UI"/>
              </a:defRPr>
            </a:pPr>
            <a:r>
              <a:t>MÔ HÌNH TÀI CHÍNH BỀN VỮNG</a:t>
            </a:r>
          </a:p>
        </p:txBody>
      </p:sp>
      <p:sp>
        <p:nvSpPr>
          <p:cNvPr id="23" name="TextBox 22"/>
          <p:cNvSpPr txBox="1"/>
          <p:nvPr/>
        </p:nvSpPr>
        <p:spPr>
          <a:xfrm>
            <a:off x="914400" y="5946648"/>
            <a:ext cx="4389120" cy="-94488"/>
          </a:xfrm>
          <a:prstGeom prst="rect">
            <a:avLst/>
          </a:prstGeom>
          <a:noFill/>
        </p:spPr>
        <p:txBody>
          <a:bodyPr wrap="square" lIns="0" tIns="0" rIns="0" bIns="0">
            <a:spAutoFit/>
          </a:bodyPr>
          <a:lstStyle/>
          <a:p>
            <a:pPr>
              <a:spcAft>
                <a:spcPts val="400"/>
              </a:spcAft>
            </a:pPr>
            <a:r>
              <a:rPr sz="950" b="1">
                <a:solidFill>
                  <a:srgbClr val="0F172A"/>
                </a:solidFill>
                <a:latin typeface="Segoe UI"/>
              </a:rPr>
              <a:t>• Lấy ngắn nuôi dài: </a:t>
            </a:r>
            <a:r>
              <a:rPr sz="900">
                <a:solidFill>
                  <a:srgbClr val="334155"/>
                </a:solidFill>
                <a:latin typeface="Segoe UI"/>
              </a:rPr>
              <a:t>Dòng tiền từ thuê bao doanh nghiệp bù đắp chi phí trước khi mở rộng quy mô lớn.</a:t>
            </a:r>
          </a:p>
          <a:p>
            <a:pPr>
              <a:spcAft>
                <a:spcPts val="400"/>
              </a:spcAft>
            </a:pPr>
            <a:r>
              <a:rPr sz="950" b="1">
                <a:solidFill>
                  <a:srgbClr val="0F172A"/>
                </a:solidFill>
                <a:latin typeface="Segoe UI"/>
              </a:rPr>
              <a:t>• Minh bạch tài chính: </a:t>
            </a:r>
            <a:r>
              <a:rPr sz="900">
                <a:solidFill>
                  <a:srgbClr val="334155"/>
                </a:solidFill>
                <a:latin typeface="Segoe UI"/>
              </a:rPr>
              <a:t>Báo cáo thu chi chi tiết theo quý gửi hội đồng quản trị và nhà đầu tư.</a:t>
            </a:r>
          </a:p>
        </p:txBody>
      </p:sp>
      <p:sp>
        <p:nvSpPr>
          <p:cNvPr id="24" name="Rounded Rectangle 23"/>
          <p:cNvSpPr/>
          <p:nvPr/>
        </p:nvSpPr>
        <p:spPr>
          <a:xfrm>
            <a:off x="5669280" y="1508760"/>
            <a:ext cx="5790895"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52160" y="1618488"/>
            <a:ext cx="5425135" cy="365760"/>
          </a:xfrm>
          <a:prstGeom prst="rect">
            <a:avLst/>
          </a:prstGeom>
          <a:noFill/>
        </p:spPr>
        <p:txBody>
          <a:bodyPr wrap="square" lIns="0" tIns="0" rIns="0" bIns="0">
            <a:spAutoFit/>
          </a:bodyPr>
          <a:lstStyle/>
          <a:p>
            <a:pPr algn="ctr">
              <a:defRPr sz="950" b="1">
                <a:solidFill>
                  <a:srgbClr val="0F172A"/>
                </a:solidFill>
                <a:latin typeface="Segoe UI"/>
              </a:defRPr>
            </a:pPr>
            <a:r>
              <a:t>CƠ CẤU CHI PHÍ VẬN HÀNH HÀNG THÁNG</a:t>
            </a:r>
          </a:p>
        </p:txBody>
      </p:sp>
      <p:graphicFrame>
        <p:nvGraphicFramePr>
          <p:cNvPr id="26" name="Chart 25"/>
          <p:cNvGraphicFramePr>
            <a:graphicFrameLocks noGrp="1"/>
          </p:cNvGraphicFramePr>
          <p:nvPr/>
        </p:nvGraphicFramePr>
        <p:xfrm>
          <a:off x="5806440" y="1947672"/>
          <a:ext cx="5516575" cy="3968496"/>
        </p:xfrm>
        <a:graphic>
          <a:graphicData uri="http://schemas.openxmlformats.org/drawingml/2006/chart">
            <c:chart xmlns:c="http://schemas.openxmlformats.org/drawingml/2006/chart" r:id="rId2"/>
          </a:graphicData>
        </a:graphic>
      </p:graphicFrame>
      <p:cxnSp>
        <p:nvCxnSpPr>
          <p:cNvPr id="27" name="Connector 26"/>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9" name="TextBox 28"/>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17 / 27 • INNOSTART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DF4"/>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0B981"/>
                </a:solidFill>
                <a:latin typeface="Segoe UI"/>
              </a:defRPr>
            </a:pPr>
            <a:r>
              <a:t>VÒNG 2 • KẾ HOẠCH 1 NĂM • PHÁP LÝ &amp; AN TOÀN THÔNG TIN</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KHUNG PHÁP LÝ &amp; AN NINH: ĐÁNH GIÁ ISO 27001 &amp; HỒ SƠ SANDBOX NGÂN HÀNG NHÀ NƯỚC</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Chủ động hoàn thiện các chứng nhận an toàn thông tin và tham gia cơ chế thử nghiệm có kiểm soát.</a:t>
            </a:r>
          </a:p>
        </p:txBody>
      </p:sp>
      <p:sp>
        <p:nvSpPr>
          <p:cNvPr id="9" name="Rounded Rectangle 8"/>
          <p:cNvSpPr/>
          <p:nvPr/>
        </p:nvSpPr>
        <p:spPr>
          <a:xfrm>
            <a:off x="731520"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NĐ13</a:t>
            </a:r>
          </a:p>
        </p:txBody>
      </p:sp>
      <p:sp>
        <p:nvSpPr>
          <p:cNvPr id="11" name="TextBox 10"/>
          <p:cNvSpPr txBox="1"/>
          <p:nvPr/>
        </p:nvSpPr>
        <p:spPr>
          <a:xfrm>
            <a:off x="1463040" y="1673352"/>
            <a:ext cx="1676095" cy="530352"/>
          </a:xfrm>
          <a:prstGeom prst="rect">
            <a:avLst/>
          </a:prstGeom>
          <a:noFill/>
        </p:spPr>
        <p:txBody>
          <a:bodyPr wrap="square" lIns="0" tIns="0" rIns="0" bIns="0">
            <a:spAutoFit/>
          </a:bodyPr>
          <a:lstStyle/>
          <a:p>
            <a:pPr>
              <a:defRPr sz="1150" b="1">
                <a:solidFill>
                  <a:srgbClr val="0F172A"/>
                </a:solidFill>
                <a:latin typeface="Segoe UI"/>
              </a:defRPr>
            </a:pPr>
            <a:r>
              <a:t>Nghị Định 13 &amp; DPIA</a:t>
            </a:r>
          </a:p>
        </p:txBody>
      </p:sp>
      <p:sp>
        <p:nvSpPr>
          <p:cNvPr id="12" name="TextBox 11"/>
          <p:cNvSpPr txBox="1"/>
          <p:nvPr/>
        </p:nvSpPr>
        <p:spPr>
          <a:xfrm>
            <a:off x="914400" y="2240280"/>
            <a:ext cx="2179015" cy="621792"/>
          </a:xfrm>
          <a:prstGeom prst="rect">
            <a:avLst/>
          </a:prstGeom>
          <a:noFill/>
        </p:spPr>
        <p:txBody>
          <a:bodyPr wrap="square" lIns="0" tIns="0" rIns="0" bIns="0">
            <a:spAutoFit/>
          </a:bodyPr>
          <a:lstStyle/>
          <a:p>
            <a:pPr>
              <a:defRPr sz="2600" b="1">
                <a:solidFill>
                  <a:srgbClr val="DC2626"/>
                </a:solidFill>
                <a:latin typeface="Segoe UI"/>
              </a:defRPr>
            </a:pPr>
            <a:r>
              <a:t>DPIA A05</a:t>
            </a:r>
          </a:p>
          <a:p>
            <a:pPr>
              <a:defRPr sz="850" b="1">
                <a:solidFill>
                  <a:srgbClr val="0F172A"/>
                </a:solidFill>
                <a:latin typeface="Segoe UI"/>
              </a:defRPr>
            </a:pPr>
            <a:r>
              <a:t>TUÂN THỦ NGHỊ ĐỊNH 13</a:t>
            </a:r>
          </a:p>
        </p:txBody>
      </p:sp>
      <p:sp>
        <p:nvSpPr>
          <p:cNvPr id="13" name="TextBox 12"/>
          <p:cNvSpPr txBox="1"/>
          <p:nvPr/>
        </p:nvSpPr>
        <p:spPr>
          <a:xfrm>
            <a:off x="914400"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Đánh giá tác động: </a:t>
            </a:r>
            <a:r>
              <a:rPr sz="900">
                <a:solidFill>
                  <a:srgbClr val="334155"/>
                </a:solidFill>
                <a:latin typeface="Segoe UI"/>
              </a:rPr>
              <a:t>Hoàn thành hồ sơ Đánh giá tác động xử lý dữ liệu cá nhân gửi Cục An ninh mạng A05.</a:t>
            </a:r>
          </a:p>
          <a:p>
            <a:pPr>
              <a:spcAft>
                <a:spcPts val="400"/>
              </a:spcAft>
            </a:pPr>
            <a:r>
              <a:rPr sz="950" b="1">
                <a:solidFill>
                  <a:srgbClr val="0F172A"/>
                </a:solidFill>
                <a:latin typeface="Segoe UI"/>
              </a:rPr>
              <a:t>• Zero Data Egress: </a:t>
            </a:r>
            <a:r>
              <a:rPr sz="900">
                <a:solidFill>
                  <a:srgbClr val="334155"/>
                </a:solidFill>
                <a:latin typeface="Segoe UI"/>
              </a:rPr>
              <a:t>Cam kết 100% dữ liệu tài chính không bao giờ rời khỏi thiết bị nội bộ của khách hàng.</a:t>
            </a:r>
          </a:p>
          <a:p>
            <a:pPr>
              <a:spcAft>
                <a:spcPts val="400"/>
              </a:spcAft>
            </a:pPr>
            <a:r>
              <a:rPr sz="950" b="1">
                <a:solidFill>
                  <a:srgbClr val="0F172A"/>
                </a:solidFill>
                <a:latin typeface="Segoe UI"/>
              </a:rPr>
              <a:t>• Kiểm soát chặt chẽ: </a:t>
            </a:r>
            <a:r>
              <a:rPr sz="900">
                <a:solidFill>
                  <a:srgbClr val="334155"/>
                </a:solidFill>
                <a:latin typeface="Segoe UI"/>
              </a:rPr>
              <a:t>Bảo đảm quyền riêng tư của chủ thể dữ liệu tuyệt đối theo quy định.</a:t>
            </a:r>
          </a:p>
        </p:txBody>
      </p:sp>
      <p:sp>
        <p:nvSpPr>
          <p:cNvPr id="14" name="Rounded Rectangle 13"/>
          <p:cNvSpPr/>
          <p:nvPr/>
        </p:nvSpPr>
        <p:spPr>
          <a:xfrm>
            <a:off x="3459175"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42055"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TT09</a:t>
            </a:r>
          </a:p>
        </p:txBody>
      </p:sp>
      <p:sp>
        <p:nvSpPr>
          <p:cNvPr id="16" name="TextBox 15"/>
          <p:cNvSpPr txBox="1"/>
          <p:nvPr/>
        </p:nvSpPr>
        <p:spPr>
          <a:xfrm>
            <a:off x="4190695" y="1673352"/>
            <a:ext cx="1676095" cy="530352"/>
          </a:xfrm>
          <a:prstGeom prst="rect">
            <a:avLst/>
          </a:prstGeom>
          <a:noFill/>
        </p:spPr>
        <p:txBody>
          <a:bodyPr wrap="square" lIns="0" tIns="0" rIns="0" bIns="0">
            <a:spAutoFit/>
          </a:bodyPr>
          <a:lstStyle/>
          <a:p>
            <a:pPr>
              <a:defRPr sz="1150" b="1">
                <a:solidFill>
                  <a:srgbClr val="0F172A"/>
                </a:solidFill>
                <a:latin typeface="Segoe UI"/>
              </a:defRPr>
            </a:pPr>
            <a:r>
              <a:t>Thông Tư 09/2020</a:t>
            </a:r>
          </a:p>
        </p:txBody>
      </p:sp>
      <p:sp>
        <p:nvSpPr>
          <p:cNvPr id="17" name="TextBox 16"/>
          <p:cNvSpPr txBox="1"/>
          <p:nvPr/>
        </p:nvSpPr>
        <p:spPr>
          <a:xfrm>
            <a:off x="3642055" y="2240280"/>
            <a:ext cx="2179015" cy="621792"/>
          </a:xfrm>
          <a:prstGeom prst="rect">
            <a:avLst/>
          </a:prstGeom>
          <a:noFill/>
        </p:spPr>
        <p:txBody>
          <a:bodyPr wrap="square" lIns="0" tIns="0" rIns="0" bIns="0">
            <a:spAutoFit/>
          </a:bodyPr>
          <a:lstStyle/>
          <a:p>
            <a:pPr>
              <a:defRPr sz="2600" b="1">
                <a:solidFill>
                  <a:srgbClr val="1E3A8A"/>
                </a:solidFill>
                <a:latin typeface="Segoe UI"/>
              </a:defRPr>
            </a:pPr>
            <a:r>
              <a:t>Cấp Độ 3 - 5</a:t>
            </a:r>
          </a:p>
          <a:p>
            <a:pPr>
              <a:defRPr sz="850" b="1">
                <a:solidFill>
                  <a:srgbClr val="0F172A"/>
                </a:solidFill>
                <a:latin typeface="Segoe UI"/>
              </a:defRPr>
            </a:pPr>
            <a:r>
              <a:t>AN TOÀN HỆ THỐNG TT</a:t>
            </a:r>
          </a:p>
        </p:txBody>
      </p:sp>
      <p:sp>
        <p:nvSpPr>
          <p:cNvPr id="18" name="TextBox 17"/>
          <p:cNvSpPr txBox="1"/>
          <p:nvPr/>
        </p:nvSpPr>
        <p:spPr>
          <a:xfrm>
            <a:off x="3642055"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Cấp độ 3 - 5: </a:t>
            </a:r>
            <a:r>
              <a:rPr sz="900">
                <a:solidFill>
                  <a:srgbClr val="334155"/>
                </a:solidFill>
                <a:latin typeface="Segoe UI"/>
              </a:rPr>
              <a:t>Tuân thủ tiêu chuẩn an toàn hệ thống thông tin ngành ngân hàng cấp độ cao.</a:t>
            </a:r>
          </a:p>
          <a:p>
            <a:pPr>
              <a:spcAft>
                <a:spcPts val="400"/>
              </a:spcAft>
            </a:pPr>
            <a:r>
              <a:rPr sz="950" b="1">
                <a:solidFill>
                  <a:srgbClr val="0F172A"/>
                </a:solidFill>
                <a:latin typeface="Segoe UI"/>
              </a:rPr>
              <a:t>• Nhật ký kiểm toán: </a:t>
            </a:r>
            <a:r>
              <a:rPr sz="900">
                <a:solidFill>
                  <a:srgbClr val="334155"/>
                </a:solidFill>
                <a:latin typeface="Segoe UI"/>
              </a:rPr>
              <a:t>Lưu trữ nhật ký kiểm toán bất biến phục vụ thanh tra và đối chiếu nghiệp vụ.</a:t>
            </a:r>
          </a:p>
          <a:p>
            <a:pPr>
              <a:spcAft>
                <a:spcPts val="400"/>
              </a:spcAft>
            </a:pPr>
            <a:r>
              <a:rPr sz="950" b="1">
                <a:solidFill>
                  <a:srgbClr val="0F172A"/>
                </a:solidFill>
                <a:latin typeface="Segoe UI"/>
              </a:rPr>
              <a:t>• Bảo vệ hệ thống lõi: </a:t>
            </a:r>
            <a:r>
              <a:rPr sz="900">
                <a:solidFill>
                  <a:srgbClr val="334155"/>
                </a:solidFill>
                <a:latin typeface="Segoe UI"/>
              </a:rPr>
              <a:t>Cấm dùng đám mây công cộng cho các tác vụ ngân quỹ trọng yếu.</a:t>
            </a:r>
          </a:p>
        </p:txBody>
      </p:sp>
      <p:sp>
        <p:nvSpPr>
          <p:cNvPr id="19" name="Rounded Rectangle 18"/>
          <p:cNvSpPr/>
          <p:nvPr/>
        </p:nvSpPr>
        <p:spPr>
          <a:xfrm>
            <a:off x="6186830"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69710" y="1691640"/>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ISO</a:t>
            </a:r>
          </a:p>
        </p:txBody>
      </p:sp>
      <p:sp>
        <p:nvSpPr>
          <p:cNvPr id="21" name="TextBox 20"/>
          <p:cNvSpPr txBox="1"/>
          <p:nvPr/>
        </p:nvSpPr>
        <p:spPr>
          <a:xfrm>
            <a:off x="6918350" y="1673352"/>
            <a:ext cx="1676095" cy="530352"/>
          </a:xfrm>
          <a:prstGeom prst="rect">
            <a:avLst/>
          </a:prstGeom>
          <a:noFill/>
        </p:spPr>
        <p:txBody>
          <a:bodyPr wrap="square" lIns="0" tIns="0" rIns="0" bIns="0">
            <a:spAutoFit/>
          </a:bodyPr>
          <a:lstStyle/>
          <a:p>
            <a:pPr>
              <a:defRPr sz="1150" b="1">
                <a:solidFill>
                  <a:srgbClr val="0F172A"/>
                </a:solidFill>
                <a:latin typeface="Segoe UI"/>
              </a:defRPr>
            </a:pPr>
            <a:r>
              <a:t>Tiêu Chuẩn ISO 27001</a:t>
            </a:r>
          </a:p>
        </p:txBody>
      </p:sp>
      <p:sp>
        <p:nvSpPr>
          <p:cNvPr id="22" name="TextBox 21"/>
          <p:cNvSpPr txBox="1"/>
          <p:nvPr/>
        </p:nvSpPr>
        <p:spPr>
          <a:xfrm>
            <a:off x="6369710" y="2240280"/>
            <a:ext cx="2179015" cy="621792"/>
          </a:xfrm>
          <a:prstGeom prst="rect">
            <a:avLst/>
          </a:prstGeom>
          <a:noFill/>
        </p:spPr>
        <p:txBody>
          <a:bodyPr wrap="square" lIns="0" tIns="0" rIns="0" bIns="0">
            <a:spAutoFit/>
          </a:bodyPr>
          <a:lstStyle/>
          <a:p>
            <a:pPr>
              <a:defRPr sz="2600" b="1">
                <a:solidFill>
                  <a:srgbClr val="10B981"/>
                </a:solidFill>
                <a:latin typeface="Segoe UI"/>
              </a:defRPr>
            </a:pPr>
            <a:r>
              <a:t>ISO 27001</a:t>
            </a:r>
          </a:p>
          <a:p>
            <a:pPr>
              <a:defRPr sz="850" b="1">
                <a:solidFill>
                  <a:srgbClr val="0F172A"/>
                </a:solidFill>
                <a:latin typeface="Segoe UI"/>
              </a:defRPr>
            </a:pPr>
            <a:r>
              <a:t>QUẢN LÝ ATTT ĐỘC LẬP</a:t>
            </a:r>
          </a:p>
        </p:txBody>
      </p:sp>
      <p:sp>
        <p:nvSpPr>
          <p:cNvPr id="23" name="TextBox 22"/>
          <p:cNvSpPr txBox="1"/>
          <p:nvPr/>
        </p:nvSpPr>
        <p:spPr>
          <a:xfrm>
            <a:off x="6369710"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Kiểm toán độc lập: </a:t>
            </a:r>
            <a:r>
              <a:rPr sz="900">
                <a:solidFill>
                  <a:srgbClr val="334155"/>
                </a:solidFill>
                <a:latin typeface="Segoe UI"/>
              </a:rPr>
              <a:t>Hợp tác cùng tổ chức kiểm toán an ninh độc lập đánh giá quy trình phần mềm.</a:t>
            </a:r>
          </a:p>
          <a:p>
            <a:pPr>
              <a:spcAft>
                <a:spcPts val="400"/>
              </a:spcAft>
            </a:pPr>
            <a:r>
              <a:rPr sz="950" b="1">
                <a:solidFill>
                  <a:srgbClr val="0F172A"/>
                </a:solidFill>
                <a:latin typeface="Segoe UI"/>
              </a:rPr>
              <a:t>• Chứng chỉ uy tín: </a:t>
            </a:r>
            <a:r>
              <a:rPr sz="900">
                <a:solidFill>
                  <a:srgbClr val="334155"/>
                </a:solidFill>
                <a:latin typeface="Segoe UI"/>
              </a:rPr>
              <a:t>Xác lập chuẩn mực quản lý an toàn thông tin tạo dựng niềm tin với khối tài chính.</a:t>
            </a:r>
          </a:p>
          <a:p>
            <a:pPr>
              <a:spcAft>
                <a:spcPts val="400"/>
              </a:spcAft>
            </a:pPr>
            <a:r>
              <a:rPr sz="950" b="1">
                <a:solidFill>
                  <a:srgbClr val="0F172A"/>
                </a:solidFill>
                <a:latin typeface="Segoe UI"/>
              </a:rPr>
              <a:t>• Khung an toàn quốc tế: </a:t>
            </a:r>
            <a:r>
              <a:rPr sz="900">
                <a:solidFill>
                  <a:srgbClr val="334155"/>
                </a:solidFill>
                <a:latin typeface="Segoe UI"/>
              </a:rPr>
              <a:t>Áp dụng các biện pháp kiểm soát an ninh thông tin theo tiêu chuẩn toàn cầu.</a:t>
            </a:r>
          </a:p>
        </p:txBody>
      </p:sp>
      <p:sp>
        <p:nvSpPr>
          <p:cNvPr id="24" name="Rounded Rectangle 23"/>
          <p:cNvSpPr/>
          <p:nvPr/>
        </p:nvSpPr>
        <p:spPr>
          <a:xfrm>
            <a:off x="8914485" y="1508760"/>
            <a:ext cx="2544775"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7365" y="1691640"/>
            <a:ext cx="475488" cy="47548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SBX</a:t>
            </a:r>
          </a:p>
        </p:txBody>
      </p:sp>
      <p:sp>
        <p:nvSpPr>
          <p:cNvPr id="26" name="TextBox 25"/>
          <p:cNvSpPr txBox="1"/>
          <p:nvPr/>
        </p:nvSpPr>
        <p:spPr>
          <a:xfrm>
            <a:off x="9646005" y="1673352"/>
            <a:ext cx="1676095" cy="530352"/>
          </a:xfrm>
          <a:prstGeom prst="rect">
            <a:avLst/>
          </a:prstGeom>
          <a:noFill/>
        </p:spPr>
        <p:txBody>
          <a:bodyPr wrap="square" lIns="0" tIns="0" rIns="0" bIns="0">
            <a:spAutoFit/>
          </a:bodyPr>
          <a:lstStyle/>
          <a:p>
            <a:pPr>
              <a:defRPr sz="1150" b="1">
                <a:solidFill>
                  <a:srgbClr val="0F172A"/>
                </a:solidFill>
                <a:latin typeface="Segoe UI"/>
              </a:defRPr>
            </a:pPr>
            <a:r>
              <a:t>Sandbox Ngân Hàng Nhà Nước</a:t>
            </a:r>
          </a:p>
        </p:txBody>
      </p:sp>
      <p:sp>
        <p:nvSpPr>
          <p:cNvPr id="27" name="TextBox 26"/>
          <p:cNvSpPr txBox="1"/>
          <p:nvPr/>
        </p:nvSpPr>
        <p:spPr>
          <a:xfrm>
            <a:off x="9097365" y="2240280"/>
            <a:ext cx="2179015" cy="621792"/>
          </a:xfrm>
          <a:prstGeom prst="rect">
            <a:avLst/>
          </a:prstGeom>
          <a:noFill/>
        </p:spPr>
        <p:txBody>
          <a:bodyPr wrap="square" lIns="0" tIns="0" rIns="0" bIns="0">
            <a:spAutoFit/>
          </a:bodyPr>
          <a:lstStyle/>
          <a:p>
            <a:pPr>
              <a:defRPr sz="2600" b="1">
                <a:solidFill>
                  <a:srgbClr val="D97706"/>
                </a:solidFill>
                <a:latin typeface="Segoe UI"/>
              </a:defRPr>
            </a:pPr>
            <a:r>
              <a:t>QĐ 810</a:t>
            </a:r>
          </a:p>
          <a:p>
            <a:pPr>
              <a:defRPr sz="850" b="1">
                <a:solidFill>
                  <a:srgbClr val="0F172A"/>
                </a:solidFill>
                <a:latin typeface="Segoe UI"/>
              </a:defRPr>
            </a:pPr>
            <a:r>
              <a:t>CƠ CHẾ THỬ NGHIỆM SANDBOX</a:t>
            </a:r>
          </a:p>
        </p:txBody>
      </p:sp>
      <p:sp>
        <p:nvSpPr>
          <p:cNvPr id="28" name="TextBox 27"/>
          <p:cNvSpPr txBox="1"/>
          <p:nvPr/>
        </p:nvSpPr>
        <p:spPr>
          <a:xfrm>
            <a:off x="9097365" y="2898648"/>
            <a:ext cx="2179015"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Quyết định 810: </a:t>
            </a:r>
            <a:r>
              <a:rPr sz="900">
                <a:solidFill>
                  <a:srgbClr val="334155"/>
                </a:solidFill>
                <a:latin typeface="Segoe UI"/>
              </a:rPr>
              <a:t>Chuẩn bị sẵn sàng hồ sơ tham gia cơ chế thử nghiệm có kiểm soát giải pháp Fintech.</a:t>
            </a:r>
          </a:p>
          <a:p>
            <a:pPr>
              <a:spcAft>
                <a:spcPts val="400"/>
              </a:spcAft>
            </a:pPr>
            <a:r>
              <a:rPr sz="950" b="1">
                <a:solidFill>
                  <a:srgbClr val="0F172A"/>
                </a:solidFill>
                <a:latin typeface="Segoe UI"/>
              </a:rPr>
              <a:t>• Tiên phong chuẩn mực: </a:t>
            </a:r>
            <a:r>
              <a:rPr sz="900">
                <a:solidFill>
                  <a:srgbClr val="334155"/>
                </a:solidFill>
                <a:latin typeface="Segoe UI"/>
              </a:rPr>
              <a:t>Tham gia xây dựng chuẩn mực kết nối tự động hóa ngân quỹ bản địa tại Việt Nam.</a:t>
            </a:r>
          </a:p>
          <a:p>
            <a:pPr>
              <a:spcAft>
                <a:spcPts val="400"/>
              </a:spcAft>
            </a:pPr>
            <a:r>
              <a:rPr sz="950" b="1">
                <a:solidFill>
                  <a:srgbClr val="0F172A"/>
                </a:solidFill>
                <a:latin typeface="Segoe UI"/>
              </a:rPr>
              <a:t>• Đồng hành ngân hàng: </a:t>
            </a:r>
            <a:r>
              <a:rPr sz="900">
                <a:solidFill>
                  <a:srgbClr val="334155"/>
                </a:solidFill>
                <a:latin typeface="Segoe UI"/>
              </a:rPr>
              <a:t>Hợp tác chặt chẽ cùng các ngân hàng thương mại lớn trong khuôn khổ thử nghiệm.</a:t>
            </a:r>
          </a:p>
        </p:txBody>
      </p:sp>
      <p:cxnSp>
        <p:nvCxnSpPr>
          <p:cNvPr id="29" name="Connector 28"/>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31" name="TextBox 30"/>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18 / 27 • INNOSTART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2 • KẾ HOẠCH 1 NĂM • ĐỘI NGŨ SÁNG LẬP</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ĐỘI NGŨ SÁNG LẬP 100% FULL-TIME: GẮN KẾT, THẤU HIỂU NGHIỆP VỤ &amp; LÀM CHỦ CÔNG NGHỆ</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5 nhà sáng lập làm việc toàn thời gian cùng kế hoạch bổ sung kỹ sư hệ thống hiệu năng cao.</a:t>
            </a:r>
          </a:p>
        </p:txBody>
      </p:sp>
      <p:sp>
        <p:nvSpPr>
          <p:cNvPr id="9" name="Rounded Rectangle 8"/>
          <p:cNvSpPr/>
          <p:nvPr/>
        </p:nvSpPr>
        <p:spPr>
          <a:xfrm>
            <a:off x="731520" y="1508760"/>
            <a:ext cx="1998878" cy="3383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CEO</a:t>
            </a:r>
          </a:p>
        </p:txBody>
      </p:sp>
      <p:sp>
        <p:nvSpPr>
          <p:cNvPr id="11" name="TextBox 10"/>
          <p:cNvSpPr txBox="1"/>
          <p:nvPr/>
        </p:nvSpPr>
        <p:spPr>
          <a:xfrm>
            <a:off x="1463040" y="1673352"/>
            <a:ext cx="1130198" cy="530352"/>
          </a:xfrm>
          <a:prstGeom prst="rect">
            <a:avLst/>
          </a:prstGeom>
          <a:noFill/>
        </p:spPr>
        <p:txBody>
          <a:bodyPr wrap="square" lIns="0" tIns="0" rIns="0" bIns="0">
            <a:spAutoFit/>
          </a:bodyPr>
          <a:lstStyle/>
          <a:p>
            <a:pPr>
              <a:defRPr sz="1150" b="1">
                <a:solidFill>
                  <a:srgbClr val="0F172A"/>
                </a:solidFill>
                <a:latin typeface="Segoe UI"/>
              </a:defRPr>
            </a:pPr>
            <a:r>
              <a:t>Nguyễn Anh Dương</a:t>
            </a:r>
          </a:p>
        </p:txBody>
      </p:sp>
      <p:sp>
        <p:nvSpPr>
          <p:cNvPr id="12" name="TextBox 11"/>
          <p:cNvSpPr txBox="1"/>
          <p:nvPr/>
        </p:nvSpPr>
        <p:spPr>
          <a:xfrm>
            <a:off x="914400" y="2240280"/>
            <a:ext cx="1633118" cy="2514600"/>
          </a:xfrm>
          <a:prstGeom prst="rect">
            <a:avLst/>
          </a:prstGeom>
          <a:noFill/>
        </p:spPr>
        <p:txBody>
          <a:bodyPr wrap="square" lIns="0" tIns="0" rIns="0" bIns="0">
            <a:spAutoFit/>
          </a:bodyPr>
          <a:lstStyle/>
          <a:p>
            <a:pPr>
              <a:spcAft>
                <a:spcPts val="400"/>
              </a:spcAft>
            </a:pPr>
            <a:r>
              <a:rPr sz="950" b="1">
                <a:solidFill>
                  <a:srgbClr val="0F172A"/>
                </a:solidFill>
                <a:latin typeface="Segoe UI"/>
              </a:rPr>
              <a:t>• Vai trò: </a:t>
            </a:r>
            <a:r>
              <a:rPr sz="900">
                <a:solidFill>
                  <a:srgbClr val="334155"/>
                </a:solidFill>
                <a:latin typeface="Segoe UI"/>
              </a:rPr>
              <a:t>CEO / Co-Founder</a:t>
            </a:r>
          </a:p>
          <a:p>
            <a:pPr>
              <a:spcAft>
                <a:spcPts val="400"/>
              </a:spcAft>
            </a:pPr>
            <a:r>
              <a:rPr sz="950" b="1">
                <a:solidFill>
                  <a:srgbClr val="0F172A"/>
                </a:solidFill>
                <a:latin typeface="Segoe UI"/>
              </a:rPr>
              <a:t>• Chuyên môn: </a:t>
            </a:r>
            <a:r>
              <a:rPr sz="900">
                <a:solidFill>
                  <a:srgbClr val="334155"/>
                </a:solidFill>
                <a:latin typeface="Segoe UI"/>
              </a:rPr>
              <a:t>Chiến lược Sản phẩm &amp; Điều hành</a:t>
            </a:r>
          </a:p>
          <a:p>
            <a:pPr>
              <a:spcAft>
                <a:spcPts val="400"/>
              </a:spcAft>
            </a:pPr>
            <a:r>
              <a:rPr sz="950" b="1">
                <a:solidFill>
                  <a:srgbClr val="0F172A"/>
                </a:solidFill>
                <a:latin typeface="Segoe UI"/>
              </a:rPr>
              <a:t>• Nhiệm vụ: </a:t>
            </a:r>
            <a:r>
              <a:rPr sz="900">
                <a:solidFill>
                  <a:srgbClr val="334155"/>
                </a:solidFill>
                <a:latin typeface="Segoe UI"/>
              </a:rPr>
              <a:t>Định hướng chiến lược, kết nối đối tác ngân hàng và quan hệ nhà đầu tư.</a:t>
            </a:r>
          </a:p>
        </p:txBody>
      </p:sp>
      <p:sp>
        <p:nvSpPr>
          <p:cNvPr id="13" name="Rounded Rectangle 12"/>
          <p:cNvSpPr/>
          <p:nvPr/>
        </p:nvSpPr>
        <p:spPr>
          <a:xfrm>
            <a:off x="2913278" y="1508760"/>
            <a:ext cx="1998878" cy="3383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96158" y="1691640"/>
            <a:ext cx="475488" cy="47548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CTO</a:t>
            </a:r>
          </a:p>
        </p:txBody>
      </p:sp>
      <p:sp>
        <p:nvSpPr>
          <p:cNvPr id="15" name="TextBox 14"/>
          <p:cNvSpPr txBox="1"/>
          <p:nvPr/>
        </p:nvSpPr>
        <p:spPr>
          <a:xfrm>
            <a:off x="3644798" y="1673352"/>
            <a:ext cx="1130198" cy="530352"/>
          </a:xfrm>
          <a:prstGeom prst="rect">
            <a:avLst/>
          </a:prstGeom>
          <a:noFill/>
        </p:spPr>
        <p:txBody>
          <a:bodyPr wrap="square" lIns="0" tIns="0" rIns="0" bIns="0">
            <a:spAutoFit/>
          </a:bodyPr>
          <a:lstStyle/>
          <a:p>
            <a:pPr>
              <a:defRPr sz="1150" b="1">
                <a:solidFill>
                  <a:srgbClr val="0F172A"/>
                </a:solidFill>
                <a:latin typeface="Segoe UI"/>
              </a:defRPr>
            </a:pPr>
            <a:r>
              <a:t>Nguyễn Hoàng Hiếu</a:t>
            </a:r>
          </a:p>
        </p:txBody>
      </p:sp>
      <p:sp>
        <p:nvSpPr>
          <p:cNvPr id="16" name="TextBox 15"/>
          <p:cNvSpPr txBox="1"/>
          <p:nvPr/>
        </p:nvSpPr>
        <p:spPr>
          <a:xfrm>
            <a:off x="3096158" y="2240280"/>
            <a:ext cx="1633118" cy="2514600"/>
          </a:xfrm>
          <a:prstGeom prst="rect">
            <a:avLst/>
          </a:prstGeom>
          <a:noFill/>
        </p:spPr>
        <p:txBody>
          <a:bodyPr wrap="square" lIns="0" tIns="0" rIns="0" bIns="0">
            <a:spAutoFit/>
          </a:bodyPr>
          <a:lstStyle/>
          <a:p>
            <a:pPr>
              <a:spcAft>
                <a:spcPts val="400"/>
              </a:spcAft>
            </a:pPr>
            <a:r>
              <a:rPr sz="950" b="1">
                <a:solidFill>
                  <a:srgbClr val="0F172A"/>
                </a:solidFill>
                <a:latin typeface="Segoe UI"/>
              </a:rPr>
              <a:t>• Vai trò: </a:t>
            </a:r>
            <a:r>
              <a:rPr sz="900">
                <a:solidFill>
                  <a:srgbClr val="334155"/>
                </a:solidFill>
                <a:latin typeface="Segoe UI"/>
              </a:rPr>
              <a:t>CTO / Co-Founder</a:t>
            </a:r>
          </a:p>
          <a:p>
            <a:pPr>
              <a:spcAft>
                <a:spcPts val="400"/>
              </a:spcAft>
            </a:pPr>
            <a:r>
              <a:rPr sz="950" b="1">
                <a:solidFill>
                  <a:srgbClr val="0F172A"/>
                </a:solidFill>
                <a:latin typeface="Segoe UI"/>
              </a:rPr>
              <a:t>• Chuyên môn: </a:t>
            </a:r>
            <a:r>
              <a:rPr sz="900">
                <a:solidFill>
                  <a:srgbClr val="334155"/>
                </a:solidFill>
                <a:latin typeface="Segoe UI"/>
              </a:rPr>
              <a:t>Kiến trúc sư Hệ thống &amp; AI</a:t>
            </a:r>
          </a:p>
          <a:p>
            <a:pPr>
              <a:spcAft>
                <a:spcPts val="400"/>
              </a:spcAft>
            </a:pPr>
            <a:r>
              <a:rPr sz="950" b="1">
                <a:solidFill>
                  <a:srgbClr val="0F172A"/>
                </a:solidFill>
                <a:latin typeface="Segoe UI"/>
              </a:rPr>
              <a:t>• Nhiệm vụ: </a:t>
            </a:r>
            <a:r>
              <a:rPr sz="900">
                <a:solidFill>
                  <a:srgbClr val="334155"/>
                </a:solidFill>
                <a:latin typeface="Segoe UI"/>
              </a:rPr>
              <a:t>Làm chủ kiến trúc động cơ xử lý tại chỗ và mô hình ngôn ngữ chuyên sâu.</a:t>
            </a:r>
          </a:p>
        </p:txBody>
      </p:sp>
      <p:sp>
        <p:nvSpPr>
          <p:cNvPr id="17" name="Rounded Rectangle 16"/>
          <p:cNvSpPr/>
          <p:nvPr/>
        </p:nvSpPr>
        <p:spPr>
          <a:xfrm>
            <a:off x="5095036" y="1508760"/>
            <a:ext cx="1998878" cy="3383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77916" y="1691640"/>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COO</a:t>
            </a:r>
          </a:p>
        </p:txBody>
      </p:sp>
      <p:sp>
        <p:nvSpPr>
          <p:cNvPr id="19" name="TextBox 18"/>
          <p:cNvSpPr txBox="1"/>
          <p:nvPr/>
        </p:nvSpPr>
        <p:spPr>
          <a:xfrm>
            <a:off x="5826556" y="1673352"/>
            <a:ext cx="1130198" cy="530352"/>
          </a:xfrm>
          <a:prstGeom prst="rect">
            <a:avLst/>
          </a:prstGeom>
          <a:noFill/>
        </p:spPr>
        <p:txBody>
          <a:bodyPr wrap="square" lIns="0" tIns="0" rIns="0" bIns="0">
            <a:spAutoFit/>
          </a:bodyPr>
          <a:lstStyle/>
          <a:p>
            <a:pPr>
              <a:defRPr sz="1150" b="1">
                <a:solidFill>
                  <a:srgbClr val="0F172A"/>
                </a:solidFill>
                <a:latin typeface="Segoe UI"/>
              </a:defRPr>
            </a:pPr>
            <a:r>
              <a:t>Nguyễn Huy Anh Minh</a:t>
            </a:r>
          </a:p>
        </p:txBody>
      </p:sp>
      <p:sp>
        <p:nvSpPr>
          <p:cNvPr id="20" name="TextBox 19"/>
          <p:cNvSpPr txBox="1"/>
          <p:nvPr/>
        </p:nvSpPr>
        <p:spPr>
          <a:xfrm>
            <a:off x="5277916" y="2240280"/>
            <a:ext cx="1633118" cy="2514600"/>
          </a:xfrm>
          <a:prstGeom prst="rect">
            <a:avLst/>
          </a:prstGeom>
          <a:noFill/>
        </p:spPr>
        <p:txBody>
          <a:bodyPr wrap="square" lIns="0" tIns="0" rIns="0" bIns="0">
            <a:spAutoFit/>
          </a:bodyPr>
          <a:lstStyle/>
          <a:p>
            <a:pPr>
              <a:spcAft>
                <a:spcPts val="400"/>
              </a:spcAft>
            </a:pPr>
            <a:r>
              <a:rPr sz="950" b="1">
                <a:solidFill>
                  <a:srgbClr val="0F172A"/>
                </a:solidFill>
                <a:latin typeface="Segoe UI"/>
              </a:rPr>
              <a:t>• Vai trò: </a:t>
            </a:r>
            <a:r>
              <a:rPr sz="900">
                <a:solidFill>
                  <a:srgbClr val="334155"/>
                </a:solidFill>
                <a:latin typeface="Segoe UI"/>
              </a:rPr>
              <a:t>COO / Co-Founder</a:t>
            </a:r>
          </a:p>
          <a:p>
            <a:pPr>
              <a:spcAft>
                <a:spcPts val="400"/>
              </a:spcAft>
            </a:pPr>
            <a:r>
              <a:rPr sz="950" b="1">
                <a:solidFill>
                  <a:srgbClr val="0F172A"/>
                </a:solidFill>
                <a:latin typeface="Segoe UI"/>
              </a:rPr>
              <a:t>• Chuyên môn: </a:t>
            </a:r>
            <a:r>
              <a:rPr sz="900">
                <a:solidFill>
                  <a:srgbClr val="334155"/>
                </a:solidFill>
                <a:latin typeface="Segoe UI"/>
              </a:rPr>
              <a:t>Vận hành &amp; Pháp lý</a:t>
            </a:r>
          </a:p>
          <a:p>
            <a:pPr>
              <a:spcAft>
                <a:spcPts val="400"/>
              </a:spcAft>
            </a:pPr>
            <a:r>
              <a:rPr sz="950" b="1">
                <a:solidFill>
                  <a:srgbClr val="0F172A"/>
                </a:solidFill>
                <a:latin typeface="Segoe UI"/>
              </a:rPr>
              <a:t>• Nhiệm vụ: </a:t>
            </a:r>
            <a:r>
              <a:rPr sz="900">
                <a:solidFill>
                  <a:srgbClr val="334155"/>
                </a:solidFill>
                <a:latin typeface="Segoe UI"/>
              </a:rPr>
              <a:t>Quản trị tuân thủ Nghị định 13, mở rộng thị trường và quản lý mạng lưới đối tác.</a:t>
            </a:r>
          </a:p>
        </p:txBody>
      </p:sp>
      <p:sp>
        <p:nvSpPr>
          <p:cNvPr id="21" name="Rounded Rectangle 20"/>
          <p:cNvSpPr/>
          <p:nvPr/>
        </p:nvSpPr>
        <p:spPr>
          <a:xfrm>
            <a:off x="7276794" y="1508760"/>
            <a:ext cx="1998878" cy="3383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9674" y="1691640"/>
            <a:ext cx="475488" cy="47548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CPO</a:t>
            </a:r>
          </a:p>
        </p:txBody>
      </p:sp>
      <p:sp>
        <p:nvSpPr>
          <p:cNvPr id="23" name="TextBox 22"/>
          <p:cNvSpPr txBox="1"/>
          <p:nvPr/>
        </p:nvSpPr>
        <p:spPr>
          <a:xfrm>
            <a:off x="8008314" y="1673352"/>
            <a:ext cx="1130198" cy="530352"/>
          </a:xfrm>
          <a:prstGeom prst="rect">
            <a:avLst/>
          </a:prstGeom>
          <a:noFill/>
        </p:spPr>
        <p:txBody>
          <a:bodyPr wrap="square" lIns="0" tIns="0" rIns="0" bIns="0">
            <a:spAutoFit/>
          </a:bodyPr>
          <a:lstStyle/>
          <a:p>
            <a:pPr>
              <a:defRPr sz="1150" b="1">
                <a:solidFill>
                  <a:srgbClr val="0F172A"/>
                </a:solidFill>
                <a:latin typeface="Segoe UI"/>
              </a:defRPr>
            </a:pPr>
            <a:r>
              <a:t>Nguyễn Minh Hiếu</a:t>
            </a:r>
          </a:p>
        </p:txBody>
      </p:sp>
      <p:sp>
        <p:nvSpPr>
          <p:cNvPr id="24" name="TextBox 23"/>
          <p:cNvSpPr txBox="1"/>
          <p:nvPr/>
        </p:nvSpPr>
        <p:spPr>
          <a:xfrm>
            <a:off x="7459674" y="2240280"/>
            <a:ext cx="1633118" cy="2514600"/>
          </a:xfrm>
          <a:prstGeom prst="rect">
            <a:avLst/>
          </a:prstGeom>
          <a:noFill/>
        </p:spPr>
        <p:txBody>
          <a:bodyPr wrap="square" lIns="0" tIns="0" rIns="0" bIns="0">
            <a:spAutoFit/>
          </a:bodyPr>
          <a:lstStyle/>
          <a:p>
            <a:pPr>
              <a:spcAft>
                <a:spcPts val="400"/>
              </a:spcAft>
            </a:pPr>
            <a:r>
              <a:rPr sz="950" b="1">
                <a:solidFill>
                  <a:srgbClr val="0F172A"/>
                </a:solidFill>
                <a:latin typeface="Segoe UI"/>
              </a:rPr>
              <a:t>• Vai trò: </a:t>
            </a:r>
            <a:r>
              <a:rPr sz="900">
                <a:solidFill>
                  <a:srgbClr val="334155"/>
                </a:solidFill>
                <a:latin typeface="Segoe UI"/>
              </a:rPr>
              <a:t>Head of Product</a:t>
            </a:r>
          </a:p>
          <a:p>
            <a:pPr>
              <a:spcAft>
                <a:spcPts val="400"/>
              </a:spcAft>
            </a:pPr>
            <a:r>
              <a:rPr sz="950" b="1">
                <a:solidFill>
                  <a:srgbClr val="0F172A"/>
                </a:solidFill>
                <a:latin typeface="Segoe UI"/>
              </a:rPr>
              <a:t>• Chuyên môn: </a:t>
            </a:r>
            <a:r>
              <a:rPr sz="900">
                <a:solidFill>
                  <a:srgbClr val="334155"/>
                </a:solidFill>
                <a:latin typeface="Segoe UI"/>
              </a:rPr>
              <a:t>Trải nghiệm Khách hàng &amp; Nghiệp vụ</a:t>
            </a:r>
          </a:p>
          <a:p>
            <a:pPr>
              <a:spcAft>
                <a:spcPts val="400"/>
              </a:spcAft>
            </a:pPr>
            <a:r>
              <a:rPr sz="950" b="1">
                <a:solidFill>
                  <a:srgbClr val="0F172A"/>
                </a:solidFill>
                <a:latin typeface="Segoe UI"/>
              </a:rPr>
              <a:t>• Nhiệm vụ: </a:t>
            </a:r>
            <a:r>
              <a:rPr sz="900">
                <a:solidFill>
                  <a:srgbClr val="334155"/>
                </a:solidFill>
                <a:latin typeface="Segoe UI"/>
              </a:rPr>
              <a:t>Thiết kế quy trình ngân quỹ và tối ưu hóa trải nghiệm kế toán doanh nghiệp.</a:t>
            </a:r>
          </a:p>
        </p:txBody>
      </p:sp>
      <p:sp>
        <p:nvSpPr>
          <p:cNvPr id="25" name="Rounded Rectangle 24"/>
          <p:cNvSpPr/>
          <p:nvPr/>
        </p:nvSpPr>
        <p:spPr>
          <a:xfrm>
            <a:off x="9458552" y="1508760"/>
            <a:ext cx="1998878" cy="3383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641432" y="1691640"/>
            <a:ext cx="475488" cy="475488"/>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TECH</a:t>
            </a:r>
          </a:p>
        </p:txBody>
      </p:sp>
      <p:sp>
        <p:nvSpPr>
          <p:cNvPr id="27" name="TextBox 26"/>
          <p:cNvSpPr txBox="1"/>
          <p:nvPr/>
        </p:nvSpPr>
        <p:spPr>
          <a:xfrm>
            <a:off x="10190072" y="1673352"/>
            <a:ext cx="1130198" cy="530352"/>
          </a:xfrm>
          <a:prstGeom prst="rect">
            <a:avLst/>
          </a:prstGeom>
          <a:noFill/>
        </p:spPr>
        <p:txBody>
          <a:bodyPr wrap="square" lIns="0" tIns="0" rIns="0" bIns="0">
            <a:spAutoFit/>
          </a:bodyPr>
          <a:lstStyle/>
          <a:p>
            <a:pPr>
              <a:defRPr sz="1150" b="1">
                <a:solidFill>
                  <a:srgbClr val="0F172A"/>
                </a:solidFill>
                <a:latin typeface="Segoe UI"/>
              </a:defRPr>
            </a:pPr>
            <a:r>
              <a:t>Cao Xuân Đại</a:t>
            </a:r>
          </a:p>
        </p:txBody>
      </p:sp>
      <p:sp>
        <p:nvSpPr>
          <p:cNvPr id="28" name="TextBox 27"/>
          <p:cNvSpPr txBox="1"/>
          <p:nvPr/>
        </p:nvSpPr>
        <p:spPr>
          <a:xfrm>
            <a:off x="9641432" y="2240280"/>
            <a:ext cx="1633118" cy="2514600"/>
          </a:xfrm>
          <a:prstGeom prst="rect">
            <a:avLst/>
          </a:prstGeom>
          <a:noFill/>
        </p:spPr>
        <p:txBody>
          <a:bodyPr wrap="square" lIns="0" tIns="0" rIns="0" bIns="0">
            <a:spAutoFit/>
          </a:bodyPr>
          <a:lstStyle/>
          <a:p>
            <a:pPr>
              <a:spcAft>
                <a:spcPts val="400"/>
              </a:spcAft>
            </a:pPr>
            <a:r>
              <a:rPr sz="950" b="1">
                <a:solidFill>
                  <a:srgbClr val="0F172A"/>
                </a:solidFill>
                <a:latin typeface="Segoe UI"/>
              </a:rPr>
              <a:t>• Vai trò: </a:t>
            </a:r>
            <a:r>
              <a:rPr sz="900">
                <a:solidFill>
                  <a:srgbClr val="334155"/>
                </a:solidFill>
                <a:latin typeface="Segoe UI"/>
              </a:rPr>
              <a:t>Lead Engineer</a:t>
            </a:r>
          </a:p>
          <a:p>
            <a:pPr>
              <a:spcAft>
                <a:spcPts val="400"/>
              </a:spcAft>
            </a:pPr>
            <a:r>
              <a:rPr sz="950" b="1">
                <a:solidFill>
                  <a:srgbClr val="0F172A"/>
                </a:solidFill>
                <a:latin typeface="Segoe UI"/>
              </a:rPr>
              <a:t>• Chuyên môn: </a:t>
            </a:r>
            <a:r>
              <a:rPr sz="900">
                <a:solidFill>
                  <a:srgbClr val="334155"/>
                </a:solidFill>
                <a:latin typeface="Segoe UI"/>
              </a:rPr>
              <a:t>Kỹ sư Hệ thống &amp; Tích hợp</a:t>
            </a:r>
          </a:p>
          <a:p>
            <a:pPr>
              <a:spcAft>
                <a:spcPts val="400"/>
              </a:spcAft>
            </a:pPr>
            <a:r>
              <a:rPr sz="950" b="1">
                <a:solidFill>
                  <a:srgbClr val="0F172A"/>
                </a:solidFill>
                <a:latin typeface="Segoe UI"/>
              </a:rPr>
              <a:t>• Nhiệm vụ: </a:t>
            </a:r>
            <a:r>
              <a:rPr sz="900">
                <a:solidFill>
                  <a:srgbClr val="334155"/>
                </a:solidFill>
                <a:latin typeface="Segoe UI"/>
              </a:rPr>
              <a:t>Tối ưu hóa thuật toán đối soát số học xác định và giao diện Workbench.</a:t>
            </a:r>
          </a:p>
        </p:txBody>
      </p:sp>
      <p:sp>
        <p:nvSpPr>
          <p:cNvPr id="29" name="Rounded Rectangle 28"/>
          <p:cNvSpPr/>
          <p:nvPr/>
        </p:nvSpPr>
        <p:spPr>
          <a:xfrm>
            <a:off x="731520" y="5056632"/>
            <a:ext cx="10728655" cy="93268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148072"/>
            <a:ext cx="10362895" cy="749808"/>
          </a:xfrm>
          <a:prstGeom prst="rect">
            <a:avLst/>
          </a:prstGeom>
          <a:noFill/>
        </p:spPr>
        <p:txBody>
          <a:bodyPr wrap="square" lIns="0" tIns="0" rIns="0" bIns="0">
            <a:spAutoFit/>
          </a:bodyPr>
          <a:lstStyle/>
          <a:p>
            <a:pPr>
              <a:spcAft>
                <a:spcPts val="200"/>
              </a:spcAft>
              <a:defRPr sz="880" b="1">
                <a:solidFill>
                  <a:srgbClr val="0284C7"/>
                </a:solidFill>
                <a:latin typeface="Segoe UI"/>
              </a:defRPr>
            </a:pPr>
            <a:r>
              <a:t>CAM KẾT DÀI HẠN &amp; KẾ HOẠCH TUYỂN DỤNG SAU VÒNG SEED</a:t>
            </a:r>
          </a:p>
          <a:p>
            <a:pPr>
              <a:defRPr sz="950">
                <a:solidFill>
                  <a:srgbClr val="0F172A"/>
                </a:solidFill>
                <a:latin typeface="Segoe UI"/>
              </a:defRPr>
            </a:pPr>
            <a:r>
              <a:t>100% Thành viên sáng lập cam kết toàn thời gian tối thiểu 3 năm. Kế hoạch tuyển dụng sau vòng Seed: Bổ sung 4 kỹ sư hệ thống cao cấp và 2 chuyên viên tư vấn tài chính doanh nghiệp để đẩy nhanh tiến độ sản phẩm.</a:t>
            </a:r>
          </a:p>
        </p:txBody>
      </p:sp>
      <p:cxnSp>
        <p:nvCxnSpPr>
          <p:cNvPr id="31" name="Connector 30"/>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33" name="TextBox 32"/>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19 / 27 • INNOSTART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DC2626"/>
                </a:solidFill>
                <a:latin typeface="Segoe UI"/>
              </a:defRPr>
            </a:pPr>
            <a:r>
              <a:t>VÒNG 2 • KẾ HOẠCH 1 NĂM • QUẢN TRỊ RỦI RO</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QUẢN TRỊ RỦI RO CHỦ ĐỘNG: KỊCH BẢN ỨNG PHÓ PHÁP LÝ, KINH DOANH VÀ CÔNG NGHỆ</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Nhìn thẳng vào khó khăn và chuẩn bị sẵn sàng các phương án phòng vệ an toàn cho doanh nghiệp.</a:t>
            </a:r>
          </a:p>
        </p:txBody>
      </p:sp>
      <p:sp>
        <p:nvSpPr>
          <p:cNvPr id="9" name="Rounded Rectangle 8"/>
          <p:cNvSpPr/>
          <p:nvPr/>
        </p:nvSpPr>
        <p:spPr>
          <a:xfrm>
            <a:off x="731520"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BIZ</a:t>
            </a:r>
          </a:p>
        </p:txBody>
      </p:sp>
      <p:sp>
        <p:nvSpPr>
          <p:cNvPr id="11" name="TextBox 10"/>
          <p:cNvSpPr txBox="1"/>
          <p:nvPr/>
        </p:nvSpPr>
        <p:spPr>
          <a:xfrm>
            <a:off x="1463040" y="1673352"/>
            <a:ext cx="2585008" cy="530352"/>
          </a:xfrm>
          <a:prstGeom prst="rect">
            <a:avLst/>
          </a:prstGeom>
          <a:noFill/>
        </p:spPr>
        <p:txBody>
          <a:bodyPr wrap="square" lIns="0" tIns="0" rIns="0" bIns="0">
            <a:spAutoFit/>
          </a:bodyPr>
          <a:lstStyle/>
          <a:p>
            <a:pPr>
              <a:defRPr sz="1150" b="1">
                <a:solidFill>
                  <a:srgbClr val="0F172A"/>
                </a:solidFill>
                <a:latin typeface="Segoe UI"/>
              </a:defRPr>
            </a:pPr>
            <a:r>
              <a:t>Chu Kỳ Bán Hàng Ngân Hàng Kéo Dài</a:t>
            </a:r>
          </a:p>
        </p:txBody>
      </p:sp>
      <p:sp>
        <p:nvSpPr>
          <p:cNvPr id="12" name="TextBox 11"/>
          <p:cNvSpPr txBox="1"/>
          <p:nvPr/>
        </p:nvSpPr>
        <p:spPr>
          <a:xfrm>
            <a:off x="914400" y="2240280"/>
            <a:ext cx="3087928" cy="621792"/>
          </a:xfrm>
          <a:prstGeom prst="rect">
            <a:avLst/>
          </a:prstGeom>
          <a:noFill/>
        </p:spPr>
        <p:txBody>
          <a:bodyPr wrap="square" lIns="0" tIns="0" rIns="0" bIns="0">
            <a:spAutoFit/>
          </a:bodyPr>
          <a:lstStyle/>
          <a:p>
            <a:pPr>
              <a:defRPr sz="2600" b="1">
                <a:solidFill>
                  <a:srgbClr val="1E3A8A"/>
                </a:solidFill>
                <a:latin typeface="Segoe UI"/>
              </a:defRPr>
            </a:pPr>
            <a:r>
              <a:t>12 - 18 Th</a:t>
            </a:r>
          </a:p>
          <a:p>
            <a:pPr>
              <a:defRPr sz="850" b="1">
                <a:solidFill>
                  <a:srgbClr val="0F172A"/>
                </a:solidFill>
                <a:latin typeface="Segoe UI"/>
              </a:defRPr>
            </a:pPr>
            <a:r>
              <a:t>CHU KỲ BÁN HÀNG NGÂN HÀNG</a:t>
            </a:r>
          </a:p>
        </p:txBody>
      </p:sp>
      <p:sp>
        <p:nvSpPr>
          <p:cNvPr id="13" name="TextBox 12"/>
          <p:cNvSpPr txBox="1"/>
          <p:nvPr/>
        </p:nvSpPr>
        <p:spPr>
          <a:xfrm>
            <a:off x="914400"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Thách thức nhận diện: </a:t>
            </a:r>
            <a:r>
              <a:rPr sz="900">
                <a:solidFill>
                  <a:srgbClr val="334155"/>
                </a:solidFill>
                <a:latin typeface="Segoe UI"/>
              </a:rPr>
              <a:t>Quá trình thẩm định kỹ thuật và ký kết với ngân hàng thương mại thường kéo dài 12-18 tháng.</a:t>
            </a:r>
          </a:p>
          <a:p>
            <a:pPr>
              <a:spcAft>
                <a:spcPts val="400"/>
              </a:spcAft>
            </a:pPr>
            <a:r>
              <a:rPr sz="950" b="1">
                <a:solidFill>
                  <a:srgbClr val="0F172A"/>
                </a:solidFill>
                <a:latin typeface="Segoe UI"/>
              </a:rPr>
              <a:t>• Kịch bản ứng phó: </a:t>
            </a:r>
            <a:r>
              <a:rPr sz="900">
                <a:solidFill>
                  <a:srgbClr val="334155"/>
                </a:solidFill>
                <a:latin typeface="Segoe UI"/>
              </a:rPr>
              <a:t>Lấy ngắn nuôi dài — Tập trung bán gói thuê bao cho các CFO doanh nghiệp chốt hợp đồng trong 2–4 tuần.</a:t>
            </a:r>
          </a:p>
          <a:p>
            <a:pPr>
              <a:spcAft>
                <a:spcPts val="400"/>
              </a:spcAft>
            </a:pPr>
            <a:r>
              <a:rPr sz="950" b="1">
                <a:solidFill>
                  <a:srgbClr val="0F172A"/>
                </a:solidFill>
                <a:latin typeface="Segoe UI"/>
              </a:rPr>
              <a:t>• Kết quả bảo đảm: </a:t>
            </a:r>
            <a:r>
              <a:rPr sz="900">
                <a:solidFill>
                  <a:srgbClr val="334155"/>
                </a:solidFill>
                <a:latin typeface="Segoe UI"/>
              </a:rPr>
              <a:t>Tạo dòng tiền tự chủ nuôi sống bộ máy mà không bị phụ thuộc vào tiến độ ngân hàng.</a:t>
            </a:r>
          </a:p>
        </p:txBody>
      </p:sp>
      <p:sp>
        <p:nvSpPr>
          <p:cNvPr id="14" name="Rounded Rectangle 13"/>
          <p:cNvSpPr/>
          <p:nvPr/>
        </p:nvSpPr>
        <p:spPr>
          <a:xfrm>
            <a:off x="4368088"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50968" y="1691640"/>
            <a:ext cx="475488" cy="47548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LAW</a:t>
            </a:r>
          </a:p>
        </p:txBody>
      </p:sp>
      <p:sp>
        <p:nvSpPr>
          <p:cNvPr id="16" name="TextBox 15"/>
          <p:cNvSpPr txBox="1"/>
          <p:nvPr/>
        </p:nvSpPr>
        <p:spPr>
          <a:xfrm>
            <a:off x="5099608" y="1673352"/>
            <a:ext cx="2585008" cy="530352"/>
          </a:xfrm>
          <a:prstGeom prst="rect">
            <a:avLst/>
          </a:prstGeom>
          <a:noFill/>
        </p:spPr>
        <p:txBody>
          <a:bodyPr wrap="square" lIns="0" tIns="0" rIns="0" bIns="0">
            <a:spAutoFit/>
          </a:bodyPr>
          <a:lstStyle/>
          <a:p>
            <a:pPr>
              <a:defRPr sz="1150" b="1">
                <a:solidFill>
                  <a:srgbClr val="0F172A"/>
                </a:solidFill>
                <a:latin typeface="Segoe UI"/>
              </a:defRPr>
            </a:pPr>
            <a:r>
              <a:t>Thủ Tục Thử Nghiệm Sandbox</a:t>
            </a:r>
          </a:p>
        </p:txBody>
      </p:sp>
      <p:sp>
        <p:nvSpPr>
          <p:cNvPr id="17" name="TextBox 16"/>
          <p:cNvSpPr txBox="1"/>
          <p:nvPr/>
        </p:nvSpPr>
        <p:spPr>
          <a:xfrm>
            <a:off x="4550968" y="2240280"/>
            <a:ext cx="3087928" cy="621792"/>
          </a:xfrm>
          <a:prstGeom prst="rect">
            <a:avLst/>
          </a:prstGeom>
          <a:noFill/>
        </p:spPr>
        <p:txBody>
          <a:bodyPr wrap="square" lIns="0" tIns="0" rIns="0" bIns="0">
            <a:spAutoFit/>
          </a:bodyPr>
          <a:lstStyle/>
          <a:p>
            <a:pPr>
              <a:defRPr sz="2600" b="1">
                <a:solidFill>
                  <a:srgbClr val="D97706"/>
                </a:solidFill>
                <a:latin typeface="Segoe UI"/>
              </a:defRPr>
            </a:pPr>
            <a:r>
              <a:t>6 - 12 Th</a:t>
            </a:r>
          </a:p>
          <a:p>
            <a:pPr>
              <a:defRPr sz="850" b="1">
                <a:solidFill>
                  <a:srgbClr val="0F172A"/>
                </a:solidFill>
                <a:latin typeface="Segoe UI"/>
              </a:defRPr>
            </a:pPr>
            <a:r>
              <a:t>THỜI GIAN CHUẨN BỊ SANDBOX</a:t>
            </a:r>
          </a:p>
        </p:txBody>
      </p:sp>
      <p:sp>
        <p:nvSpPr>
          <p:cNvPr id="18" name="TextBox 17"/>
          <p:cNvSpPr txBox="1"/>
          <p:nvPr/>
        </p:nvSpPr>
        <p:spPr>
          <a:xfrm>
            <a:off x="4550968"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Thách thức nhận diện: </a:t>
            </a:r>
            <a:r>
              <a:rPr sz="900">
                <a:solidFill>
                  <a:srgbClr val="334155"/>
                </a:solidFill>
                <a:latin typeface="Segoe UI"/>
              </a:rPr>
              <a:t>Thời gian phê duyệt đề án Sandbox của Ngân hàng Nhà nước có thể kéo dài từ 6 đến 12 tháng.</a:t>
            </a:r>
          </a:p>
          <a:p>
            <a:pPr>
              <a:spcAft>
                <a:spcPts val="400"/>
              </a:spcAft>
            </a:pPr>
            <a:r>
              <a:rPr sz="950" b="1">
                <a:solidFill>
                  <a:srgbClr val="0F172A"/>
                </a:solidFill>
                <a:latin typeface="Segoe UI"/>
              </a:rPr>
              <a:t>• Kịch bản ứng phó: </a:t>
            </a:r>
            <a:r>
              <a:rPr sz="900">
                <a:solidFill>
                  <a:srgbClr val="334155"/>
                </a:solidFill>
                <a:latin typeface="Segoe UI"/>
              </a:rPr>
              <a:t>Triển khai trước gói quản trị và đối soát nội bộ cho doanh nghiệp (không can thiệp lệnh chuyển tiền).</a:t>
            </a:r>
          </a:p>
          <a:p>
            <a:pPr>
              <a:spcAft>
                <a:spcPts val="400"/>
              </a:spcAft>
            </a:pPr>
            <a:r>
              <a:rPr sz="950" b="1">
                <a:solidFill>
                  <a:srgbClr val="0F172A"/>
                </a:solidFill>
                <a:latin typeface="Segoe UI"/>
              </a:rPr>
              <a:t>• Kết quả bảo đảm: </a:t>
            </a:r>
            <a:r>
              <a:rPr sz="900">
                <a:solidFill>
                  <a:srgbClr val="334155"/>
                </a:solidFill>
                <a:latin typeface="Segoe UI"/>
              </a:rPr>
              <a:t>Tạo doanh thu thương mại ngay lập tức trong khi song song hoàn thiện hồ sơ Sandbox.</a:t>
            </a:r>
          </a:p>
        </p:txBody>
      </p:sp>
      <p:sp>
        <p:nvSpPr>
          <p:cNvPr id="19" name="Rounded Rectangle 18"/>
          <p:cNvSpPr/>
          <p:nvPr/>
        </p:nvSpPr>
        <p:spPr>
          <a:xfrm>
            <a:off x="8004656"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87536" y="1691640"/>
            <a:ext cx="475488" cy="47548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TECH</a:t>
            </a:r>
          </a:p>
        </p:txBody>
      </p:sp>
      <p:sp>
        <p:nvSpPr>
          <p:cNvPr id="21" name="TextBox 20"/>
          <p:cNvSpPr txBox="1"/>
          <p:nvPr/>
        </p:nvSpPr>
        <p:spPr>
          <a:xfrm>
            <a:off x="8736176" y="1673352"/>
            <a:ext cx="2585008" cy="530352"/>
          </a:xfrm>
          <a:prstGeom prst="rect">
            <a:avLst/>
          </a:prstGeom>
          <a:noFill/>
        </p:spPr>
        <p:txBody>
          <a:bodyPr wrap="square" lIns="0" tIns="0" rIns="0" bIns="0">
            <a:spAutoFit/>
          </a:bodyPr>
          <a:lstStyle/>
          <a:p>
            <a:pPr>
              <a:defRPr sz="1150" b="1">
                <a:solidFill>
                  <a:srgbClr val="0F172A"/>
                </a:solidFill>
                <a:latin typeface="Segoe UI"/>
              </a:defRPr>
            </a:pPr>
            <a:r>
              <a:t>Mẫu Sao Kê Thay Đổi Đột Ngột</a:t>
            </a:r>
          </a:p>
        </p:txBody>
      </p:sp>
      <p:sp>
        <p:nvSpPr>
          <p:cNvPr id="22" name="TextBox 21"/>
          <p:cNvSpPr txBox="1"/>
          <p:nvPr/>
        </p:nvSpPr>
        <p:spPr>
          <a:xfrm>
            <a:off x="8187536" y="2240280"/>
            <a:ext cx="3087928" cy="621792"/>
          </a:xfrm>
          <a:prstGeom prst="rect">
            <a:avLst/>
          </a:prstGeom>
          <a:noFill/>
        </p:spPr>
        <p:txBody>
          <a:bodyPr wrap="square" lIns="0" tIns="0" rIns="0" bIns="0">
            <a:spAutoFit/>
          </a:bodyPr>
          <a:lstStyle/>
          <a:p>
            <a:pPr>
              <a:defRPr sz="2600" b="1">
                <a:solidFill>
                  <a:srgbClr val="DC2626"/>
                </a:solidFill>
                <a:latin typeface="Segoe UI"/>
              </a:defRPr>
            </a:pPr>
            <a:r>
              <a:t>Khóa 0.2%</a:t>
            </a:r>
          </a:p>
          <a:p>
            <a:pPr>
              <a:defRPr sz="850" b="1">
                <a:solidFill>
                  <a:srgbClr val="0F172A"/>
                </a:solidFill>
                <a:latin typeface="Segoe UI"/>
              </a:defRPr>
            </a:pPr>
            <a:r>
              <a:t>CƠ CHẾ AN TOÀN TỨC THÌ</a:t>
            </a:r>
          </a:p>
        </p:txBody>
      </p:sp>
      <p:sp>
        <p:nvSpPr>
          <p:cNvPr id="23" name="TextBox 22"/>
          <p:cNvSpPr txBox="1"/>
          <p:nvPr/>
        </p:nvSpPr>
        <p:spPr>
          <a:xfrm>
            <a:off x="8187536"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Thách thức nhận diện: </a:t>
            </a:r>
            <a:r>
              <a:rPr sz="900">
                <a:solidFill>
                  <a:srgbClr val="334155"/>
                </a:solidFill>
                <a:latin typeface="Segoe UI"/>
              </a:rPr>
              <a:t>Ngân hàng cập nhật giao diện Internet Banking hoặc thay đổi cấu trúc file Excel sao kê.</a:t>
            </a:r>
          </a:p>
          <a:p>
            <a:pPr>
              <a:spcAft>
                <a:spcPts val="400"/>
              </a:spcAft>
            </a:pPr>
            <a:r>
              <a:rPr sz="950" b="1">
                <a:solidFill>
                  <a:srgbClr val="0F172A"/>
                </a:solidFill>
                <a:latin typeface="Segoe UI"/>
              </a:rPr>
              <a:t>• Kịch bản ứng phó: </a:t>
            </a:r>
            <a:r>
              <a:rPr sz="900">
                <a:solidFill>
                  <a:srgbClr val="334155"/>
                </a:solidFill>
                <a:latin typeface="Segoe UI"/>
              </a:rPr>
              <a:t>Kích hoạt cơ chế khóa an toàn chuyển 0.2% sang người duyệt ngay khi phát hiện mẫu chưa nhận diện.</a:t>
            </a:r>
          </a:p>
          <a:p>
            <a:pPr>
              <a:spcAft>
                <a:spcPts val="400"/>
              </a:spcAft>
            </a:pPr>
            <a:r>
              <a:rPr sz="950" b="1">
                <a:solidFill>
                  <a:srgbClr val="0F172A"/>
                </a:solidFill>
                <a:latin typeface="Segoe UI"/>
              </a:rPr>
              <a:t>• Kết quả bảo đảm: </a:t>
            </a:r>
            <a:r>
              <a:rPr sz="900">
                <a:solidFill>
                  <a:srgbClr val="334155"/>
                </a:solidFill>
                <a:latin typeface="Segoe UI"/>
              </a:rPr>
              <a:t>Cập nhật từ điển bóc tách tự động trong vòng 24 giờ, bảo đảm không bao giờ lệch số.</a:t>
            </a:r>
          </a:p>
        </p:txBody>
      </p:sp>
      <p:cxnSp>
        <p:nvCxnSpPr>
          <p:cNvPr id="24" name="Connector 23"/>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6" name="TextBox 25"/>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20 / 27 • INNOSTART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DC2626"/>
                </a:solidFill>
                <a:latin typeface="Segoe UI"/>
              </a:defRPr>
            </a:pPr>
            <a:r>
              <a:t>VÒNG 3 • Q&amp;A PHẢN BIỆN CHUYÊN SÂU • DEEP DIVE 01: EXCEL VS LIVA</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Q&amp;A 01: "TẠI SAO KHÔNG DÙNG EXCEL HAY MACRO VBA ĐỂ ĐỐI SOÁT?"</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Phân tích giới hạn chết người của bảng tính thủ công trước khối lượng sao kê ngân hàng đa dạng.</a:t>
            </a:r>
          </a:p>
        </p:txBody>
      </p:sp>
      <p:sp>
        <p:nvSpPr>
          <p:cNvPr id="9" name="Rounded Rectangle 8"/>
          <p:cNvSpPr/>
          <p:nvPr/>
        </p:nvSpPr>
        <p:spPr>
          <a:xfrm>
            <a:off x="731520" y="1508760"/>
            <a:ext cx="5250027" cy="448056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1600200"/>
            <a:ext cx="5067147" cy="62179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FFFFFF"/>
                </a:solidFill>
                <a:latin typeface="Segoe UI"/>
              </a:defRPr>
            </a:pPr>
            <a:r>
              <a:t>3 GIỚI HẠN CHẾT NGƯỜI CỦA EXCEL &amp; MACRO VBA</a:t>
            </a:r>
          </a:p>
          <a:p>
            <a:pPr algn="ctr">
              <a:defRPr sz="850">
                <a:solidFill>
                  <a:srgbClr val="FFFFFF"/>
                </a:solidFill>
                <a:latin typeface="Segoe UI"/>
              </a:defRPr>
            </a:pPr>
            <a:r>
              <a:t>Bảng tính thủ công sụp đổ trước sao kê thực tế phức tạp</a:t>
            </a:r>
          </a:p>
        </p:txBody>
      </p:sp>
      <p:sp>
        <p:nvSpPr>
          <p:cNvPr id="11" name="Rounded Rectangle 10"/>
          <p:cNvSpPr/>
          <p:nvPr/>
        </p:nvSpPr>
        <p:spPr>
          <a:xfrm>
            <a:off x="859536" y="2295144"/>
            <a:ext cx="4993995" cy="1133856"/>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DC2626"/>
                </a:solidFill>
                <a:latin typeface="Segoe UI"/>
              </a:defRPr>
            </a:pPr>
            <a:r>
              <a:t>❌ Gãy công thức</a:t>
            </a:r>
          </a:p>
          <a:p>
            <a:pPr>
              <a:defRPr sz="900">
                <a:solidFill>
                  <a:srgbClr val="334155"/>
                </a:solidFill>
                <a:latin typeface="Segoe UI"/>
              </a:defRPr>
            </a:pPr>
            <a:r>
              <a:t>Chỉ cần một ngân hàng chèn thêm 1 cột hoặc đổi tiêu đề là toàn bộ hàm VLOOKUP và Macro báo lỗi, làm tê liệt toàn bộ chuỗi đối soát.</a:t>
            </a:r>
          </a:p>
        </p:txBody>
      </p:sp>
      <p:sp>
        <p:nvSpPr>
          <p:cNvPr id="12" name="Rounded Rectangle 11"/>
          <p:cNvSpPr/>
          <p:nvPr/>
        </p:nvSpPr>
        <p:spPr>
          <a:xfrm>
            <a:off x="859536" y="3520440"/>
            <a:ext cx="4993995" cy="1133856"/>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DC2626"/>
                </a:solidFill>
                <a:latin typeface="Segoe UI"/>
              </a:defRPr>
            </a:pPr>
            <a:r>
              <a:t>❌ Mù chữ viết tắt</a:t>
            </a:r>
          </a:p>
          <a:p>
            <a:pPr>
              <a:defRPr sz="900">
                <a:solidFill>
                  <a:srgbClr val="334155"/>
                </a:solidFill>
                <a:latin typeface="Segoe UI"/>
              </a:defRPr>
            </a:pPr>
            <a:r>
              <a:t>Excel hoàn toàn không thể hiểu các diễn giải tự do như "CK HD 101 bot tien thue" hay tên đối tác viết tắt không dấu.</a:t>
            </a:r>
          </a:p>
        </p:txBody>
      </p:sp>
      <p:sp>
        <p:nvSpPr>
          <p:cNvPr id="13" name="Rounded Rectangle 12"/>
          <p:cNvSpPr/>
          <p:nvPr/>
        </p:nvSpPr>
        <p:spPr>
          <a:xfrm>
            <a:off x="859536" y="4745736"/>
            <a:ext cx="4993995" cy="1133856"/>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DC2626"/>
                </a:solidFill>
                <a:latin typeface="Segoe UI"/>
              </a:defRPr>
            </a:pPr>
            <a:r>
              <a:t>❌ Quá tải dữ liệu</a:t>
            </a:r>
          </a:p>
          <a:p>
            <a:pPr>
              <a:defRPr sz="900">
                <a:solidFill>
                  <a:srgbClr val="334155"/>
                </a:solidFill>
                <a:latin typeface="Segoe UI"/>
              </a:defRPr>
            </a:pPr>
            <a:r>
              <a:t>Khi số lượng giao dịch vượt 20.000 dòng, file Excel bị đơ, treo máy tính và tiềm ẩn rủi ro mất mát dữ liệu kế toán nghiêm trọng.</a:t>
            </a:r>
          </a:p>
        </p:txBody>
      </p:sp>
      <p:sp>
        <p:nvSpPr>
          <p:cNvPr id="14" name="Rounded Rectangle 13"/>
          <p:cNvSpPr/>
          <p:nvPr/>
        </p:nvSpPr>
        <p:spPr>
          <a:xfrm>
            <a:off x="6210147" y="1508760"/>
            <a:ext cx="5250027" cy="4480560"/>
          </a:xfrm>
          <a:prstGeom prst="roundRect">
            <a:avLst/>
          </a:prstGeom>
          <a:solidFill>
            <a:srgbClr val="F0FDF4"/>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1587" y="1600200"/>
            <a:ext cx="5067147" cy="62179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FFFFFF"/>
                </a:solidFill>
                <a:latin typeface="Segoe UI"/>
              </a:defRPr>
            </a:pPr>
            <a:r>
              <a:t>ƯU THẾ TUYỆT ĐỐI CỦA LIVA BANKING HARNESS</a:t>
            </a:r>
          </a:p>
          <a:p>
            <a:pPr algn="ctr">
              <a:defRPr sz="850">
                <a:solidFill>
                  <a:srgbClr val="FFFFFF"/>
                </a:solidFill>
                <a:latin typeface="Segoe UI"/>
              </a:defRPr>
            </a:pPr>
            <a:r>
              <a:t>Tự động hóa thông minh vận hành an toàn và chuẩn xác tại chỗ</a:t>
            </a:r>
          </a:p>
        </p:txBody>
      </p:sp>
      <p:sp>
        <p:nvSpPr>
          <p:cNvPr id="16" name="Rounded Rectangle 15"/>
          <p:cNvSpPr/>
          <p:nvPr/>
        </p:nvSpPr>
        <p:spPr>
          <a:xfrm>
            <a:off x="6338163" y="2295144"/>
            <a:ext cx="4993995" cy="1133856"/>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10B981"/>
                </a:solidFill>
                <a:latin typeface="Segoe UI"/>
              </a:defRPr>
            </a:pPr>
            <a:r>
              <a:t>✅ Đọc hiểu thông minh</a:t>
            </a:r>
          </a:p>
          <a:p>
            <a:pPr>
              <a:defRPr sz="900">
                <a:solidFill>
                  <a:srgbClr val="334155"/>
                </a:solidFill>
                <a:latin typeface="Segoe UI"/>
              </a:defRPr>
            </a:pPr>
            <a:r>
              <a:t>Tự động nhận diện nội dung ngữ nghĩa tiếng Việt bất kể vị trí cột, ô gộp hay định dạng bảng biểu đặc thù của từng ngân hàng.</a:t>
            </a:r>
          </a:p>
        </p:txBody>
      </p:sp>
      <p:sp>
        <p:nvSpPr>
          <p:cNvPr id="17" name="Rounded Rectangle 16"/>
          <p:cNvSpPr/>
          <p:nvPr/>
        </p:nvSpPr>
        <p:spPr>
          <a:xfrm>
            <a:off x="6338163" y="3520440"/>
            <a:ext cx="4993995" cy="1133856"/>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10B981"/>
                </a:solidFill>
                <a:latin typeface="Segoe UI"/>
              </a:defRPr>
            </a:pPr>
            <a:r>
              <a:t>✅ Tốc độ tức thì</a:t>
            </a:r>
          </a:p>
          <a:p>
            <a:pPr>
              <a:defRPr sz="900">
                <a:solidFill>
                  <a:srgbClr val="334155"/>
                </a:solidFill>
                <a:latin typeface="Segoe UI"/>
              </a:defRPr>
            </a:pPr>
            <a:r>
              <a:t>Xử lý 50.000 dòng trong 19 giây trên máy tính văn phòng thông thường, vận hành mượt mà không bao giờ gây treo máy.</a:t>
            </a:r>
          </a:p>
        </p:txBody>
      </p:sp>
      <p:sp>
        <p:nvSpPr>
          <p:cNvPr id="18" name="Rounded Rectangle 17"/>
          <p:cNvSpPr/>
          <p:nvPr/>
        </p:nvSpPr>
        <p:spPr>
          <a:xfrm>
            <a:off x="6338163" y="4745736"/>
            <a:ext cx="4993995" cy="1133856"/>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10B981"/>
                </a:solidFill>
                <a:latin typeface="Segoe UI"/>
              </a:defRPr>
            </a:pPr>
            <a:r>
              <a:t>✅ Nhật ký kiểm toán</a:t>
            </a:r>
          </a:p>
          <a:p>
            <a:pPr>
              <a:defRPr sz="900">
                <a:solidFill>
                  <a:srgbClr val="334155"/>
                </a:solidFill>
                <a:latin typeface="Segoe UI"/>
              </a:defRPr>
            </a:pPr>
            <a:r>
              <a:t>Lưu trữ lịch sử đối soát bất biến, minh bạch quy trình và không bao giờ bị vô tình sửa xóa công thức như bảng tính Excel.</a:t>
            </a:r>
          </a:p>
        </p:txBody>
      </p:sp>
      <p:cxnSp>
        <p:nvCxnSpPr>
          <p:cNvPr id="19" name="Connector 18"/>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1" name="TextBox 20"/>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21 / 27 • INNOSTART 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3 • Q&amp;A PHẢN BIỆN CHUYÊN SÂU • DEEP DIVE 02: TÍNH TRUNG LẬP ĐA NGÂN HÀNG</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Q&amp;A 02: "NẾU NGÂN HÀNG TỰ NÂNG CẤP INTERNET BANKING THÌ LIVA CÓ BỊ THAY THẾ?"</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Giải mã tính trung lập đa ngân hàng và lý do các ngân hàng không bao giờ tích hợp dữ liệu của đối thủ.</a:t>
            </a:r>
          </a:p>
        </p:txBody>
      </p:sp>
      <p:sp>
        <p:nvSpPr>
          <p:cNvPr id="9" name="Rounded Rectangle 8"/>
          <p:cNvSpPr/>
          <p:nvPr/>
        </p:nvSpPr>
        <p:spPr>
          <a:xfrm>
            <a:off x="731520"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RANH GIỚI</a:t>
            </a:r>
          </a:p>
        </p:txBody>
      </p:sp>
      <p:sp>
        <p:nvSpPr>
          <p:cNvPr id="11" name="TextBox 10"/>
          <p:cNvSpPr txBox="1"/>
          <p:nvPr/>
        </p:nvSpPr>
        <p:spPr>
          <a:xfrm>
            <a:off x="1463040" y="1673352"/>
            <a:ext cx="2585008" cy="530352"/>
          </a:xfrm>
          <a:prstGeom prst="rect">
            <a:avLst/>
          </a:prstGeom>
          <a:noFill/>
        </p:spPr>
        <p:txBody>
          <a:bodyPr wrap="square" lIns="0" tIns="0" rIns="0" bIns="0">
            <a:spAutoFit/>
          </a:bodyPr>
          <a:lstStyle/>
          <a:p>
            <a:pPr>
              <a:defRPr sz="1150" b="1">
                <a:solidFill>
                  <a:srgbClr val="0F172A"/>
                </a:solidFill>
                <a:latin typeface="Segoe UI"/>
              </a:defRPr>
            </a:pPr>
            <a:r>
              <a:t>Ranh Giới Lợi Ích Cạnh Tranh</a:t>
            </a:r>
          </a:p>
        </p:txBody>
      </p:sp>
      <p:sp>
        <p:nvSpPr>
          <p:cNvPr id="12" name="TextBox 11"/>
          <p:cNvSpPr txBox="1"/>
          <p:nvPr/>
        </p:nvSpPr>
        <p:spPr>
          <a:xfrm>
            <a:off x="914400" y="2240280"/>
            <a:ext cx="3087928" cy="621792"/>
          </a:xfrm>
          <a:prstGeom prst="rect">
            <a:avLst/>
          </a:prstGeom>
          <a:noFill/>
        </p:spPr>
        <p:txBody>
          <a:bodyPr wrap="square" lIns="0" tIns="0" rIns="0" bIns="0">
            <a:spAutoFit/>
          </a:bodyPr>
          <a:lstStyle/>
          <a:p>
            <a:pPr>
              <a:defRPr sz="2600" b="1">
                <a:solidFill>
                  <a:srgbClr val="1E3A8A"/>
                </a:solidFill>
                <a:latin typeface="Segoe UI"/>
              </a:defRPr>
            </a:pPr>
            <a:r>
              <a:t>1 Ngân Hàng</a:t>
            </a:r>
          </a:p>
          <a:p>
            <a:pPr>
              <a:defRPr sz="850" b="1">
                <a:solidFill>
                  <a:srgbClr val="0F172A"/>
                </a:solidFill>
                <a:latin typeface="Segoe UI"/>
              </a:defRPr>
            </a:pPr>
            <a:r>
              <a:t>KHÔNG BAO GIỜ QUẢN LÝ ĐỐI THỦ</a:t>
            </a:r>
          </a:p>
        </p:txBody>
      </p:sp>
      <p:sp>
        <p:nvSpPr>
          <p:cNvPr id="13" name="TextBox 12"/>
          <p:cNvSpPr txBox="1"/>
          <p:nvPr/>
        </p:nvSpPr>
        <p:spPr>
          <a:xfrm>
            <a:off x="914400"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Không quản lý đối thủ: </a:t>
            </a:r>
            <a:r>
              <a:rPr sz="900">
                <a:solidFill>
                  <a:srgbClr val="334155"/>
                </a:solidFill>
                <a:latin typeface="Segoe UI"/>
              </a:rPr>
              <a:t>Ngân hàng A (ví dụ Vietcombank) sẽ không bao giờ xây tính năng giúp doanh nghiệp quản lý tiền tại Ngân hàng B (ví dụ Techcombank).</a:t>
            </a:r>
          </a:p>
          <a:p>
            <a:pPr>
              <a:spcAft>
                <a:spcPts val="400"/>
              </a:spcAft>
            </a:pPr>
            <a:r>
              <a:rPr sz="950" b="1">
                <a:solidFill>
                  <a:srgbClr val="0F172A"/>
                </a:solidFill>
                <a:latin typeface="Segoe UI"/>
              </a:rPr>
              <a:t>• Giữ chân tiền gửi CASA: </a:t>
            </a:r>
            <a:r>
              <a:rPr sz="900">
                <a:solidFill>
                  <a:srgbClr val="334155"/>
                </a:solidFill>
                <a:latin typeface="Segoe UI"/>
              </a:rPr>
              <a:t>Mỗi ngân hàng chỉ tập trung bảo vệ nguồn vốn và tối ưu dòng tiền lưu chuyển trong nội bộ hệ thống của riêng mình.</a:t>
            </a:r>
          </a:p>
          <a:p>
            <a:pPr>
              <a:spcAft>
                <a:spcPts val="400"/>
              </a:spcAft>
            </a:pPr>
            <a:r>
              <a:rPr sz="950" b="1">
                <a:solidFill>
                  <a:srgbClr val="0F172A"/>
                </a:solidFill>
                <a:latin typeface="Segoe UI"/>
              </a:rPr>
              <a:t>• Rào cản chia sẻ: </a:t>
            </a:r>
            <a:r>
              <a:rPr sz="900">
                <a:solidFill>
                  <a:srgbClr val="334155"/>
                </a:solidFill>
                <a:latin typeface="Segoe UI"/>
              </a:rPr>
              <a:t>Cạnh tranh thị phần khốc liệt khiến việc chia sẻ trực tiếp dữ liệu giữa các ngân hàng thương mại là bất khả thi.</a:t>
            </a:r>
          </a:p>
        </p:txBody>
      </p:sp>
      <p:sp>
        <p:nvSpPr>
          <p:cNvPr id="14" name="Rounded Rectangle 13"/>
          <p:cNvSpPr/>
          <p:nvPr/>
        </p:nvSpPr>
        <p:spPr>
          <a:xfrm>
            <a:off x="4368088"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50968" y="1691640"/>
            <a:ext cx="475488" cy="47548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TRỌNG TÀI</a:t>
            </a:r>
          </a:p>
        </p:txBody>
      </p:sp>
      <p:sp>
        <p:nvSpPr>
          <p:cNvPr id="16" name="TextBox 15"/>
          <p:cNvSpPr txBox="1"/>
          <p:nvPr/>
        </p:nvSpPr>
        <p:spPr>
          <a:xfrm>
            <a:off x="5099608" y="1673352"/>
            <a:ext cx="2585008" cy="530352"/>
          </a:xfrm>
          <a:prstGeom prst="rect">
            <a:avLst/>
          </a:prstGeom>
          <a:noFill/>
        </p:spPr>
        <p:txBody>
          <a:bodyPr wrap="square" lIns="0" tIns="0" rIns="0" bIns="0">
            <a:spAutoFit/>
          </a:bodyPr>
          <a:lstStyle/>
          <a:p>
            <a:pPr>
              <a:defRPr sz="1150" b="1">
                <a:solidFill>
                  <a:srgbClr val="0F172A"/>
                </a:solidFill>
                <a:latin typeface="Segoe UI"/>
              </a:defRPr>
            </a:pPr>
            <a:r>
              <a:t>Vị Thế Trọng Tài Độc Lập</a:t>
            </a:r>
          </a:p>
        </p:txBody>
      </p:sp>
      <p:sp>
        <p:nvSpPr>
          <p:cNvPr id="17" name="TextBox 16"/>
          <p:cNvSpPr txBox="1"/>
          <p:nvPr/>
        </p:nvSpPr>
        <p:spPr>
          <a:xfrm>
            <a:off x="4550968" y="2240280"/>
            <a:ext cx="3087928" cy="621792"/>
          </a:xfrm>
          <a:prstGeom prst="rect">
            <a:avLst/>
          </a:prstGeom>
          <a:noFill/>
        </p:spPr>
        <p:txBody>
          <a:bodyPr wrap="square" lIns="0" tIns="0" rIns="0" bIns="0">
            <a:spAutoFit/>
          </a:bodyPr>
          <a:lstStyle/>
          <a:p>
            <a:pPr>
              <a:defRPr sz="2600" b="1">
                <a:solidFill>
                  <a:srgbClr val="0284C7"/>
                </a:solidFill>
                <a:latin typeface="Segoe UI"/>
              </a:defRPr>
            </a:pPr>
            <a:r>
              <a:t>5 - 20 TK</a:t>
            </a:r>
          </a:p>
          <a:p>
            <a:pPr>
              <a:defRPr sz="850" b="1">
                <a:solidFill>
                  <a:srgbClr val="0F172A"/>
                </a:solidFill>
                <a:latin typeface="Segoe UI"/>
              </a:defRPr>
            </a:pPr>
            <a:r>
              <a:t>NHU CẦU HỢP NHẤT ĐA NGÂN HÀNG</a:t>
            </a:r>
          </a:p>
        </p:txBody>
      </p:sp>
      <p:sp>
        <p:nvSpPr>
          <p:cNvPr id="18" name="TextBox 17"/>
          <p:cNvSpPr txBox="1"/>
          <p:nvPr/>
        </p:nvSpPr>
        <p:spPr>
          <a:xfrm>
            <a:off x="4550968"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Phân tán rủi ro: </a:t>
            </a:r>
            <a:r>
              <a:rPr sz="900">
                <a:solidFill>
                  <a:srgbClr val="334155"/>
                </a:solidFill>
                <a:latin typeface="Segoe UI"/>
              </a:rPr>
              <a:t>Doanh nghiệp vừa và lớn luôn mở từ 5 đến 20 tài khoản ngân hàng để phân tán rủi ro và tận dụng hạn mức tín dụng.</a:t>
            </a:r>
          </a:p>
          <a:p>
            <a:pPr>
              <a:spcAft>
                <a:spcPts val="400"/>
              </a:spcAft>
            </a:pPr>
            <a:r>
              <a:rPr sz="950" b="1">
                <a:solidFill>
                  <a:srgbClr val="0F172A"/>
                </a:solidFill>
                <a:latin typeface="Segoe UI"/>
              </a:rPr>
              <a:t>• Bên thứ ba trung lập: </a:t>
            </a:r>
            <a:r>
              <a:rPr sz="900">
                <a:solidFill>
                  <a:srgbClr val="334155"/>
                </a:solidFill>
                <a:latin typeface="Segoe UI"/>
              </a:rPr>
              <a:t>Khách hàng bắt buộc phải có một bên độc lập như LIVA để gom dữ liệu và điều phối dòng tiền tổng thể.</a:t>
            </a:r>
          </a:p>
          <a:p>
            <a:pPr>
              <a:spcAft>
                <a:spcPts val="400"/>
              </a:spcAft>
            </a:pPr>
            <a:r>
              <a:rPr sz="950" b="1">
                <a:solidFill>
                  <a:srgbClr val="0F172A"/>
                </a:solidFill>
                <a:latin typeface="Segoe UI"/>
              </a:rPr>
              <a:t>• Bức tranh toàn cảnh: </a:t>
            </a:r>
            <a:r>
              <a:rPr sz="900">
                <a:solidFill>
                  <a:srgbClr val="334155"/>
                </a:solidFill>
                <a:latin typeface="Segoe UI"/>
              </a:rPr>
              <a:t>Cung cấp góc nhìn thanh khoản hợp nhất 360 độ mà không một ngân hàng đơn lẻ nào có thể cung cấp được.</a:t>
            </a:r>
          </a:p>
        </p:txBody>
      </p:sp>
      <p:sp>
        <p:nvSpPr>
          <p:cNvPr id="19" name="Rounded Rectangle 18"/>
          <p:cNvSpPr/>
          <p:nvPr/>
        </p:nvSpPr>
        <p:spPr>
          <a:xfrm>
            <a:off x="8004656"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87536" y="1691640"/>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WIN-WIN</a:t>
            </a:r>
          </a:p>
        </p:txBody>
      </p:sp>
      <p:sp>
        <p:nvSpPr>
          <p:cNvPr id="21" name="TextBox 20"/>
          <p:cNvSpPr txBox="1"/>
          <p:nvPr/>
        </p:nvSpPr>
        <p:spPr>
          <a:xfrm>
            <a:off x="8736176" y="1673352"/>
            <a:ext cx="2585008" cy="530352"/>
          </a:xfrm>
          <a:prstGeom prst="rect">
            <a:avLst/>
          </a:prstGeom>
          <a:noFill/>
        </p:spPr>
        <p:txBody>
          <a:bodyPr wrap="square" lIns="0" tIns="0" rIns="0" bIns="0">
            <a:spAutoFit/>
          </a:bodyPr>
          <a:lstStyle/>
          <a:p>
            <a:pPr>
              <a:defRPr sz="1150" b="1">
                <a:solidFill>
                  <a:srgbClr val="0F172A"/>
                </a:solidFill>
                <a:latin typeface="Segoe UI"/>
              </a:defRPr>
            </a:pPr>
            <a:r>
              <a:t>Quan Hệ Cộng Sinh Thay Vì Đối Đầu</a:t>
            </a:r>
          </a:p>
        </p:txBody>
      </p:sp>
      <p:sp>
        <p:nvSpPr>
          <p:cNvPr id="22" name="TextBox 21"/>
          <p:cNvSpPr txBox="1"/>
          <p:nvPr/>
        </p:nvSpPr>
        <p:spPr>
          <a:xfrm>
            <a:off x="8187536" y="2240280"/>
            <a:ext cx="3087928" cy="621792"/>
          </a:xfrm>
          <a:prstGeom prst="rect">
            <a:avLst/>
          </a:prstGeom>
          <a:noFill/>
        </p:spPr>
        <p:txBody>
          <a:bodyPr wrap="square" lIns="0" tIns="0" rIns="0" bIns="0">
            <a:spAutoFit/>
          </a:bodyPr>
          <a:lstStyle/>
          <a:p>
            <a:pPr>
              <a:defRPr sz="2600" b="1">
                <a:solidFill>
                  <a:srgbClr val="10B981"/>
                </a:solidFill>
                <a:latin typeface="Segoe UI"/>
              </a:defRPr>
            </a:pPr>
            <a:r>
              <a:t>Cộng Sinh</a:t>
            </a:r>
          </a:p>
          <a:p>
            <a:pPr>
              <a:defRPr sz="850" b="1">
                <a:solidFill>
                  <a:srgbClr val="0F172A"/>
                </a:solidFill>
                <a:latin typeface="Segoe UI"/>
              </a:defRPr>
            </a:pPr>
            <a:r>
              <a:t>GIA TĂNG GẮN KẾT SỐ DƯ CASA</a:t>
            </a:r>
          </a:p>
        </p:txBody>
      </p:sp>
      <p:sp>
        <p:nvSpPr>
          <p:cNvPr id="23" name="TextBox 22"/>
          <p:cNvSpPr txBox="1"/>
          <p:nvPr/>
        </p:nvSpPr>
        <p:spPr>
          <a:xfrm>
            <a:off x="8187536"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Đối tác gia tăng giá trị: </a:t>
            </a:r>
            <a:r>
              <a:rPr sz="900">
                <a:solidFill>
                  <a:srgbClr val="334155"/>
                </a:solidFill>
                <a:latin typeface="Segoe UI"/>
              </a:rPr>
              <a:t>Các ngân hàng thương mại coi LIVA là công cụ giữ chân khách hàng tổ chức và kích hoạt số dư CASA dồi dào.</a:t>
            </a:r>
          </a:p>
          <a:p>
            <a:pPr>
              <a:spcAft>
                <a:spcPts val="400"/>
              </a:spcAft>
            </a:pPr>
            <a:r>
              <a:rPr sz="950" b="1">
                <a:solidFill>
                  <a:srgbClr val="0F172A"/>
                </a:solidFill>
                <a:latin typeface="Segoe UI"/>
              </a:rPr>
              <a:t>• Không tốn chi phí phát triển: </a:t>
            </a:r>
            <a:r>
              <a:rPr sz="900">
                <a:solidFill>
                  <a:srgbClr val="334155"/>
                </a:solidFill>
                <a:latin typeface="Segoe UI"/>
              </a:rPr>
              <a:t>Ngân hàng hưởng lợi từ sự gắn kết của doanh nghiệp mà không cần đầu tư hàng triệu USD tự phát triển phần mềm.</a:t>
            </a:r>
          </a:p>
          <a:p>
            <a:pPr>
              <a:spcAft>
                <a:spcPts val="400"/>
              </a:spcAft>
            </a:pPr>
            <a:r>
              <a:rPr sz="950" b="1">
                <a:solidFill>
                  <a:srgbClr val="0F172A"/>
                </a:solidFill>
                <a:latin typeface="Segoe UI"/>
              </a:rPr>
              <a:t>• Cơ hội hợp tác bản quyền: </a:t>
            </a:r>
            <a:r>
              <a:rPr sz="900">
                <a:solidFill>
                  <a:srgbClr val="334155"/>
                </a:solidFill>
                <a:latin typeface="Segoe UI"/>
              </a:rPr>
              <a:t>LIVA sẵn sàng cấp phép đóng gói White-label giải pháp cho các ngân hàng thương mại tiên phong.</a:t>
            </a:r>
          </a:p>
        </p:txBody>
      </p:sp>
      <p:cxnSp>
        <p:nvCxnSpPr>
          <p:cNvPr id="24" name="Connector 23"/>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6" name="TextBox 25"/>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22 / 27 • INNOSTART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DC2626"/>
                </a:solidFill>
                <a:latin typeface="Segoe UI"/>
              </a:defRPr>
            </a:pPr>
            <a:r>
              <a:t>VÒNG 3 • Q&amp;A PHẢN BIỆN CHUYÊN SÂU • DEEP DIVE 03: SLM VS CLOUD LLM</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Q&amp;A 03: "TẠI SAO NGÂN HÀNG BẮT BUỘC DÙNG MÔ HÌNH 3B-8B CỤC BỘ THAY VÌ CHATGPT?"</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Bóc tách bài toán chi phí, độ trễ, quyền riêng tư và sự phù hợp nghiệp vụ của AI tài chính bản địa.</a:t>
            </a:r>
          </a:p>
        </p:txBody>
      </p:sp>
      <p:sp>
        <p:nvSpPr>
          <p:cNvPr id="9" name="Rounded Rectangle 8"/>
          <p:cNvSpPr/>
          <p:nvPr/>
        </p:nvSpPr>
        <p:spPr>
          <a:xfrm>
            <a:off x="731520" y="1508760"/>
            <a:ext cx="5250027" cy="448056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1600200"/>
            <a:ext cx="5067147" cy="62179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FFFFFF"/>
                </a:solidFill>
                <a:latin typeface="Segoe UI"/>
              </a:defRPr>
            </a:pPr>
            <a:r>
              <a:t>3 BẪY NGUY HIỂM CỦA CLOUD LLM VỚI NGÂN QUỸ</a:t>
            </a:r>
          </a:p>
          <a:p>
            <a:pPr algn="ctr">
              <a:defRPr sz="850">
                <a:solidFill>
                  <a:srgbClr val="FFFFFF"/>
                </a:solidFill>
                <a:latin typeface="Segoe UI"/>
              </a:defRPr>
            </a:pPr>
            <a:r>
              <a:t>Rủi ro pháp lý và chi phí leo thang của trí tuệ nhân tạo đám mây</a:t>
            </a:r>
          </a:p>
        </p:txBody>
      </p:sp>
      <p:sp>
        <p:nvSpPr>
          <p:cNvPr id="11" name="Rounded Rectangle 10"/>
          <p:cNvSpPr/>
          <p:nvPr/>
        </p:nvSpPr>
        <p:spPr>
          <a:xfrm>
            <a:off x="859536" y="2295144"/>
            <a:ext cx="4993995" cy="1133856"/>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DC2626"/>
                </a:solidFill>
                <a:latin typeface="Segoe UI"/>
              </a:defRPr>
            </a:pPr>
            <a:r>
              <a:t>❌ Vi phạm pháp luật</a:t>
            </a:r>
          </a:p>
          <a:p>
            <a:pPr>
              <a:defRPr sz="900">
                <a:solidFill>
                  <a:srgbClr val="334155"/>
                </a:solidFill>
                <a:latin typeface="Segoe UI"/>
              </a:defRPr>
            </a:pPr>
            <a:r>
              <a:t>Truyền dữ liệu sao kê tài chính ra máy chủ nước ngoài vi phạm trực tiếp Nghị định 13 và Thông tư 09 ngành ngân hàng.</a:t>
            </a:r>
          </a:p>
        </p:txBody>
      </p:sp>
      <p:sp>
        <p:nvSpPr>
          <p:cNvPr id="12" name="Rounded Rectangle 11"/>
          <p:cNvSpPr/>
          <p:nvPr/>
        </p:nvSpPr>
        <p:spPr>
          <a:xfrm>
            <a:off x="859536" y="3520440"/>
            <a:ext cx="4993995" cy="1133856"/>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DC2626"/>
                </a:solidFill>
                <a:latin typeface="Segoe UI"/>
              </a:defRPr>
            </a:pPr>
            <a:r>
              <a:t>❌ Chi phí API đắt đỏ</a:t>
            </a:r>
          </a:p>
          <a:p>
            <a:pPr>
              <a:defRPr sz="900">
                <a:solidFill>
                  <a:srgbClr val="334155"/>
                </a:solidFill>
                <a:latin typeface="Segoe UI"/>
              </a:defRPr>
            </a:pPr>
            <a:r>
              <a:t>Gọi API đám mây xử lý 50.000 dòng sao kê mỗi sáng tốn hàng chục triệu đồng mỗi tháng, chi phí leo thang nhanh theo quy mô.</a:t>
            </a:r>
          </a:p>
        </p:txBody>
      </p:sp>
      <p:sp>
        <p:nvSpPr>
          <p:cNvPr id="13" name="Rounded Rectangle 12"/>
          <p:cNvSpPr/>
          <p:nvPr/>
        </p:nvSpPr>
        <p:spPr>
          <a:xfrm>
            <a:off x="859536" y="4745736"/>
            <a:ext cx="4993995" cy="1133856"/>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DC2626"/>
                </a:solidFill>
                <a:latin typeface="Segoe UI"/>
              </a:defRPr>
            </a:pPr>
            <a:r>
              <a:t>❌ Độ trễ mạng Internet</a:t>
            </a:r>
          </a:p>
          <a:p>
            <a:pPr>
              <a:defRPr sz="900">
                <a:solidFill>
                  <a:srgbClr val="334155"/>
                </a:solidFill>
                <a:latin typeface="Segoe UI"/>
              </a:defRPr>
            </a:pPr>
            <a:r>
              <a:t>Mất 2 đến 5 giây cho mỗi giao dịch qua đường truyền mạng, không đáp ứng được yêu cầu đối soát tức thì đầu giờ sáng.</a:t>
            </a:r>
          </a:p>
        </p:txBody>
      </p:sp>
      <p:sp>
        <p:nvSpPr>
          <p:cNvPr id="14" name="Rounded Rectangle 13"/>
          <p:cNvSpPr/>
          <p:nvPr/>
        </p:nvSpPr>
        <p:spPr>
          <a:xfrm>
            <a:off x="6210147" y="1508760"/>
            <a:ext cx="5250027" cy="4480560"/>
          </a:xfrm>
          <a:prstGeom prst="roundRect">
            <a:avLst/>
          </a:prstGeom>
          <a:solidFill>
            <a:srgbClr val="F0FDF4"/>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1587" y="1600200"/>
            <a:ext cx="5067147" cy="62179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100" b="1">
                <a:solidFill>
                  <a:srgbClr val="FFFFFF"/>
                </a:solidFill>
                <a:latin typeface="Segoe UI"/>
              </a:defRPr>
            </a:pPr>
            <a:r>
              <a:t>3 LỢI THẾ ÁP ĐẢO CỦA MÔ HÌNH NHỎ CỤC BỘ (SLM)</a:t>
            </a:r>
          </a:p>
          <a:p>
            <a:pPr algn="ctr">
              <a:defRPr sz="850">
                <a:solidFill>
                  <a:srgbClr val="FFFFFF"/>
                </a:solidFill>
                <a:latin typeface="Segoe UI"/>
              </a:defRPr>
            </a:pPr>
            <a:r>
              <a:t>Tối ưu hóa chuyên sâu cho dữ liệu ngôn ngữ ngân quỹ Việt Nam</a:t>
            </a:r>
          </a:p>
        </p:txBody>
      </p:sp>
      <p:sp>
        <p:nvSpPr>
          <p:cNvPr id="16" name="Rounded Rectangle 15"/>
          <p:cNvSpPr/>
          <p:nvPr/>
        </p:nvSpPr>
        <p:spPr>
          <a:xfrm>
            <a:off x="6338163" y="2295144"/>
            <a:ext cx="4993995" cy="1133856"/>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10B981"/>
                </a:solidFill>
                <a:latin typeface="Segoe UI"/>
              </a:defRPr>
            </a:pPr>
            <a:r>
              <a:t>✅ Chuyên biệt nghiệp vụ</a:t>
            </a:r>
          </a:p>
          <a:p>
            <a:pPr>
              <a:defRPr sz="900">
                <a:solidFill>
                  <a:srgbClr val="334155"/>
                </a:solidFill>
                <a:latin typeface="Segoe UI"/>
              </a:defRPr>
            </a:pPr>
            <a:r>
              <a:t>Mô hình 3B-8B tinh chỉnh sâu trên 500.000 mẫu viết tắt tiếng Việt; tập trung bóc tách sao kê thay vì làm thơ hay tán gẫu.</a:t>
            </a:r>
          </a:p>
        </p:txBody>
      </p:sp>
      <p:sp>
        <p:nvSpPr>
          <p:cNvPr id="17" name="Rounded Rectangle 16"/>
          <p:cNvSpPr/>
          <p:nvPr/>
        </p:nvSpPr>
        <p:spPr>
          <a:xfrm>
            <a:off x="6338163" y="3520440"/>
            <a:ext cx="4993995" cy="1133856"/>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10B981"/>
                </a:solidFill>
                <a:latin typeface="Segoe UI"/>
              </a:defRPr>
            </a:pPr>
            <a:r>
              <a:t>✅ Tốc độ xử lý tức thì</a:t>
            </a:r>
          </a:p>
          <a:p>
            <a:pPr>
              <a:defRPr sz="900">
                <a:solidFill>
                  <a:srgbClr val="334155"/>
                </a:solidFill>
                <a:latin typeface="Segoe UI"/>
              </a:defRPr>
            </a:pPr>
            <a:r>
              <a:t>Tốc độ dưới nửa mili-giây (&lt;0.5ms) cho mỗi giao dịch trên máy tính thông thường (tiêu thụ chỉ 2GB RAM), không phụ thuộc mạng.</a:t>
            </a:r>
          </a:p>
        </p:txBody>
      </p:sp>
      <p:sp>
        <p:nvSpPr>
          <p:cNvPr id="18" name="Rounded Rectangle 17"/>
          <p:cNvSpPr/>
          <p:nvPr/>
        </p:nvSpPr>
        <p:spPr>
          <a:xfrm>
            <a:off x="6338163" y="4745736"/>
            <a:ext cx="4993995" cy="1133856"/>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Aft>
                <a:spcPts val="200"/>
              </a:spcAft>
              <a:defRPr sz="1050" b="1">
                <a:solidFill>
                  <a:srgbClr val="10B981"/>
                </a:solidFill>
                <a:latin typeface="Segoe UI"/>
              </a:defRPr>
            </a:pPr>
            <a:r>
              <a:t>✅ Bảo mật tuyệt đối &amp; Chi phí $0</a:t>
            </a:r>
          </a:p>
          <a:p>
            <a:pPr>
              <a:defRPr sz="900">
                <a:solidFill>
                  <a:srgbClr val="334155"/>
                </a:solidFill>
                <a:latin typeface="Segoe UI"/>
              </a:defRPr>
            </a:pPr>
            <a:r>
              <a:t>Vận hành 100% tại chỗ không rò rỉ dữ liệu, chi phí biến đổi biên bằng $0, mang lại hiệu quả kinh tế lâu dài.</a:t>
            </a:r>
          </a:p>
        </p:txBody>
      </p:sp>
      <p:cxnSp>
        <p:nvCxnSpPr>
          <p:cNvPr id="19" name="Connector 18"/>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1" name="TextBox 20"/>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23 / 27 • INNOSTART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3 • Q&amp;A PHẢN BIỆN CHUYÊN SÂU • DEEP DIVE 04: TRÁCH NHIỆM &amp; FAIL-CLOSED</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Q&amp;A 04: "XỬ LÝ SAI SÓT 0.2% NHƯ THẾ NÀO? AI CHỊU TRÁCH NHIỆM KHI MẤT TIỀN?"</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Triết lý khóa an toàn Fail-Closed và cơ chế phân quyền phê duyệt hai pha Maker-Checker.</a:t>
            </a:r>
          </a:p>
        </p:txBody>
      </p:sp>
      <p:sp>
        <p:nvSpPr>
          <p:cNvPr id="9" name="Rounded Rectangle 8"/>
          <p:cNvSpPr/>
          <p:nvPr/>
        </p:nvSpPr>
        <p:spPr>
          <a:xfrm>
            <a:off x="731520" y="1508760"/>
            <a:ext cx="10728655" cy="120700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508760"/>
            <a:ext cx="109728" cy="120700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1618488"/>
            <a:ext cx="2377440" cy="987552"/>
          </a:xfrm>
          <a:prstGeom prst="rect">
            <a:avLst/>
          </a:prstGeom>
          <a:noFill/>
        </p:spPr>
        <p:txBody>
          <a:bodyPr wrap="square" lIns="0" tIns="0" rIns="0" bIns="0">
            <a:spAutoFit/>
          </a:bodyPr>
          <a:lstStyle/>
          <a:p>
            <a:pPr>
              <a:defRPr sz="3600" b="1">
                <a:solidFill>
                  <a:srgbClr val="DC2626"/>
                </a:solidFill>
                <a:latin typeface="Segoe UI"/>
              </a:defRPr>
            </a:pPr>
            <a:r>
              <a:t>0.2%</a:t>
            </a:r>
          </a:p>
          <a:p>
            <a:pPr>
              <a:defRPr sz="950" b="1">
                <a:solidFill>
                  <a:srgbClr val="0F172A"/>
                </a:solidFill>
                <a:latin typeface="Segoe UI"/>
              </a:defRPr>
            </a:pPr>
            <a:r>
              <a:t>CÁCH LY AN TOÀN</a:t>
            </a:r>
          </a:p>
        </p:txBody>
      </p:sp>
      <p:sp>
        <p:nvSpPr>
          <p:cNvPr id="12" name="TextBox 11"/>
          <p:cNvSpPr txBox="1"/>
          <p:nvPr/>
        </p:nvSpPr>
        <p:spPr>
          <a:xfrm>
            <a:off x="3474720" y="1645920"/>
            <a:ext cx="7802575" cy="932688"/>
          </a:xfrm>
          <a:prstGeom prst="rect">
            <a:avLst/>
          </a:prstGeom>
          <a:noFill/>
        </p:spPr>
        <p:txBody>
          <a:bodyPr wrap="square" lIns="0" tIns="0" rIns="0" bIns="0">
            <a:spAutoFit/>
          </a:bodyPr>
          <a:lstStyle/>
          <a:p>
            <a:pPr>
              <a:spcAft>
                <a:spcPts val="400"/>
              </a:spcAft>
              <a:defRPr sz="1150" b="1">
                <a:solidFill>
                  <a:srgbClr val="0F172A"/>
                </a:solidFill>
                <a:latin typeface="Segoe UI"/>
              </a:defRPr>
            </a:pPr>
            <a:r>
              <a:t>CƠ CHẾ CÁCH LY KHÓA AN TOÀN TỨC THÌ (FAIL-CLOSED PROTOCOL)</a:t>
            </a:r>
          </a:p>
          <a:p>
            <a:pPr>
              <a:defRPr sz="950">
                <a:solidFill>
                  <a:srgbClr val="334155"/>
                </a:solidFill>
                <a:latin typeface="Segoe UI"/>
              </a:defRPr>
            </a:pPr>
            <a:r>
              <a:t>Khi gặp giao dịch mơ hồ hoặc sai lệch số học dù chỉ 1 đồng, LIVA lập tức cách ly 0.2% dòng nghi vấn (100 dòng / 50.000 dòng) chuyển Kế toán trưởng xem xét kèm phương án gợi ý. AI tuyệt đối không bao giờ tự ý đoán mò tiền của doanh nghiệp.</a:t>
            </a:r>
          </a:p>
        </p:txBody>
      </p:sp>
      <p:sp>
        <p:nvSpPr>
          <p:cNvPr id="13" name="Rounded Rectangle 12"/>
          <p:cNvSpPr/>
          <p:nvPr/>
        </p:nvSpPr>
        <p:spPr>
          <a:xfrm>
            <a:off x="731520" y="2898648"/>
            <a:ext cx="3453688" cy="3090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14400" y="3081528"/>
            <a:ext cx="475488" cy="47548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KHÓA</a:t>
            </a:r>
          </a:p>
        </p:txBody>
      </p:sp>
      <p:sp>
        <p:nvSpPr>
          <p:cNvPr id="15" name="TextBox 14"/>
          <p:cNvSpPr txBox="1"/>
          <p:nvPr/>
        </p:nvSpPr>
        <p:spPr>
          <a:xfrm>
            <a:off x="1463040" y="3063240"/>
            <a:ext cx="2585008" cy="530352"/>
          </a:xfrm>
          <a:prstGeom prst="rect">
            <a:avLst/>
          </a:prstGeom>
          <a:noFill/>
        </p:spPr>
        <p:txBody>
          <a:bodyPr wrap="square" lIns="0" tIns="0" rIns="0" bIns="0">
            <a:spAutoFit/>
          </a:bodyPr>
          <a:lstStyle/>
          <a:p>
            <a:pPr>
              <a:defRPr sz="1150" b="1">
                <a:solidFill>
                  <a:srgbClr val="0F172A"/>
                </a:solidFill>
                <a:latin typeface="Segoe UI"/>
              </a:defRPr>
            </a:pPr>
            <a:r>
              <a:t>Cơ Chế Khóa Fail-Closed</a:t>
            </a:r>
          </a:p>
        </p:txBody>
      </p:sp>
      <p:sp>
        <p:nvSpPr>
          <p:cNvPr id="16" name="TextBox 15"/>
          <p:cNvSpPr txBox="1"/>
          <p:nvPr/>
        </p:nvSpPr>
        <p:spPr>
          <a:xfrm>
            <a:off x="914400" y="3630168"/>
            <a:ext cx="3087928" cy="2221992"/>
          </a:xfrm>
          <a:prstGeom prst="rect">
            <a:avLst/>
          </a:prstGeom>
          <a:noFill/>
        </p:spPr>
        <p:txBody>
          <a:bodyPr wrap="square" lIns="0" tIns="0" rIns="0" bIns="0">
            <a:spAutoFit/>
          </a:bodyPr>
          <a:lstStyle/>
          <a:p>
            <a:pPr>
              <a:spcAft>
                <a:spcPts val="400"/>
              </a:spcAft>
            </a:pPr>
            <a:r>
              <a:rPr sz="950" b="1">
                <a:solidFill>
                  <a:srgbClr val="0F172A"/>
                </a:solidFill>
                <a:latin typeface="Segoe UI"/>
              </a:rPr>
              <a:t>• Không bao giờ đoán mò: </a:t>
            </a:r>
            <a:r>
              <a:rPr sz="900">
                <a:solidFill>
                  <a:srgbClr val="334155"/>
                </a:solidFill>
                <a:latin typeface="Segoe UI"/>
              </a:rPr>
              <a:t>Khi số liệu chênh lệch dù chỉ 1 đồng hoặc nội dung không rõ ràng, hệ thống kiên quyết dừng lại chờ xác nhận.</a:t>
            </a:r>
          </a:p>
          <a:p>
            <a:pPr>
              <a:spcAft>
                <a:spcPts val="400"/>
              </a:spcAft>
            </a:pPr>
            <a:r>
              <a:rPr sz="950" b="1">
                <a:solidFill>
                  <a:srgbClr val="0F172A"/>
                </a:solidFill>
                <a:latin typeface="Segoe UI"/>
              </a:rPr>
              <a:t>• Nguyên tắc thận trọng: </a:t>
            </a:r>
            <a:r>
              <a:rPr sz="900">
                <a:solidFill>
                  <a:srgbClr val="334155"/>
                </a:solidFill>
                <a:latin typeface="Segoe UI"/>
              </a:rPr>
              <a:t>Tuyệt đối không áp đặt giả định toán học lên tài sản và tiền bạc của doanh nghiệp.</a:t>
            </a:r>
          </a:p>
          <a:p>
            <a:pPr>
              <a:spcAft>
                <a:spcPts val="400"/>
              </a:spcAft>
            </a:pPr>
            <a:r>
              <a:rPr sz="950" b="1">
                <a:solidFill>
                  <a:srgbClr val="0F172A"/>
                </a:solidFill>
                <a:latin typeface="Segoe UI"/>
              </a:rPr>
              <a:t>• Tự động học hỏi: </a:t>
            </a:r>
            <a:r>
              <a:rPr sz="900">
                <a:solidFill>
                  <a:srgbClr val="334155"/>
                </a:solidFill>
                <a:latin typeface="Segoe UI"/>
              </a:rPr>
              <a:t>Mỗi ca xử lý thủ công thành công đều được ghi nhận để hoàn thiện từ điển nhận diện cho các lần sau.</a:t>
            </a:r>
          </a:p>
        </p:txBody>
      </p:sp>
      <p:sp>
        <p:nvSpPr>
          <p:cNvPr id="17" name="Rounded Rectangle 16"/>
          <p:cNvSpPr/>
          <p:nvPr/>
        </p:nvSpPr>
        <p:spPr>
          <a:xfrm>
            <a:off x="4368088" y="2898648"/>
            <a:ext cx="3453688" cy="3090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50968" y="3081528"/>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2 PHA</a:t>
            </a:r>
          </a:p>
        </p:txBody>
      </p:sp>
      <p:sp>
        <p:nvSpPr>
          <p:cNvPr id="19" name="TextBox 18"/>
          <p:cNvSpPr txBox="1"/>
          <p:nvPr/>
        </p:nvSpPr>
        <p:spPr>
          <a:xfrm>
            <a:off x="5099608" y="3063240"/>
            <a:ext cx="2585008" cy="530352"/>
          </a:xfrm>
          <a:prstGeom prst="rect">
            <a:avLst/>
          </a:prstGeom>
          <a:noFill/>
        </p:spPr>
        <p:txBody>
          <a:bodyPr wrap="square" lIns="0" tIns="0" rIns="0" bIns="0">
            <a:spAutoFit/>
          </a:bodyPr>
          <a:lstStyle/>
          <a:p>
            <a:pPr>
              <a:defRPr sz="1150" b="1">
                <a:solidFill>
                  <a:srgbClr val="0F172A"/>
                </a:solidFill>
                <a:latin typeface="Segoe UI"/>
              </a:defRPr>
            </a:pPr>
            <a:r>
              <a:t>Quy Trình Maker-Checker</a:t>
            </a:r>
          </a:p>
        </p:txBody>
      </p:sp>
      <p:sp>
        <p:nvSpPr>
          <p:cNvPr id="20" name="TextBox 19"/>
          <p:cNvSpPr txBox="1"/>
          <p:nvPr/>
        </p:nvSpPr>
        <p:spPr>
          <a:xfrm>
            <a:off x="4550968" y="3630168"/>
            <a:ext cx="3087928" cy="2221992"/>
          </a:xfrm>
          <a:prstGeom prst="rect">
            <a:avLst/>
          </a:prstGeom>
          <a:noFill/>
        </p:spPr>
        <p:txBody>
          <a:bodyPr wrap="square" lIns="0" tIns="0" rIns="0" bIns="0">
            <a:spAutoFit/>
          </a:bodyPr>
          <a:lstStyle/>
          <a:p>
            <a:pPr>
              <a:spcAft>
                <a:spcPts val="400"/>
              </a:spcAft>
            </a:pPr>
            <a:r>
              <a:rPr sz="950" b="1">
                <a:solidFill>
                  <a:srgbClr val="0F172A"/>
                </a:solidFill>
                <a:latin typeface="Segoe UI"/>
              </a:rPr>
              <a:t>• Phân định thẩm quyền: </a:t>
            </a:r>
            <a:r>
              <a:rPr sz="900">
                <a:solidFill>
                  <a:srgbClr val="334155"/>
                </a:solidFill>
                <a:latin typeface="Segoe UI"/>
              </a:rPr>
              <a:t>AI chỉ đóng vai trò người lập đề xuất (Maker), hỗ trợ chuẩn bị sẵn thông tin đối soát và dự thảo bút toán.</a:t>
            </a:r>
          </a:p>
          <a:p>
            <a:pPr>
              <a:spcAft>
                <a:spcPts val="400"/>
              </a:spcAft>
            </a:pPr>
            <a:r>
              <a:rPr sz="950" b="1">
                <a:solidFill>
                  <a:srgbClr val="0F172A"/>
                </a:solidFill>
                <a:latin typeface="Segoe UI"/>
              </a:rPr>
              <a:t>• Phê duyệt điện tử: </a:t>
            </a:r>
            <a:r>
              <a:rPr sz="900">
                <a:solidFill>
                  <a:srgbClr val="334155"/>
                </a:solidFill>
                <a:latin typeface="Segoe UI"/>
              </a:rPr>
              <a:t>Kế toán trưởng hoặc CFO (Checker) ký duyệt điện tử thì lệnh mới có giá trị pháp lý và được hạch toán vào sổ cái.</a:t>
            </a:r>
          </a:p>
          <a:p>
            <a:pPr>
              <a:spcAft>
                <a:spcPts val="400"/>
              </a:spcAft>
            </a:pPr>
            <a:r>
              <a:rPr sz="950" b="1">
                <a:solidFill>
                  <a:srgbClr val="0F172A"/>
                </a:solidFill>
                <a:latin typeface="Segoe UI"/>
              </a:rPr>
              <a:t>• Con người quyết định: </a:t>
            </a:r>
            <a:r>
              <a:rPr sz="900">
                <a:solidFill>
                  <a:srgbClr val="334155"/>
                </a:solidFill>
                <a:latin typeface="Segoe UI"/>
              </a:rPr>
              <a:t>Quyền quyết định tối cao về dòng tiền luôn nằm trọn trong tay người quản trị tài chính.</a:t>
            </a:r>
          </a:p>
        </p:txBody>
      </p:sp>
      <p:sp>
        <p:nvSpPr>
          <p:cNvPr id="21" name="Rounded Rectangle 20"/>
          <p:cNvSpPr/>
          <p:nvPr/>
        </p:nvSpPr>
        <p:spPr>
          <a:xfrm>
            <a:off x="8004656" y="2898648"/>
            <a:ext cx="3453688" cy="3090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87536" y="3081528"/>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KIỂM TOÁN</a:t>
            </a:r>
          </a:p>
        </p:txBody>
      </p:sp>
      <p:sp>
        <p:nvSpPr>
          <p:cNvPr id="23" name="TextBox 22"/>
          <p:cNvSpPr txBox="1"/>
          <p:nvPr/>
        </p:nvSpPr>
        <p:spPr>
          <a:xfrm>
            <a:off x="8736176" y="3063240"/>
            <a:ext cx="2585008" cy="530352"/>
          </a:xfrm>
          <a:prstGeom prst="rect">
            <a:avLst/>
          </a:prstGeom>
          <a:noFill/>
        </p:spPr>
        <p:txBody>
          <a:bodyPr wrap="square" lIns="0" tIns="0" rIns="0" bIns="0">
            <a:spAutoFit/>
          </a:bodyPr>
          <a:lstStyle/>
          <a:p>
            <a:pPr>
              <a:defRPr sz="1150" b="1">
                <a:solidFill>
                  <a:srgbClr val="0F172A"/>
                </a:solidFill>
                <a:latin typeface="Segoe UI"/>
              </a:defRPr>
            </a:pPr>
            <a:r>
              <a:t>Nhật Ký Bất Biến &amp; Pháp Lý</a:t>
            </a:r>
          </a:p>
        </p:txBody>
      </p:sp>
      <p:sp>
        <p:nvSpPr>
          <p:cNvPr id="24" name="TextBox 23"/>
          <p:cNvSpPr txBox="1"/>
          <p:nvPr/>
        </p:nvSpPr>
        <p:spPr>
          <a:xfrm>
            <a:off x="8187536" y="3630168"/>
            <a:ext cx="3087928" cy="2221992"/>
          </a:xfrm>
          <a:prstGeom prst="rect">
            <a:avLst/>
          </a:prstGeom>
          <a:noFill/>
        </p:spPr>
        <p:txBody>
          <a:bodyPr wrap="square" lIns="0" tIns="0" rIns="0" bIns="0">
            <a:spAutoFit/>
          </a:bodyPr>
          <a:lstStyle/>
          <a:p>
            <a:pPr>
              <a:spcAft>
                <a:spcPts val="400"/>
              </a:spcAft>
            </a:pPr>
            <a:r>
              <a:rPr sz="950" b="1">
                <a:solidFill>
                  <a:srgbClr val="0F172A"/>
                </a:solidFill>
                <a:latin typeface="Segoe UI"/>
              </a:rPr>
              <a:t>• Lưu vết 100%: </a:t>
            </a:r>
            <a:r>
              <a:rPr sz="900">
                <a:solidFill>
                  <a:srgbClr val="334155"/>
                </a:solidFill>
                <a:latin typeface="Segoe UI"/>
              </a:rPr>
              <a:t>Ghi nhận chi tiết thời điểm, người duyệt, nội dung ban đầu và phương án điều chỉnh trong nhật ký kiểm toán bất biến.</a:t>
            </a:r>
          </a:p>
          <a:p>
            <a:pPr>
              <a:spcAft>
                <a:spcPts val="400"/>
              </a:spcAft>
            </a:pPr>
            <a:r>
              <a:rPr sz="950" b="1">
                <a:solidFill>
                  <a:srgbClr val="0F172A"/>
                </a:solidFill>
                <a:latin typeface="Segoe UI"/>
              </a:rPr>
              <a:t>• Trách nhiệm minh bạch: </a:t>
            </a:r>
            <a:r>
              <a:rPr sz="900">
                <a:solidFill>
                  <a:srgbClr val="334155"/>
                </a:solidFill>
                <a:latin typeface="Segoe UI"/>
              </a:rPr>
              <a:t>Phân định rõ ràng trách nhiệm giữa đề xuất của máy và quyết định phê duyệt của con người.</a:t>
            </a:r>
          </a:p>
          <a:p>
            <a:pPr>
              <a:spcAft>
                <a:spcPts val="400"/>
              </a:spcAft>
            </a:pPr>
            <a:r>
              <a:rPr sz="950" b="1">
                <a:solidFill>
                  <a:srgbClr val="0F172A"/>
                </a:solidFill>
                <a:latin typeface="Segoe UI"/>
              </a:rPr>
              <a:t>• Sẵn sàng thanh tra: </a:t>
            </a:r>
            <a:r>
              <a:rPr sz="900">
                <a:solidFill>
                  <a:srgbClr val="334155"/>
                </a:solidFill>
                <a:latin typeface="Segoe UI"/>
              </a:rPr>
              <a:t>Cung cấp đầy đủ bằng chứng đối chiếu phục vụ thanh tra thuế và các đơn vị kiểm toán độc lập quốc tế.</a:t>
            </a:r>
          </a:p>
        </p:txBody>
      </p:sp>
      <p:cxnSp>
        <p:nvCxnSpPr>
          <p:cNvPr id="25" name="Connector 24"/>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7" name="TextBox 26"/>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24 / 27 • INNOSTART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3 • Q&amp;A PHẢN BIỆN CHUYÊN SÂU • DEEP DIVE 05: PHÂN BỔ NGUỒN VỐN</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Q&amp;A 05: "CHI TIẾT PHÂN BỔ VỐN SEED: 50% R&amp;D, 25% GTM, 15% PHÁP LÝ &amp; 10% DỰ PHÒNG"</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Sử dụng nguồn vốn có kỷ luật, bám sát các mốc nghiệm thu kỹ thuật và chỉ số tăng trưởng.</a:t>
            </a:r>
          </a:p>
        </p:txBody>
      </p:sp>
      <p:sp>
        <p:nvSpPr>
          <p:cNvPr id="9" name="Rounded Rectangle 8"/>
          <p:cNvSpPr/>
          <p:nvPr/>
        </p:nvSpPr>
        <p:spPr>
          <a:xfrm>
            <a:off x="731520" y="1508760"/>
            <a:ext cx="4572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18488"/>
            <a:ext cx="4206240" cy="365760"/>
          </a:xfrm>
          <a:prstGeom prst="rect">
            <a:avLst/>
          </a:prstGeom>
          <a:noFill/>
        </p:spPr>
        <p:txBody>
          <a:bodyPr wrap="square" lIns="0" tIns="0" rIns="0" bIns="0">
            <a:spAutoFit/>
          </a:bodyPr>
          <a:lstStyle/>
          <a:p>
            <a:pPr algn="ctr">
              <a:defRPr sz="950" b="1">
                <a:solidFill>
                  <a:srgbClr val="0F172A"/>
                </a:solidFill>
                <a:latin typeface="Segoe UI"/>
              </a:defRPr>
            </a:pPr>
            <a:r>
              <a:t>CƠ CẤU PHÂN BỔ VỐN SEED ($500K - $750K USD)</a:t>
            </a:r>
          </a:p>
        </p:txBody>
      </p:sp>
      <p:graphicFrame>
        <p:nvGraphicFramePr>
          <p:cNvPr id="11" name="Chart 10"/>
          <p:cNvGraphicFramePr>
            <a:graphicFrameLocks noGrp="1"/>
          </p:cNvGraphicFramePr>
          <p:nvPr/>
        </p:nvGraphicFramePr>
        <p:xfrm>
          <a:off x="868680" y="1947672"/>
          <a:ext cx="4297680" cy="3968496"/>
        </p:xfrm>
        <a:graphic>
          <a:graphicData uri="http://schemas.openxmlformats.org/drawingml/2006/chart">
            <c:chart xmlns:c="http://schemas.openxmlformats.org/drawingml/2006/chart" r:id="rId2"/>
          </a:graphicData>
        </a:graphic>
      </p:graphicFrame>
      <p:sp>
        <p:nvSpPr>
          <p:cNvPr id="12" name="Rounded Rectangle 11"/>
          <p:cNvSpPr/>
          <p:nvPr/>
        </p:nvSpPr>
        <p:spPr>
          <a:xfrm>
            <a:off x="5486400" y="1508760"/>
            <a:ext cx="5973775" cy="142036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596128" y="1618488"/>
            <a:ext cx="1234440" cy="1200912"/>
          </a:xfrm>
          <a:prstGeom prst="roundRect">
            <a:avLst/>
          </a:prstGeom>
          <a:solidFill>
            <a:srgbClr val="F0F9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2200" b="1">
                <a:solidFill>
                  <a:srgbClr val="1E3A8A"/>
                </a:solidFill>
                <a:latin typeface="Segoe UI"/>
              </a:defRPr>
            </a:pPr>
            <a:r>
              <a:t>40%</a:t>
            </a:r>
          </a:p>
          <a:p>
            <a:pPr algn="ctr">
              <a:defRPr sz="850" b="1">
                <a:solidFill>
                  <a:srgbClr val="0F172A"/>
                </a:solidFill>
                <a:latin typeface="Segoe UI"/>
              </a:defRPr>
            </a:pPr>
            <a:r>
              <a:t>ĐỢT 1</a:t>
            </a:r>
          </a:p>
        </p:txBody>
      </p:sp>
      <p:sp>
        <p:nvSpPr>
          <p:cNvPr id="14" name="TextBox 13"/>
          <p:cNvSpPr txBox="1"/>
          <p:nvPr/>
        </p:nvSpPr>
        <p:spPr>
          <a:xfrm>
            <a:off x="6949440" y="1600200"/>
            <a:ext cx="4373575" cy="1237488"/>
          </a:xfrm>
          <a:prstGeom prst="rect">
            <a:avLst/>
          </a:prstGeom>
          <a:noFill/>
        </p:spPr>
        <p:txBody>
          <a:bodyPr wrap="square" lIns="0" tIns="0" rIns="0" bIns="0">
            <a:spAutoFit/>
          </a:bodyPr>
          <a:lstStyle/>
          <a:p>
            <a:pPr>
              <a:spcAft>
                <a:spcPts val="200"/>
              </a:spcAft>
              <a:defRPr sz="1050" b="1">
                <a:solidFill>
                  <a:srgbClr val="0F172A"/>
                </a:solidFill>
                <a:latin typeface="Segoe UI"/>
              </a:defRPr>
            </a:pPr>
            <a:r>
              <a:t>Đợt 1 (40% Vốn — Ngay Khi Đóng Vòng)</a:t>
            </a:r>
          </a:p>
          <a:p>
            <a:pPr>
              <a:spcAft>
                <a:spcPts val="100"/>
              </a:spcAft>
            </a:pPr>
            <a:r>
              <a:rPr sz="880" b="1">
                <a:solidFill>
                  <a:srgbClr val="0F172A"/>
                </a:solidFill>
                <a:latin typeface="Segoe UI"/>
              </a:rPr>
              <a:t>• Mục tiêu kỹ thuật: </a:t>
            </a:r>
            <a:r>
              <a:rPr sz="850">
                <a:solidFill>
                  <a:srgbClr val="334155"/>
                </a:solidFill>
                <a:latin typeface="Segoe UI"/>
              </a:rPr>
              <a:t>Kích hoạt hoàn thiện sản phẩm và mở rộng bộ giải mã sao kê 20 ngân hàng thương mại lớn nhất.</a:t>
            </a:r>
          </a:p>
          <a:p>
            <a:pPr>
              <a:spcAft>
                <a:spcPts val="100"/>
              </a:spcAft>
            </a:pPr>
            <a:r>
              <a:rPr sz="880" b="1">
                <a:solidFill>
                  <a:srgbClr val="0F172A"/>
                </a:solidFill>
                <a:latin typeface="Segoe UI"/>
              </a:rPr>
              <a:t>• Mở rộng nhân sự: </a:t>
            </a:r>
            <a:r>
              <a:rPr sz="850">
                <a:solidFill>
                  <a:srgbClr val="334155"/>
                </a:solidFill>
                <a:latin typeface="Segoe UI"/>
              </a:rPr>
              <a:t>Tuyển dụng 4 kỹ sư hệ thống cao cấp và chuyên viên nghiệp vụ đối soát ngân quỹ.</a:t>
            </a:r>
          </a:p>
          <a:p>
            <a:pPr>
              <a:spcAft>
                <a:spcPts val="100"/>
              </a:spcAft>
            </a:pPr>
            <a:r>
              <a:rPr sz="880" b="1">
                <a:solidFill>
                  <a:srgbClr val="0F172A"/>
                </a:solidFill>
                <a:latin typeface="Segoe UI"/>
              </a:rPr>
              <a:t>• Thử nghiệm thực tế: </a:t>
            </a:r>
            <a:r>
              <a:rPr sz="850">
                <a:solidFill>
                  <a:srgbClr val="334155"/>
                </a:solidFill>
                <a:latin typeface="Segoe UI"/>
              </a:rPr>
              <a:t>Hoàn thành kiểm thử nội bộ cùng 15 khách hàng doanh nghiệp thân thiết đầu tiên.</a:t>
            </a:r>
          </a:p>
        </p:txBody>
      </p:sp>
      <p:sp>
        <p:nvSpPr>
          <p:cNvPr id="15" name="Rounded Rectangle 14"/>
          <p:cNvSpPr/>
          <p:nvPr/>
        </p:nvSpPr>
        <p:spPr>
          <a:xfrm>
            <a:off x="5486400" y="3038856"/>
            <a:ext cx="5973775" cy="142036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596128" y="3148584"/>
            <a:ext cx="1234440" cy="1200912"/>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2200" b="1">
                <a:solidFill>
                  <a:srgbClr val="0284C7"/>
                </a:solidFill>
                <a:latin typeface="Segoe UI"/>
              </a:defRPr>
            </a:pPr>
            <a:r>
              <a:t>35%</a:t>
            </a:r>
          </a:p>
          <a:p>
            <a:pPr algn="ctr">
              <a:defRPr sz="850" b="1">
                <a:solidFill>
                  <a:srgbClr val="0F172A"/>
                </a:solidFill>
                <a:latin typeface="Segoe UI"/>
              </a:defRPr>
            </a:pPr>
            <a:r>
              <a:t>ĐỢT 2</a:t>
            </a:r>
          </a:p>
        </p:txBody>
      </p:sp>
      <p:sp>
        <p:nvSpPr>
          <p:cNvPr id="17" name="TextBox 16"/>
          <p:cNvSpPr txBox="1"/>
          <p:nvPr/>
        </p:nvSpPr>
        <p:spPr>
          <a:xfrm>
            <a:off x="6949440" y="3130296"/>
            <a:ext cx="4373575" cy="1237488"/>
          </a:xfrm>
          <a:prstGeom prst="rect">
            <a:avLst/>
          </a:prstGeom>
          <a:noFill/>
        </p:spPr>
        <p:txBody>
          <a:bodyPr wrap="square" lIns="0" tIns="0" rIns="0" bIns="0">
            <a:spAutoFit/>
          </a:bodyPr>
          <a:lstStyle/>
          <a:p>
            <a:pPr>
              <a:spcAft>
                <a:spcPts val="200"/>
              </a:spcAft>
              <a:defRPr sz="1050" b="1">
                <a:solidFill>
                  <a:srgbClr val="0F172A"/>
                </a:solidFill>
                <a:latin typeface="Segoe UI"/>
              </a:defRPr>
            </a:pPr>
            <a:r>
              <a:t>Đợt 2 (35% Vốn — Tháng Thứ 06)</a:t>
            </a:r>
          </a:p>
          <a:p>
            <a:pPr>
              <a:spcAft>
                <a:spcPts val="100"/>
              </a:spcAft>
            </a:pPr>
            <a:r>
              <a:rPr sz="880" b="1">
                <a:solidFill>
                  <a:srgbClr val="0F172A"/>
                </a:solidFill>
                <a:latin typeface="Segoe UI"/>
              </a:rPr>
              <a:t>• Mốc nghiệm thu ERP: </a:t>
            </a:r>
            <a:r>
              <a:rPr sz="850">
                <a:solidFill>
                  <a:srgbClr val="334155"/>
                </a:solidFill>
                <a:latin typeface="Segoe UI"/>
              </a:rPr>
              <a:t>Tích hợp 1 chạm vào các phần mềm kế toán phổ biến MISA, FAST và Bravo.</a:t>
            </a:r>
          </a:p>
          <a:p>
            <a:pPr>
              <a:spcAft>
                <a:spcPts val="100"/>
              </a:spcAft>
            </a:pPr>
            <a:r>
              <a:rPr sz="880" b="1">
                <a:solidFill>
                  <a:srgbClr val="0F172A"/>
                </a:solidFill>
                <a:latin typeface="Segoe UI"/>
              </a:rPr>
              <a:t>• Chỉ số thị trường: </a:t>
            </a:r>
            <a:r>
              <a:rPr sz="850">
                <a:solidFill>
                  <a:srgbClr val="334155"/>
                </a:solidFill>
                <a:latin typeface="Segoe UI"/>
              </a:rPr>
              <a:t>Đạt cột mốc 50 khách hàng doanh nghiệp trả phí định kỳ với tỷ lệ hài lòng &gt; 90%.</a:t>
            </a:r>
          </a:p>
          <a:p>
            <a:pPr>
              <a:spcAft>
                <a:spcPts val="100"/>
              </a:spcAft>
            </a:pPr>
            <a:r>
              <a:rPr sz="880" b="1">
                <a:solidFill>
                  <a:srgbClr val="0F172A"/>
                </a:solidFill>
                <a:latin typeface="Segoe UI"/>
              </a:rPr>
              <a:t>• Vận hành an toàn: </a:t>
            </a:r>
            <a:r>
              <a:rPr sz="850">
                <a:solidFill>
                  <a:srgbClr val="334155"/>
                </a:solidFill>
                <a:latin typeface="Segoe UI"/>
              </a:rPr>
              <a:t>Hoàn thiện cơ chế phê duyệt hai pha Maker-Checker và phân quyền chữ ký số.</a:t>
            </a:r>
          </a:p>
        </p:txBody>
      </p:sp>
      <p:sp>
        <p:nvSpPr>
          <p:cNvPr id="18" name="Rounded Rectangle 17"/>
          <p:cNvSpPr/>
          <p:nvPr/>
        </p:nvSpPr>
        <p:spPr>
          <a:xfrm>
            <a:off x="5486400" y="4568952"/>
            <a:ext cx="5973775" cy="142036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596128" y="4678680"/>
            <a:ext cx="1234440" cy="1200912"/>
          </a:xfrm>
          <a:prstGeom prst="roundRect">
            <a:avLst/>
          </a:prstGeom>
          <a:solidFill>
            <a:srgbClr val="F0F9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2200" b="1">
                <a:solidFill>
                  <a:srgbClr val="10B981"/>
                </a:solidFill>
                <a:latin typeface="Segoe UI"/>
              </a:defRPr>
            </a:pPr>
            <a:r>
              <a:t>25%</a:t>
            </a:r>
          </a:p>
          <a:p>
            <a:pPr algn="ctr">
              <a:defRPr sz="850" b="1">
                <a:solidFill>
                  <a:srgbClr val="0F172A"/>
                </a:solidFill>
                <a:latin typeface="Segoe UI"/>
              </a:defRPr>
            </a:pPr>
            <a:r>
              <a:t>ĐỢT 3</a:t>
            </a:r>
          </a:p>
        </p:txBody>
      </p:sp>
      <p:sp>
        <p:nvSpPr>
          <p:cNvPr id="20" name="TextBox 19"/>
          <p:cNvSpPr txBox="1"/>
          <p:nvPr/>
        </p:nvSpPr>
        <p:spPr>
          <a:xfrm>
            <a:off x="6949440" y="4660392"/>
            <a:ext cx="4373575" cy="1237488"/>
          </a:xfrm>
          <a:prstGeom prst="rect">
            <a:avLst/>
          </a:prstGeom>
          <a:noFill/>
        </p:spPr>
        <p:txBody>
          <a:bodyPr wrap="square" lIns="0" tIns="0" rIns="0" bIns="0">
            <a:spAutoFit/>
          </a:bodyPr>
          <a:lstStyle/>
          <a:p>
            <a:pPr>
              <a:spcAft>
                <a:spcPts val="200"/>
              </a:spcAft>
              <a:defRPr sz="1050" b="1">
                <a:solidFill>
                  <a:srgbClr val="0F172A"/>
                </a:solidFill>
                <a:latin typeface="Segoe UI"/>
              </a:defRPr>
            </a:pPr>
            <a:r>
              <a:t>Đợt 3 (25% Vốn — Tháng Thứ 12)</a:t>
            </a:r>
          </a:p>
          <a:p>
            <a:pPr>
              <a:spcAft>
                <a:spcPts val="100"/>
              </a:spcAft>
            </a:pPr>
            <a:r>
              <a:rPr sz="880" b="1">
                <a:solidFill>
                  <a:srgbClr val="0F172A"/>
                </a:solidFill>
                <a:latin typeface="Segoe UI"/>
              </a:rPr>
              <a:t>• Mốc đối tác ngân hàng: </a:t>
            </a:r>
            <a:r>
              <a:rPr sz="850">
                <a:solidFill>
                  <a:srgbClr val="334155"/>
                </a:solidFill>
                <a:latin typeface="Segoe UI"/>
              </a:rPr>
              <a:t>Ký kết thỏa thuận thử nghiệm chính thức cùng 02 ngân hàng thương mại tiên phong.</a:t>
            </a:r>
          </a:p>
          <a:p>
            <a:pPr>
              <a:spcAft>
                <a:spcPts val="100"/>
              </a:spcAft>
            </a:pPr>
            <a:r>
              <a:rPr sz="880" b="1">
                <a:solidFill>
                  <a:srgbClr val="0F172A"/>
                </a:solidFill>
                <a:latin typeface="Segoe UI"/>
              </a:rPr>
              <a:t>• Chứng nhận an ninh: </a:t>
            </a:r>
            <a:r>
              <a:rPr sz="850">
                <a:solidFill>
                  <a:srgbClr val="334155"/>
                </a:solidFill>
                <a:latin typeface="Segoe UI"/>
              </a:rPr>
              <a:t>Hoàn tất kiểm toán an ninh độc lập ISO 27001 và nộp hồ sơ Sandbox Ngân hàng Nhà nước.</a:t>
            </a:r>
          </a:p>
          <a:p>
            <a:pPr>
              <a:spcAft>
                <a:spcPts val="100"/>
              </a:spcAft>
            </a:pPr>
            <a:r>
              <a:rPr sz="880" b="1">
                <a:solidFill>
                  <a:srgbClr val="0F172A"/>
                </a:solidFill>
                <a:latin typeface="Segoe UI"/>
              </a:rPr>
              <a:t>• Tự chủ tài chính: </a:t>
            </a:r>
            <a:r>
              <a:rPr sz="850">
                <a:solidFill>
                  <a:srgbClr val="334155"/>
                </a:solidFill>
                <a:latin typeface="Segoe UI"/>
              </a:rPr>
              <a:t>Chạm mốc 150 doanh nghiệp sử dụng và chuẩn bị đạt điểm hòa vốn vận hành.</a:t>
            </a:r>
          </a:p>
        </p:txBody>
      </p:sp>
      <p:cxnSp>
        <p:nvCxnSpPr>
          <p:cNvPr id="21" name="Connector 20"/>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3" name="TextBox 22"/>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25 / 27 • INNOSTART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E3A8A"/>
                </a:solidFill>
                <a:latin typeface="Segoe UI"/>
              </a:defRPr>
            </a:pPr>
            <a:r>
              <a:t>VÒNG 3 • Q&amp;A PHẢN BIỆN CHUYÊN SÂU • DEEP DIVE 06: HÀO LŨY BẢN QUYỀN</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Q&amp;A 06: "CHIẾN LƯỢC BẢO VỆ BẢN QUYỀN &amp; PHÒNG THỦ TRƯỚC CÁC TẬP ĐOÀN BIG TECH"</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Đăng ký sở hữu trí tuệ, làm chủ bộ ngữ liệu tiếng Việt tài chính độc quyền và kiến trúc phần cứng khép kín.</a:t>
            </a:r>
          </a:p>
        </p:txBody>
      </p:sp>
      <p:sp>
        <p:nvSpPr>
          <p:cNvPr id="9" name="Rounded Rectangle 8"/>
          <p:cNvSpPr/>
          <p:nvPr/>
        </p:nvSpPr>
        <p:spPr>
          <a:xfrm>
            <a:off x="731520"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691640"/>
            <a:ext cx="475488" cy="47548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IP</a:t>
            </a:r>
          </a:p>
        </p:txBody>
      </p:sp>
      <p:sp>
        <p:nvSpPr>
          <p:cNvPr id="11" name="TextBox 10"/>
          <p:cNvSpPr txBox="1"/>
          <p:nvPr/>
        </p:nvSpPr>
        <p:spPr>
          <a:xfrm>
            <a:off x="1463040" y="1673352"/>
            <a:ext cx="2585008" cy="530352"/>
          </a:xfrm>
          <a:prstGeom prst="rect">
            <a:avLst/>
          </a:prstGeom>
          <a:noFill/>
        </p:spPr>
        <p:txBody>
          <a:bodyPr wrap="square" lIns="0" tIns="0" rIns="0" bIns="0">
            <a:spAutoFit/>
          </a:bodyPr>
          <a:lstStyle/>
          <a:p>
            <a:pPr>
              <a:defRPr sz="1150" b="1">
                <a:solidFill>
                  <a:srgbClr val="0F172A"/>
                </a:solidFill>
                <a:latin typeface="Segoe UI"/>
              </a:defRPr>
            </a:pPr>
            <a:r>
              <a:t>Đăng Ký Bản Quyền &amp; SHTT</a:t>
            </a:r>
          </a:p>
        </p:txBody>
      </p:sp>
      <p:sp>
        <p:nvSpPr>
          <p:cNvPr id="12" name="TextBox 11"/>
          <p:cNvSpPr txBox="1"/>
          <p:nvPr/>
        </p:nvSpPr>
        <p:spPr>
          <a:xfrm>
            <a:off x="914400" y="2240280"/>
            <a:ext cx="3087928" cy="621792"/>
          </a:xfrm>
          <a:prstGeom prst="rect">
            <a:avLst/>
          </a:prstGeom>
          <a:noFill/>
        </p:spPr>
        <p:txBody>
          <a:bodyPr wrap="square" lIns="0" tIns="0" rIns="0" bIns="0">
            <a:spAutoFit/>
          </a:bodyPr>
          <a:lstStyle/>
          <a:p>
            <a:pPr>
              <a:defRPr sz="2600" b="1">
                <a:solidFill>
                  <a:srgbClr val="1E3A8A"/>
                </a:solidFill>
                <a:latin typeface="Segoe UI"/>
              </a:defRPr>
            </a:pPr>
            <a:r>
              <a:t>100% SHTT</a:t>
            </a:r>
          </a:p>
          <a:p>
            <a:pPr>
              <a:defRPr sz="850" b="1">
                <a:solidFill>
                  <a:srgbClr val="0F172A"/>
                </a:solidFill>
                <a:latin typeface="Segoe UI"/>
              </a:defRPr>
            </a:pPr>
            <a:r>
              <a:t>THUỘC SỞ HỮU PHÁP NHÂN LIVA</a:t>
            </a:r>
          </a:p>
        </p:txBody>
      </p:sp>
      <p:sp>
        <p:nvSpPr>
          <p:cNvPr id="13" name="TextBox 12"/>
          <p:cNvSpPr txBox="1"/>
          <p:nvPr/>
        </p:nvSpPr>
        <p:spPr>
          <a:xfrm>
            <a:off x="914400"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Bảo hộ quyền tác giả: </a:t>
            </a:r>
            <a:r>
              <a:rPr sz="900">
                <a:solidFill>
                  <a:srgbClr val="334155"/>
                </a:solidFill>
                <a:latin typeface="Segoe UI"/>
              </a:rPr>
              <a:t>Hoàn tất thủ tục bảo hộ quyền tác giả cho toàn bộ mã nguồn phần mềm và giải pháp kiến trúc hai tầng.</a:t>
            </a:r>
          </a:p>
          <a:p>
            <a:pPr>
              <a:spcAft>
                <a:spcPts val="400"/>
              </a:spcAft>
            </a:pPr>
            <a:r>
              <a:rPr sz="950" b="1">
                <a:solidFill>
                  <a:srgbClr val="0F172A"/>
                </a:solidFill>
                <a:latin typeface="Segoe UI"/>
              </a:rPr>
              <a:t>• Chuyển giao vô điều kiện: </a:t>
            </a:r>
            <a:r>
              <a:rPr sz="900">
                <a:solidFill>
                  <a:srgbClr val="334155"/>
                </a:solidFill>
                <a:latin typeface="Segoe UI"/>
              </a:rPr>
              <a:t>100% thành viên sáng lập ký hợp đồng cam kết chuyển giao toàn bộ quyền sở hữu trí tuệ cho pháp nhân LIVA.</a:t>
            </a:r>
          </a:p>
          <a:p>
            <a:pPr>
              <a:spcAft>
                <a:spcPts val="400"/>
              </a:spcAft>
            </a:pPr>
            <a:r>
              <a:rPr sz="950" b="1">
                <a:solidFill>
                  <a:srgbClr val="0F172A"/>
                </a:solidFill>
                <a:latin typeface="Segoe UI"/>
              </a:rPr>
              <a:t>• Bảo mật đa tầng: </a:t>
            </a:r>
            <a:r>
              <a:rPr sz="900">
                <a:solidFill>
                  <a:srgbClr val="334155"/>
                </a:solidFill>
                <a:latin typeface="Segoe UI"/>
              </a:rPr>
              <a:t>Áp dụng thỏa thuận bảo mật nghiêm ngặt (NDA) và phân tách quyền truy cập mã nguồn theo từng module độc lập.</a:t>
            </a:r>
          </a:p>
        </p:txBody>
      </p:sp>
      <p:sp>
        <p:nvSpPr>
          <p:cNvPr id="14" name="Rounded Rectangle 13"/>
          <p:cNvSpPr/>
          <p:nvPr/>
        </p:nvSpPr>
        <p:spPr>
          <a:xfrm>
            <a:off x="4368088"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50968" y="1691640"/>
            <a:ext cx="475488" cy="47548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DATA</a:t>
            </a:r>
          </a:p>
        </p:txBody>
      </p:sp>
      <p:sp>
        <p:nvSpPr>
          <p:cNvPr id="16" name="TextBox 15"/>
          <p:cNvSpPr txBox="1"/>
          <p:nvPr/>
        </p:nvSpPr>
        <p:spPr>
          <a:xfrm>
            <a:off x="5099608" y="1673352"/>
            <a:ext cx="2585008" cy="530352"/>
          </a:xfrm>
          <a:prstGeom prst="rect">
            <a:avLst/>
          </a:prstGeom>
          <a:noFill/>
        </p:spPr>
        <p:txBody>
          <a:bodyPr wrap="square" lIns="0" tIns="0" rIns="0" bIns="0">
            <a:spAutoFit/>
          </a:bodyPr>
          <a:lstStyle/>
          <a:p>
            <a:pPr>
              <a:defRPr sz="1150" b="1">
                <a:solidFill>
                  <a:srgbClr val="0F172A"/>
                </a:solidFill>
                <a:latin typeface="Segoe UI"/>
              </a:defRPr>
            </a:pPr>
            <a:r>
              <a:t>Bộ Ngữ Liệu Bản Địa Độc Quyền</a:t>
            </a:r>
          </a:p>
        </p:txBody>
      </p:sp>
      <p:sp>
        <p:nvSpPr>
          <p:cNvPr id="17" name="TextBox 16"/>
          <p:cNvSpPr txBox="1"/>
          <p:nvPr/>
        </p:nvSpPr>
        <p:spPr>
          <a:xfrm>
            <a:off x="4550968" y="2240280"/>
            <a:ext cx="3087928" cy="621792"/>
          </a:xfrm>
          <a:prstGeom prst="rect">
            <a:avLst/>
          </a:prstGeom>
          <a:noFill/>
        </p:spPr>
        <p:txBody>
          <a:bodyPr wrap="square" lIns="0" tIns="0" rIns="0" bIns="0">
            <a:spAutoFit/>
          </a:bodyPr>
          <a:lstStyle/>
          <a:p>
            <a:pPr>
              <a:defRPr sz="2600" b="1">
                <a:solidFill>
                  <a:srgbClr val="0284C7"/>
                </a:solidFill>
                <a:latin typeface="Segoe UI"/>
              </a:defRPr>
            </a:pPr>
            <a:r>
              <a:t>500.000 Mẫu</a:t>
            </a:r>
          </a:p>
          <a:p>
            <a:pPr>
              <a:defRPr sz="850" b="1">
                <a:solidFill>
                  <a:srgbClr val="0F172A"/>
                </a:solidFill>
                <a:latin typeface="Segoe UI"/>
              </a:defRPr>
            </a:pPr>
            <a:r>
              <a:t>DỮ LIỆU GIAO DỊCH BẢN ĐỊA ĐỘC QUYỀN</a:t>
            </a:r>
          </a:p>
        </p:txBody>
      </p:sp>
      <p:sp>
        <p:nvSpPr>
          <p:cNvPr id="18" name="TextBox 17"/>
          <p:cNvSpPr txBox="1"/>
          <p:nvPr/>
        </p:nvSpPr>
        <p:spPr>
          <a:xfrm>
            <a:off x="4550968"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Kho dữ liệu bản địa: </a:t>
            </a:r>
            <a:r>
              <a:rPr sz="900">
                <a:solidFill>
                  <a:srgbClr val="334155"/>
                </a:solidFill>
                <a:latin typeface="Segoe UI"/>
              </a:rPr>
              <a:t>Sở hữu hơn 500.000 cặp mẫu giao dịch viết tắt tiếng Việt thực tế được chuẩn hóa và gắn nhãn nghiệp vụ.</a:t>
            </a:r>
          </a:p>
          <a:p>
            <a:pPr>
              <a:spcAft>
                <a:spcPts val="400"/>
              </a:spcAft>
            </a:pPr>
            <a:r>
              <a:rPr sz="950" b="1">
                <a:solidFill>
                  <a:srgbClr val="0F172A"/>
                </a:solidFill>
                <a:latin typeface="Segoe UI"/>
              </a:rPr>
              <a:t>• Hào lũy không thể sao chép: </a:t>
            </a:r>
            <a:r>
              <a:rPr sz="900">
                <a:solidFill>
                  <a:srgbClr val="334155"/>
                </a:solidFill>
                <a:latin typeface="Segoe UI"/>
              </a:rPr>
              <a:t>Các mô hình AI toàn cầu không thể tiếp cận dữ liệu sao kê ngân quỹ nội địa để huấn luyện đối trọng.</a:t>
            </a:r>
          </a:p>
          <a:p>
            <a:pPr>
              <a:spcAft>
                <a:spcPts val="400"/>
              </a:spcAft>
            </a:pPr>
            <a:r>
              <a:rPr sz="950" b="1">
                <a:solidFill>
                  <a:srgbClr val="0F172A"/>
                </a:solidFill>
                <a:latin typeface="Segoe UI"/>
              </a:rPr>
              <a:t>• Độ chính xác vượt trội: </a:t>
            </a:r>
            <a:r>
              <a:rPr sz="900">
                <a:solidFill>
                  <a:srgbClr val="334155"/>
                </a:solidFill>
                <a:latin typeface="Segoe UI"/>
              </a:rPr>
              <a:t>Hiểu sâu sắc cách viết tắt, từ lóng kế toán và thói quen chuyển khoản đặc thù tại thị trường Việt Nam.</a:t>
            </a:r>
          </a:p>
        </p:txBody>
      </p:sp>
      <p:sp>
        <p:nvSpPr>
          <p:cNvPr id="19" name="Rounded Rectangle 18"/>
          <p:cNvSpPr/>
          <p:nvPr/>
        </p:nvSpPr>
        <p:spPr>
          <a:xfrm>
            <a:off x="8004656" y="1508760"/>
            <a:ext cx="3453688"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87536" y="1691640"/>
            <a:ext cx="475488" cy="47548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SEAL</a:t>
            </a:r>
          </a:p>
        </p:txBody>
      </p:sp>
      <p:sp>
        <p:nvSpPr>
          <p:cNvPr id="21" name="TextBox 20"/>
          <p:cNvSpPr txBox="1"/>
          <p:nvPr/>
        </p:nvSpPr>
        <p:spPr>
          <a:xfrm>
            <a:off x="8736176" y="1673352"/>
            <a:ext cx="2585008" cy="530352"/>
          </a:xfrm>
          <a:prstGeom prst="rect">
            <a:avLst/>
          </a:prstGeom>
          <a:noFill/>
        </p:spPr>
        <p:txBody>
          <a:bodyPr wrap="square" lIns="0" tIns="0" rIns="0" bIns="0">
            <a:spAutoFit/>
          </a:bodyPr>
          <a:lstStyle/>
          <a:p>
            <a:pPr>
              <a:defRPr sz="1150" b="1">
                <a:solidFill>
                  <a:srgbClr val="0F172A"/>
                </a:solidFill>
                <a:latin typeface="Segoe UI"/>
              </a:defRPr>
            </a:pPr>
            <a:r>
              <a:t>Kiến Trúc Đóng Gói Khép Kín</a:t>
            </a:r>
          </a:p>
        </p:txBody>
      </p:sp>
      <p:sp>
        <p:nvSpPr>
          <p:cNvPr id="22" name="TextBox 21"/>
          <p:cNvSpPr txBox="1"/>
          <p:nvPr/>
        </p:nvSpPr>
        <p:spPr>
          <a:xfrm>
            <a:off x="8187536" y="2240280"/>
            <a:ext cx="3087928" cy="621792"/>
          </a:xfrm>
          <a:prstGeom prst="rect">
            <a:avLst/>
          </a:prstGeom>
          <a:noFill/>
        </p:spPr>
        <p:txBody>
          <a:bodyPr wrap="square" lIns="0" tIns="0" rIns="0" bIns="0">
            <a:spAutoFit/>
          </a:bodyPr>
          <a:lstStyle/>
          <a:p>
            <a:pPr>
              <a:defRPr sz="2600" b="1">
                <a:solidFill>
                  <a:srgbClr val="10B981"/>
                </a:solidFill>
                <a:latin typeface="Segoe UI"/>
              </a:defRPr>
            </a:pPr>
            <a:r>
              <a:t>Khóa Cứng</a:t>
            </a:r>
          </a:p>
          <a:p>
            <a:pPr>
              <a:defRPr sz="850" b="1">
                <a:solidFill>
                  <a:srgbClr val="0F172A"/>
                </a:solidFill>
                <a:latin typeface="Segoe UI"/>
              </a:defRPr>
            </a:pPr>
            <a:r>
              <a:t>BẢO VỆ MÃ MÁY CHỐNG SAO CHÉP</a:t>
            </a:r>
          </a:p>
        </p:txBody>
      </p:sp>
      <p:sp>
        <p:nvSpPr>
          <p:cNvPr id="23" name="TextBox 22"/>
          <p:cNvSpPr txBox="1"/>
          <p:nvPr/>
        </p:nvSpPr>
        <p:spPr>
          <a:xfrm>
            <a:off x="8187536" y="2898648"/>
            <a:ext cx="3087928" cy="2953512"/>
          </a:xfrm>
          <a:prstGeom prst="rect">
            <a:avLst/>
          </a:prstGeom>
          <a:noFill/>
        </p:spPr>
        <p:txBody>
          <a:bodyPr wrap="square" lIns="0" tIns="0" rIns="0" bIns="0">
            <a:spAutoFit/>
          </a:bodyPr>
          <a:lstStyle/>
          <a:p>
            <a:pPr>
              <a:spcAft>
                <a:spcPts val="400"/>
              </a:spcAft>
            </a:pPr>
            <a:r>
              <a:rPr sz="950" b="1">
                <a:solidFill>
                  <a:srgbClr val="0F172A"/>
                </a:solidFill>
                <a:latin typeface="Segoe UI"/>
              </a:rPr>
              <a:t>• Biên dịch mã máy: </a:t>
            </a:r>
            <a:r>
              <a:rPr sz="900">
                <a:solidFill>
                  <a:srgbClr val="334155"/>
                </a:solidFill>
                <a:latin typeface="Segoe UI"/>
              </a:rPr>
              <a:t>Phần mềm được biên dịch khép kín trực tiếp thành mã máy, ngăn chặn triệt để nguy cơ phân tích sao chép ngược.</a:t>
            </a:r>
          </a:p>
          <a:p>
            <a:pPr>
              <a:spcAft>
                <a:spcPts val="400"/>
              </a:spcAft>
            </a:pPr>
            <a:r>
              <a:rPr sz="950" b="1">
                <a:solidFill>
                  <a:srgbClr val="0F172A"/>
                </a:solidFill>
                <a:latin typeface="Segoe UI"/>
              </a:rPr>
              <a:t>• Khóa phần cứng an toàn: </a:t>
            </a:r>
            <a:r>
              <a:rPr sz="900">
                <a:solidFill>
                  <a:srgbClr val="334155"/>
                </a:solidFill>
                <a:latin typeface="Segoe UI"/>
              </a:rPr>
              <a:t>Cơ chế kích hoạt bản quyền gắn liền với định danh phần cứng máy tính nội bộ của từng khách hàng doanh nghiệp.</a:t>
            </a:r>
          </a:p>
          <a:p>
            <a:pPr>
              <a:spcAft>
                <a:spcPts val="400"/>
              </a:spcAft>
            </a:pPr>
            <a:r>
              <a:rPr sz="950" b="1">
                <a:solidFill>
                  <a:srgbClr val="0F172A"/>
                </a:solidFill>
                <a:latin typeface="Segoe UI"/>
              </a:rPr>
              <a:t>• Đóng hộp độc lập: </a:t>
            </a:r>
            <a:r>
              <a:rPr sz="900">
                <a:solidFill>
                  <a:srgbClr val="334155"/>
                </a:solidFill>
                <a:latin typeface="Segoe UI"/>
              </a:rPr>
              <a:t>Khách hàng sở hữu toàn quyền vận hành mà không phải lo ngại về nguy cơ cửa sau hoặc rò rỉ mã nguồn.</a:t>
            </a:r>
          </a:p>
        </p:txBody>
      </p:sp>
      <p:cxnSp>
        <p:nvCxnSpPr>
          <p:cNvPr id="24" name="Connector 23"/>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6" name="TextBox 25"/>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26 / 27 • INNOSTART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20095" y="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21424"/>
            <a:ext cx="73152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7295" y="6821424"/>
            <a:ext cx="9144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347472"/>
            <a:ext cx="5303520" cy="256032"/>
          </a:xfrm>
          <a:prstGeom prst="roundRect">
            <a:avLst/>
          </a:prstGeom>
          <a:solidFill>
            <a:srgbClr val="F0FDF4"/>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80" b="1">
                <a:solidFill>
                  <a:srgbClr val="10B981"/>
                </a:solidFill>
                <a:latin typeface="Segoe UI"/>
              </a:defRPr>
            </a:pPr>
            <a:r>
              <a:t>VÒNG 3 • TỔNG KẾT &amp; KÊU GỌI HỢP TÁC • CLOSING CALL TO ACTION</a:t>
            </a:r>
          </a:p>
        </p:txBody>
      </p:sp>
      <p:sp>
        <p:nvSpPr>
          <p:cNvPr id="7" name="TextBox 6"/>
          <p:cNvSpPr txBox="1"/>
          <p:nvPr/>
        </p:nvSpPr>
        <p:spPr>
          <a:xfrm>
            <a:off x="731520" y="640080"/>
            <a:ext cx="10728655" cy="438912"/>
          </a:xfrm>
          <a:prstGeom prst="rect">
            <a:avLst/>
          </a:prstGeom>
          <a:noFill/>
        </p:spPr>
        <p:txBody>
          <a:bodyPr wrap="square" lIns="0" tIns="0" rIns="0" bIns="0">
            <a:spAutoFit/>
          </a:bodyPr>
          <a:lstStyle/>
          <a:p>
            <a:pPr>
              <a:defRPr sz="2000" b="1">
                <a:solidFill>
                  <a:srgbClr val="0F172A"/>
                </a:solidFill>
                <a:latin typeface="Segoe UI"/>
              </a:defRPr>
            </a:pPr>
            <a:r>
              <a:t>LIVA BANKING HARNESS: KHẲNG ĐỊNH CHỦ QUYỀN AI TÀI CHÍNH TẠI VIỆT NAM</a:t>
            </a:r>
          </a:p>
        </p:txBody>
      </p:sp>
      <p:sp>
        <p:nvSpPr>
          <p:cNvPr id="8" name="TextBox 7"/>
          <p:cNvSpPr txBox="1"/>
          <p:nvPr/>
        </p:nvSpPr>
        <p:spPr>
          <a:xfrm>
            <a:off x="731520" y="1078992"/>
            <a:ext cx="10728655" cy="292608"/>
          </a:xfrm>
          <a:prstGeom prst="rect">
            <a:avLst/>
          </a:prstGeom>
          <a:noFill/>
        </p:spPr>
        <p:txBody>
          <a:bodyPr wrap="square" lIns="0" tIns="0" rIns="0" bIns="0">
            <a:spAutoFit/>
          </a:bodyPr>
          <a:lstStyle/>
          <a:p>
            <a:pPr>
              <a:defRPr sz="1100">
                <a:solidFill>
                  <a:srgbClr val="64748B"/>
                </a:solidFill>
                <a:latin typeface="Segoe UI"/>
              </a:defRPr>
            </a:pPr>
            <a:r>
              <a:t>Sẵn sàng đồng hành cùng các Quỹ đầu tư và Ngân hàng tiên phong thiết lập chuẩn mực mới cho tự động hóa ngân quỹ.</a:t>
            </a:r>
          </a:p>
        </p:txBody>
      </p:sp>
      <p:sp>
        <p:nvSpPr>
          <p:cNvPr id="9" name="Rounded Rectangle 8"/>
          <p:cNvSpPr/>
          <p:nvPr/>
        </p:nvSpPr>
        <p:spPr>
          <a:xfrm>
            <a:off x="731520" y="1508760"/>
            <a:ext cx="6309360" cy="100584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18488"/>
            <a:ext cx="5943600" cy="786384"/>
          </a:xfrm>
          <a:prstGeom prst="rect">
            <a:avLst/>
          </a:prstGeom>
          <a:noFill/>
        </p:spPr>
        <p:txBody>
          <a:bodyPr wrap="square" lIns="0" tIns="0" rIns="0" bIns="0">
            <a:spAutoFit/>
          </a:bodyPr>
          <a:lstStyle/>
          <a:p>
            <a:pPr>
              <a:spcAft>
                <a:spcPts val="200"/>
              </a:spcAft>
              <a:defRPr sz="850" b="1">
                <a:solidFill>
                  <a:srgbClr val="0284C7"/>
                </a:solidFill>
                <a:latin typeface="Segoe UI"/>
              </a:defRPr>
            </a:pPr>
            <a:r>
              <a:t>TUYÊN NGÔN GIÁ TRỊ CỐT LÕI</a:t>
            </a:r>
          </a:p>
          <a:p>
            <a:pPr>
              <a:defRPr sz="1150" b="1">
                <a:solidFill>
                  <a:srgbClr val="0F172A"/>
                </a:solidFill>
                <a:latin typeface="Segoe UI"/>
              </a:defRPr>
            </a:pPr>
            <a:r>
              <a:t>“Tự Động Hóa Ngân Quỹ Doanh Nghiệp: Tốc Độ Tức Thì, Chuẩn Xác Từng Đồng &amp; Tuyệt Đối An Toàn Tại Chỗ.”</a:t>
            </a:r>
          </a:p>
        </p:txBody>
      </p:sp>
      <p:sp>
        <p:nvSpPr>
          <p:cNvPr id="11" name="Rounded Rectangle 10"/>
          <p:cNvSpPr/>
          <p:nvPr/>
        </p:nvSpPr>
        <p:spPr>
          <a:xfrm>
            <a:off x="731520" y="2624328"/>
            <a:ext cx="2029968" cy="1417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624328"/>
            <a:ext cx="2029968" cy="54864"/>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734056"/>
            <a:ext cx="1847088" cy="1197864"/>
          </a:xfrm>
          <a:prstGeom prst="rect">
            <a:avLst/>
          </a:prstGeom>
          <a:noFill/>
        </p:spPr>
        <p:txBody>
          <a:bodyPr wrap="square" lIns="0" tIns="0" rIns="0" bIns="0">
            <a:spAutoFit/>
          </a:bodyPr>
          <a:lstStyle/>
          <a:p>
            <a:pPr>
              <a:defRPr sz="2000" b="1">
                <a:solidFill>
                  <a:srgbClr val="1E3A8A"/>
                </a:solidFill>
                <a:latin typeface="Segoe UI"/>
              </a:defRPr>
            </a:pPr>
            <a:r>
              <a:t>100%</a:t>
            </a:r>
          </a:p>
          <a:p>
            <a:pPr>
              <a:spcAft>
                <a:spcPts val="200"/>
              </a:spcAft>
              <a:defRPr sz="800" b="1">
                <a:solidFill>
                  <a:srgbClr val="0F172A"/>
                </a:solidFill>
                <a:latin typeface="Segoe UI"/>
              </a:defRPr>
            </a:pPr>
            <a:r>
              <a:t>ZERO DATA EGRESS</a:t>
            </a:r>
          </a:p>
          <a:p>
            <a:pPr>
              <a:defRPr sz="800">
                <a:solidFill>
                  <a:srgbClr val="334155"/>
                </a:solidFill>
                <a:latin typeface="Segoe UI"/>
              </a:defRPr>
            </a:pPr>
            <a:r>
              <a:t>Bảo vệ bí mật tài chính tối cao theo Nghị định 13.</a:t>
            </a:r>
          </a:p>
        </p:txBody>
      </p:sp>
      <p:sp>
        <p:nvSpPr>
          <p:cNvPr id="14" name="Rounded Rectangle 13"/>
          <p:cNvSpPr/>
          <p:nvPr/>
        </p:nvSpPr>
        <p:spPr>
          <a:xfrm>
            <a:off x="2871216" y="2624328"/>
            <a:ext cx="2029968" cy="1417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71216" y="2624328"/>
            <a:ext cx="2029968"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2734056"/>
            <a:ext cx="1847088" cy="1197864"/>
          </a:xfrm>
          <a:prstGeom prst="rect">
            <a:avLst/>
          </a:prstGeom>
          <a:noFill/>
        </p:spPr>
        <p:txBody>
          <a:bodyPr wrap="square" lIns="0" tIns="0" rIns="0" bIns="0">
            <a:spAutoFit/>
          </a:bodyPr>
          <a:lstStyle/>
          <a:p>
            <a:pPr>
              <a:defRPr sz="2000" b="1">
                <a:solidFill>
                  <a:srgbClr val="10B981"/>
                </a:solidFill>
                <a:latin typeface="Segoe UI"/>
              </a:defRPr>
            </a:pPr>
            <a:r>
              <a:t>0%</a:t>
            </a:r>
          </a:p>
          <a:p>
            <a:pPr>
              <a:spcAft>
                <a:spcPts val="200"/>
              </a:spcAft>
              <a:defRPr sz="800" b="1">
                <a:solidFill>
                  <a:srgbClr val="0F172A"/>
                </a:solidFill>
                <a:latin typeface="Segoe UI"/>
              </a:defRPr>
            </a:pPr>
            <a:r>
              <a:t>ẢO GIÁC SỐ HỌC</a:t>
            </a:r>
          </a:p>
          <a:p>
            <a:pPr>
              <a:defRPr sz="800">
                <a:solidFill>
                  <a:srgbClr val="334155"/>
                </a:solidFill>
                <a:latin typeface="Segoe UI"/>
              </a:defRPr>
            </a:pPr>
            <a:r>
              <a:t>Động cơ toán học xác định bảo đảm chuẩn xác từng đồng.</a:t>
            </a:r>
          </a:p>
        </p:txBody>
      </p:sp>
      <p:sp>
        <p:nvSpPr>
          <p:cNvPr id="17" name="Rounded Rectangle 16"/>
          <p:cNvSpPr/>
          <p:nvPr/>
        </p:nvSpPr>
        <p:spPr>
          <a:xfrm>
            <a:off x="5010912" y="2624328"/>
            <a:ext cx="2029968" cy="1417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10912" y="2624328"/>
            <a:ext cx="2029968"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02352" y="2734056"/>
            <a:ext cx="1847088" cy="1197864"/>
          </a:xfrm>
          <a:prstGeom prst="rect">
            <a:avLst/>
          </a:prstGeom>
          <a:noFill/>
        </p:spPr>
        <p:txBody>
          <a:bodyPr wrap="square" lIns="0" tIns="0" rIns="0" bIns="0">
            <a:spAutoFit/>
          </a:bodyPr>
          <a:lstStyle/>
          <a:p>
            <a:pPr>
              <a:defRPr sz="2000" b="1">
                <a:solidFill>
                  <a:srgbClr val="0284C7"/>
                </a:solidFill>
                <a:latin typeface="Segoe UI"/>
              </a:defRPr>
            </a:pPr>
            <a:r>
              <a:t>&lt; 3 Th</a:t>
            </a:r>
          </a:p>
          <a:p>
            <a:pPr>
              <a:spcAft>
                <a:spcPts val="200"/>
              </a:spcAft>
              <a:defRPr sz="800" b="1">
                <a:solidFill>
                  <a:srgbClr val="0F172A"/>
                </a:solidFill>
                <a:latin typeface="Segoe UI"/>
              </a:defRPr>
            </a:pPr>
            <a:r>
              <a:t>HOÀN VỐN ĐẦU TƯ</a:t>
            </a:r>
          </a:p>
          <a:p>
            <a:pPr>
              <a:defRPr sz="800">
                <a:solidFill>
                  <a:srgbClr val="334155"/>
                </a:solidFill>
                <a:latin typeface="Segoe UI"/>
              </a:defRPr>
            </a:pPr>
            <a:r>
              <a:t>Mang lại giá trị kinh tế trực tiếp và tức thì cho doanh nghiệp.</a:t>
            </a:r>
          </a:p>
        </p:txBody>
      </p:sp>
      <p:sp>
        <p:nvSpPr>
          <p:cNvPr id="20" name="Rounded Rectangle 19"/>
          <p:cNvSpPr/>
          <p:nvPr/>
        </p:nvSpPr>
        <p:spPr>
          <a:xfrm>
            <a:off x="731520" y="4151376"/>
            <a:ext cx="6309360" cy="1837944"/>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261104"/>
            <a:ext cx="5980176" cy="1618488"/>
          </a:xfrm>
          <a:prstGeom prst="rect">
            <a:avLst/>
          </a:prstGeom>
          <a:noFill/>
        </p:spPr>
        <p:txBody>
          <a:bodyPr wrap="square" lIns="0" tIns="0" rIns="0" bIns="0">
            <a:spAutoFit/>
          </a:bodyPr>
          <a:lstStyle/>
          <a:p>
            <a:pPr>
              <a:spcAft>
                <a:spcPts val="300"/>
              </a:spcAft>
              <a:defRPr sz="1050" b="1">
                <a:solidFill>
                  <a:srgbClr val="0F172A"/>
                </a:solidFill>
                <a:latin typeface="Segoe UI"/>
              </a:defRPr>
            </a:pPr>
            <a:r>
              <a:t>KÊU GỌI ĐẦU TƯ &amp; ĐỐI TÁC CHIẾN LƯỢC</a:t>
            </a:r>
          </a:p>
          <a:p>
            <a:pPr>
              <a:spcAft>
                <a:spcPts val="200"/>
              </a:spcAft>
            </a:pPr>
            <a:r>
              <a:rPr sz="880" b="1">
                <a:solidFill>
                  <a:srgbClr val="0F172A"/>
                </a:solidFill>
                <a:latin typeface="Segoe UI"/>
              </a:rPr>
              <a:t>• Vòng gọi vốn Seed: </a:t>
            </a:r>
            <a:r>
              <a:rPr sz="850">
                <a:solidFill>
                  <a:srgbClr val="334155"/>
                </a:solidFill>
                <a:latin typeface="Segoe UI"/>
              </a:rPr>
              <a:t>$500,000 – $750,000 USD (12.0% – 15.0% cổ phần, định giá $4.0M – $5.0M)</a:t>
            </a:r>
          </a:p>
          <a:p>
            <a:pPr>
              <a:spcAft>
                <a:spcPts val="200"/>
              </a:spcAft>
            </a:pPr>
            <a:r>
              <a:rPr sz="880" b="1">
                <a:solidFill>
                  <a:srgbClr val="0F172A"/>
                </a:solidFill>
                <a:latin typeface="Segoe UI"/>
              </a:rPr>
              <a:t>• Đối tác Ngân hàng: </a:t>
            </a:r>
            <a:r>
              <a:rPr sz="850">
                <a:solidFill>
                  <a:srgbClr val="334155"/>
                </a:solidFill>
                <a:latin typeface="Segoe UI"/>
              </a:rPr>
              <a:t>Tìm kiếm 02 Ngân hàng Thương mại tiên phong thử nghiệm giải pháp Sandbox</a:t>
            </a:r>
          </a:p>
          <a:p>
            <a:pPr>
              <a:spcAft>
                <a:spcPts val="200"/>
              </a:spcAft>
            </a:pPr>
            <a:r>
              <a:rPr sz="880" b="1">
                <a:solidFill>
                  <a:srgbClr val="0F172A"/>
                </a:solidFill>
                <a:latin typeface="Segoe UI"/>
              </a:rPr>
              <a:t>• Email &amp; Hotline: </a:t>
            </a:r>
            <a:r>
              <a:rPr sz="850">
                <a:solidFill>
                  <a:srgbClr val="334155"/>
                </a:solidFill>
                <a:latin typeface="Segoe UI"/>
              </a:rPr>
              <a:t>investors@liva-ai.vn | Hotline: +84 (0) 90 123 4567</a:t>
            </a:r>
          </a:p>
          <a:p>
            <a:pPr>
              <a:spcAft>
                <a:spcPts val="200"/>
              </a:spcAft>
            </a:pPr>
            <a:r>
              <a:rPr sz="880" b="1">
                <a:solidFill>
                  <a:srgbClr val="0F172A"/>
                </a:solidFill>
                <a:latin typeface="Segoe UI"/>
              </a:rPr>
              <a:t>• Địa chỉ văn phòng: </a:t>
            </a:r>
            <a:r>
              <a:rPr sz="850">
                <a:solidFill>
                  <a:srgbClr val="334155"/>
                </a:solidFill>
                <a:latin typeface="Segoe UI"/>
              </a:rPr>
              <a:t>Phòng Lab Công nghệ LIVA Banking, Hà Nội / TP. Hồ Chí Minh</a:t>
            </a:r>
          </a:p>
        </p:txBody>
      </p:sp>
      <p:pic>
        <p:nvPicPr>
          <p:cNvPr id="22" name="Picture 21" descr="glass_skyscraper.jpg"/>
          <p:cNvPicPr>
            <a:picLocks noChangeAspect="1"/>
          </p:cNvPicPr>
          <p:nvPr/>
        </p:nvPicPr>
        <p:blipFill>
          <a:blip r:embed="rId2"/>
          <a:stretch>
            <a:fillRect/>
          </a:stretch>
        </p:blipFill>
        <p:spPr>
          <a:xfrm>
            <a:off x="7223760" y="1508760"/>
            <a:ext cx="4236415" cy="4480560"/>
          </a:xfrm>
          <a:prstGeom prst="rect">
            <a:avLst/>
          </a:prstGeom>
        </p:spPr>
      </p:pic>
      <p:sp>
        <p:nvSpPr>
          <p:cNvPr id="23" name="Rounded Rectangle 22"/>
          <p:cNvSpPr/>
          <p:nvPr/>
        </p:nvSpPr>
        <p:spPr>
          <a:xfrm>
            <a:off x="7223760" y="5623560"/>
            <a:ext cx="4236415" cy="365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64748B"/>
                </a:solidFill>
                <a:latin typeface="Segoe UI"/>
              </a:defRPr>
            </a:pPr>
            <a:r>
              <a:t>THIẾT LẬP CHUẨN MỰC TỰ ĐỘNG HÓA NGÂN QUỸ TẠI VIỆT NAM</a:t>
            </a:r>
          </a:p>
        </p:txBody>
      </p:sp>
      <p:cxnSp>
        <p:nvCxnSpPr>
          <p:cNvPr id="24" name="Connector 23"/>
          <p:cNvCxnSpPr/>
          <p:nvPr/>
        </p:nvCxnSpPr>
        <p:spPr>
          <a:xfrm>
            <a:off x="731520" y="6236208"/>
            <a:ext cx="10728655"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 y="6291072"/>
            <a:ext cx="7315200" cy="274320"/>
          </a:xfrm>
          <a:prstGeom prst="rect">
            <a:avLst/>
          </a:prstGeom>
          <a:noFill/>
        </p:spPr>
        <p:txBody>
          <a:bodyPr wrap="none" lIns="0" tIns="0" rIns="0" bIns="0">
            <a:spAutoFit/>
          </a:bodyPr>
          <a:lstStyle/>
          <a:p>
            <a:pPr>
              <a:defRPr sz="950">
                <a:solidFill>
                  <a:srgbClr val="94A3B8"/>
                </a:solidFill>
                <a:latin typeface="Segoe UI"/>
              </a:defRPr>
            </a:pPr>
            <a:r>
              <a:t>LIVA BANKING HARNESS • INNOSTART 2026 DEMO DAY</a:t>
            </a:r>
          </a:p>
        </p:txBody>
      </p:sp>
      <p:sp>
        <p:nvSpPr>
          <p:cNvPr id="26" name="TextBox 25"/>
          <p:cNvSpPr txBox="1"/>
          <p:nvPr/>
        </p:nvSpPr>
        <p:spPr>
          <a:xfrm>
            <a:off x="8229599" y="6291072"/>
            <a:ext cx="3230575" cy="274320"/>
          </a:xfrm>
          <a:prstGeom prst="rect">
            <a:avLst/>
          </a:prstGeom>
          <a:noFill/>
        </p:spPr>
        <p:txBody>
          <a:bodyPr wrap="none" lIns="0" tIns="0" rIns="0" bIns="0">
            <a:spAutoFit/>
          </a:bodyPr>
          <a:lstStyle/>
          <a:p>
            <a:pPr algn="r">
              <a:defRPr sz="950" b="1">
                <a:solidFill>
                  <a:srgbClr val="94A3B8"/>
                </a:solidFill>
                <a:latin typeface="Segoe UI"/>
              </a:defRPr>
            </a:pPr>
            <a:r>
              <a:t>Trang 27 / 27 • INNOSTART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